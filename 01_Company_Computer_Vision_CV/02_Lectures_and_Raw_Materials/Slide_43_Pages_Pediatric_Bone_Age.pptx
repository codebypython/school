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Kính thưa Thầy Cô trong Hội đồng phản biện và toàn thể các bạn sinh viên. Hôm nay, nhóm chúng em xin trân trọng báo cáo đề tài tốt nghiệp: 'Hệ thống Tự động Đánh giá Tuổi Xương từ ảnh X-quang Bàn tay Nhi khoa bằng Học Sâu Đa Phương Thức và Trí Tuệ Nhân Tạo Có Thể Giải Thích'. Đây là công trình nghiên cứu ứng dụng thị giác máy tính giải quyết bài toán định lượng y sinh thực tế trên tập dữ liệu chuẩn quốc tế RSNA gồm hơn 12.600 bệnh nhi. Sau đây, em xin phép bắt đầu phần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(30 giây)</a:t>
            </a:r>
          </a:p>
          <a:p>
            <a:r>
              <a:t>Script: Để đảm bảo tính liên tục và chất lượng kỹ nghệ cao nhất, hai thành viên trong nhóm chúng em đã phối hợp chặt chẽ: Bạn đảm nhiệm khối kiến trúc học sâu và ma trận đối đầu các mô hình, còn em tập trung vào kỹ nghệ tiền xử lý dữ liệu và đóng gói sản phẩm lâm sàng phục vụ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(25 giây)</a:t>
            </a:r>
          </a:p>
          <a:p>
            <a:r>
              <a:t>Script: Bài báo cáo hôm nay của chúng em được cấu trúc thành 4 phần logic chặt chẽ: Đi từ bài toán lâm sàng, giải pháp làm sạch dữ liệu X-quang, đến thế trận thực nghiệm đối đầu giữa 3 trường phái mô hình lớn nhất hiện nay, và cuối cùng là giải thích quyết định bằng XAI và demo ứng dụng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(10 giây)</a:t>
            </a:r>
          </a:p>
          <a:p>
            <a:r>
              <a:t>Script: Em xin phép đi vào Phần 1: Giới thiệu bài toán và bối cảnh lâm sàng của đánh giá tuổi xương nhi khoa.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(50 giây)</a:t>
            </a:r>
          </a:p>
          <a:p>
            <a:r>
              <a:t>Script: Kính thưa Thầy Cô, trong y học nhi khoa, tuổi khai sinh không thể hiện được mức độ trưởng thành thực tế. Một đứa trẻ 8 tuổi có thể mang khung xương của một người 11 tuổi nếu bị dậy thì sớm, khiến các đĩa sụn đóng lại sớm và vĩnh viễn không thể cao thêm. Ngược lại, nếu trẻ bị thiếu hormone GH, tuổi xương sẽ bị tụt hậu. Một hệ thống AI định lượng chính xác trong vài mili-giây là nhu cầu cấp thiết.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(40 giây)</a:t>
            </a:r>
          </a:p>
          <a:p>
            <a:r>
              <a:t>Script: Điểm sáng tạo cốt lõi của đề tài nằm ở việc định nghĩa bài toán dưới góc độ Hồi quy Đa phương thức. Vì sự phát triển của sụn là một hàm số liên tục biến thiên theo thời gian, mô hình của chúng em tích hợp song song cả tín hiệu ảnh X-quang 2D và biến giới tính 1D để dự đoán trực tiếp số tháng tuổi của bệnh nhi.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(10 giây)</a:t>
            </a:r>
          </a:p>
          <a:p>
            <a:r>
              <a:t>Script: Tiếp theo, em xin phép trình bày Phần 2: Dữ liệu lâm sàng và Pipeline tiền xử lý ảnh cổ điển 5 bước.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Trên phim X-quang bàn tay, hai vùng giải phẫu mang tính quyết định là cụm 8 xương cổ tay và các đĩa sụn tiếp hợp ở khớp đốt ngón tay. Ở trẻ sơ sinh, cổ tay chỉ là sụn trong suốt; theo thời gian, các hạt xương mới lần lượt xuất hiện và các đĩa sụn dần khép kín lại. Mô hình học sâu phải có năng lực phân giải được sự thay đổi kích thước milimét này qua từng độ tuổi.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(35 giây)</a:t>
            </a:r>
          </a:p>
          <a:p>
            <a:r>
              <a:t>Script: Nhóm sử dụng bộ dữ liệu chuẩn quốc tế RSNA gồm 12.611 ca bệnh thật. Dữ liệu trải dài từ trẻ sơ sinh 1 tháng tuổi đến thanh thiếu niên 19 tuổi, với tuổi trung bình là 10.6 tuổi, phản ánh trọn vẹn sự biến thiên sinh học của cộng đồng nhi khoa.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(30 giây)</a:t>
            </a:r>
          </a:p>
          <a:p>
            <a:r>
              <a:t>Script: Kết quả khảo sát thống kê cho thấy tỷ lệ giới tính trong tập dữ liệu đạt mức cân bằng lý tưởng: 54% nam và 46% nữ. Đường cong phân bố tuổi xương có dạng hình chuông cân đối, tạo điều kiện thuận lợi để mô hình học không bị thiên lệch về một nhóm tuổi cục bộ.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(40 giây)</a:t>
            </a:r>
          </a:p>
          <a:p>
            <a:r>
              <a:t>Script: Để đảm bảo tính trung thực tuyệt đối trong khoa học, nhóm không chia tập ngẫu nhiên mà thực hiện phân tầng cố định theo 10 phân vị tuổi kết hợp giới tính. Tập Test gồm đúng 1.262 ca bệnh được đóng băng hoàn toàn, đảm bảo cả 3 mô hình sau này đều phải vượt qua cùng một bài kiểm tra độc lập và công bằng.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(35 giây)</a:t>
            </a:r>
          </a:p>
          <a:p>
            <a:r>
              <a:t>Script: Bảng số liệu cho thấy mật độ dữ liệu tập trung cao nhất ở giai đoạn tiền dậy thì và vị thành niên, chiếm gần 75% dữ liệu. Đây chính là giai đoạn các đĩa sụn có biến động mạnh nhất và cũng là nhóm đối tượng có nhu cầu thăm khám nội tiết cao nhất trong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Khi quan sát ảnh X-quang gốc, nhóm phát hiện 3 trở ngại kỹ thuật lớn: Thứ nhất, viền đen máy quét chiếm gần một nửa khung hình. Thứ hai, các đĩa sụn tiếp hợp rất mờ do cản quang kém. Thứ ba, các ký hiệu kim loại chữ L hoặc R có độ sáng rất gắt, nếu không xử lý, mô hình sẽ học 'đường tắt' vào chữ kim loại thay vì nhìn vào sụn xương.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(50 giây)</a:t>
            </a:r>
          </a:p>
          <a:p>
            <a:r>
              <a:t>Script: Để khắc phục triệt để các thách thức trên, nhóm xây dựng pipeline tiền xử lý 5 bước: Dùng CLAHE cân bằng sáng cục bộ, lọc Gauss khử nhiễu lượng tử, thuật toán Otsu nhị phân hóa tách bàn tay, phép toán hình thái học xóa tan chữ kim loại, và thuật toán tìm đường bao lớn nhất để cắt đúng vùng bàn tay rồi đưa về chuẩn 512x512. Toàn bộ 12.611 ảnh sạch được xuất sẵn làm bộ đệm cache, giúp việc huấn luyện sau này diễn ra với tốc độ tối đa.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(10 giây)</a:t>
            </a:r>
          </a:p>
          <a:p>
            <a:r>
              <a:t>Script: Tiếp theo, em xin phép đại diện nhóm báo cáo Phần 3: Ma trận mô hình học sâu đối đầu và các thuật toán tối ưu.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(50 giây)</a:t>
            </a:r>
          </a:p>
          <a:p>
            <a:r>
              <a:t>Script: Kính thưa Hội đồng, để giải quyết bài toán tuổi xương, y văn thế giới đã trải qua 4 làn sóng công nghệ lớn: từ các mạng CNN kinh điển như VGG/ResNet, đến CNN tích hợp cơ chế chú ý Attention, tiếp theo là làn sóng Vision Transformer với Swin-T, và gần đây nhất là xu hướng hiện đại hóa CNN với ConvNeXt kết hợp cơ chế điều biến đặc trưng FiLM. Nhóm chúng em đã thiết kế một thế trận thực nghiệm bao quát cả 3 trường phái tiêu biểu, đặc biệt cải tiến cơ chế hợp nhất đa phương thức FiLM để giới tính sinh học trực tiếp can thiệp vào các kênh đặc trưng thị giác.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(50 giây)</a:t>
            </a:r>
          </a:p>
          <a:p>
            <a:r>
              <a:t>Script: Thay vì chỉ ghép nối đơn thuần giới tính vào cuối mạng như các nghiên cứu cũ khiến tín hiệu giới tính bị chìm nghỉm, nhóm chúng em ứng dụng cơ chế FiLM - Feature-wise Linear Modulation. Vector giới tính sinh học sẽ sinh ra hai hệ số affine gamma và beta để co giãn và tịnh tiến trực tiếp các kênh đặc trưng thị giác. Nhờ đó, cùng một hình thái sụn nhưng nếu là bé gái thì mô hình sẽ tự động kích hoạt ngưỡng cốt hóa sớm hơn bé trai, đúng chuẩn quy luật sinh học.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Đại diện đầu tiên trong thế trận thực nghiệm là ResNet-50. Đây là kiến trúc CNN chuẩn mực nhất trong thị giác máy tính với cấu trúc kết nối tắt phần dư Residual Skip Connections, tạo ra bề mặt mất mát cực kỳ ổn định. Khối Bottleneck cuối cùng trích xuất vector đặc trưng không gian 2.048 chiều rất giàu ngữ nghĩa.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Một câu hỏi thường gặp là: Tại sao không dùng ResNet-18 hay ResNet-152? Nghiên cứu của chúng em chỉ ra rằng ResNet-18 với 512 chiều là quá nông cho các khe sụn nhỏ; trong khi ResNet-152 với hơn 60 triệu tham số lại bị thừa năng lực và dễ bị học vẹt trên tập 10.000 ảnh. ResNet-50 chính là điểm rơi vàng giữa khả năng biểu diễn và tính khái quát hóa.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(35 giây)</a:t>
            </a:r>
          </a:p>
          <a:p>
            <a:r>
              <a:t>Script: Mô hình được huấn luyện trên GPU Tesla T4 với 15 Epochs, sử dụng bộ tối ưu AdamW kết hợp lịch hạ tốc độ học theo hàm Cosine. Điểm nhấn là việc áp dụng hàm mất mát Huber Loss để chặn hiện tượng bùng nổ gradient từ các ca bệnh đột biến, và kỹ thuật AMP FP16 giúp tiết kiệm 50% bộ nhớ GPU.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(45 giây)</a:t>
            </a:r>
          </a:p>
          <a:p>
            <a:r>
              <a:t>Script: Trên màn hình là đồ thị huấn luyện thực tế từ log kiểm thử. Nhờ trọng số tiền huấn luyện ImageNet kết hợp cơ chế điều chế FiLM, Val MAE giảm cực nhanh từ 111 tháng xuống 12 tháng ở epoch 5, và đạt điểm tối ưu 6.82 tháng tại epoch 13 trước khi hội tụ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(45 giây)</a:t>
            </a:r>
          </a:p>
          <a:p>
            <a:r>
              <a:t>Script: Khi kiểm thử trên 1.262 ca bệnh độc lập, ResNet-50 tích hợp FiLM đạt MAE 6.47 tháng, R² đạt 95.40% và tỷ lệ an toàn lâm sàng 12 tháng lên tới 84.7%. Đặc biệt, kết quả thực nghiệm cắt bỏ chỉ ra rằng cơ chế điều chế FiLM đã giúp giảm sai số tới 12.3% so với mô hình cơ sở ghép nối trực tiếp, chứng minh việc can thiệp giới tính vào tầng đặc trưng thị giác mang lại bước tiến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(35 giây)</a:t>
            </a:r>
          </a:p>
          <a:p>
            <a:r>
              <a:t>Script: Biểu đồ phân tán cho thấy các điểm chẩn đoán phân bố rất đồng đều dọc theo đường chéo lý tưởng 45 độ. Biểu đồ phần dư đối xứng hoàn hảo quanh trục số 0, chứng minh mô hình không hề bị lệch thiên kiến về việc đoán già hơn hay đoán non hơn tuổi thực.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(35 giây)</a:t>
            </a:r>
          </a:p>
          <a:p>
            <a:r>
              <a:t>Script: Đại diện thứ hai trong thế trận đối đầu là ConvNeXt-V2-Tiny. Đây là đỉnh cao của kiến trúc CNN hiện đại do Meta AI công bố, được thiết kế lại toàn diện để sở hữu tầm nhìn rộng của Transformer nhưng vẫn giữ được tốc độ và tính ổn định của mạng tích chập.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ConvNeXt mang đến 3 cải tiến vượt bậc: Bộ lọc 7x7 giúp mở rộng tầm nhìn không gian; cấu trúc nghịch đảo cổ chai giúp bảo tồn các nếp gấp sụn siêu nhỏ; và tầng chuẩn hóa GRN giúp ngăn ngừa hiện tượng bão hòa kênh, giúp gradient lưu thông mạnh mẽ hơn.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(30 giây)</a:t>
            </a:r>
          </a:p>
          <a:p>
            <a:r>
              <a:t>Script: Với ConvNeXt, chúng em bổ sung thêm cơ chế Stochastic Depth để ngắt ngẫu nhiên một số đường dẫn trong quá trình train nhằm chống Overfitting, và ghép nối vector 768 chiều với nhánh giới tính 32 chiều thành vector 800 chiều.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(30 giây)</a:t>
            </a:r>
          </a:p>
          <a:p>
            <a:r>
              <a:t>Script: Nhờ các khối chuẩn hóa hiện đại và trường tiếp nhận lớn, đường cong hàm mất mát của ConvNeXt hội tụ êm mượt hơn rõ rệt và đạt mức sai số kiểm định tối ưu 6.18 tháng, vượt trội hơn so với ResNet-50.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Trên tập Test độc lập, ConvNeXt-Tiny đã chính thức xác lập vị thế quán quân với sai số MAE chỉ còn 6.26 tháng, tương đương 0.52 năm (khoảng 6 tháng 8 ngày). Hệ số tương quan R² đạt đỉnh 95.71% và tỷ lệ an toàn lâm sàng lên tới 86.5%, vượt qua mọi mô hình khác trong thế trận đối đầu.</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(35 giây)</a:t>
            </a:r>
          </a:p>
          <a:p>
            <a:r>
              <a:t>Script: So với mô hình cơ sở, ConvNeXt cắt giảm tới 15.2% sai số chẩn đoán mà vẫn giữ được tốc độ suy luận thời gian thực 55 FPS trên GPU và chạy mượt mà trên CPU thông thường. Đây là minh chứng rõ ràng cho sức mạnh của kiến trúc tích chập hiện đại hóa.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Mô hình thứ 3 đại diện cho trường phái Vision Transformer tối tân: Swin Transformer v2. Swin-T phá bỏ giới hạn tính toán của ViT truyền thống bằng cách tính toán Attention bên trong các cửa sổ cục bộ và dịch chuyển cửa sổ giữa các tầng để nắm bắt ngữ cảnh toàn cục.</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Cơ chế cửa sổ trượt mang lại lợi thế độc nhất: Nó vừa nhìn rõ từng khe sụn nhỏ trong ô 8x8, vừa liên kết được mối tương quan giữa sự cốt hóa ở cổ tay với sự khép sụn ở ngón tay xa, tạo nên khả năng lập luận không gian toàn diện.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(30 giây)</a:t>
            </a:r>
          </a:p>
          <a:p>
            <a:r>
              <a:t>Script: Với Swin-T, chúng em sử dụng kích thước cửa sổ 8x8 tương thích chuẩn với ảnh 512x512, áp dụng tốc độ học 5e-5 kèm 2 epoch khởi động warm-up để bảo vệ trọng số attention.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(30 giây)</a:t>
            </a:r>
          </a:p>
          <a:p>
            <a:r>
              <a:t>Script: Quá trình huấn luyện Swin-T đòi hỏi nhiều bộ nhớ GPU hơn, nhưng đền đáp lại bằng một đường cong hội tụ rất sâu, đưa sai số kiểm định xuống chỉ còn 6.22 tháng nhờ cơ chế chú ý liên cửa sổ.</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(35 giây)</a:t>
            </a:r>
          </a:p>
          <a:p>
            <a:r>
              <a:t>Script: Kết quả kiểm thử độc lập khẳng định sức mạnh của Swin-T với vị trí Á quân: MAE đạt 6.37 tháng, tương đương 0.53 năm; độ giải thích phương sai R² đạt 95.49% và 86.0% ca bệnh nằm trọn trong ngưỡng an toàn lâm sàng 1 năm.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(30 giây)</a:t>
            </a:r>
          </a:p>
          <a:p>
            <a:r>
              <a:t>Script: Swin-T giải quyết rất tốt các ca bệnh vị thành niên nhờ nắm bắt sự tương quan giữa cổ tay và đĩa sụn ngón tay xa. Tuy nhiên, đánh đổi lại là tốc độ suy luận chậm hơn và tiêu tốn tài nguyên phần cứng lớn hơn so với các mạng thuần CNN.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(10 giây)</a:t>
            </a:r>
          </a:p>
          <a:p>
            <a:r>
              <a:t>Script: Em xin phép chuyển sang Phần 4: Ma trận so sánh 3 mô hình, đối chiếu SOTA, minh bạch hóa XAI và triển khai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(45 giây)</a:t>
            </a:r>
          </a:p>
          <a:p>
            <a:r>
              <a:t>Script: Kính thưa Thầy Cô, một hệ thống AI y tế không thể chỉ dựa vào một con số MAE duy nhất. Nhóm chúng em đã áp dụng trọn vẹn bộ tiêu chí đánh giá đa chiều gồm 5 trụ cột theo đúng chuẩn mực của các bài báo quốc tế: từ MAE, RMSE phản ánh độ lệch; R² phản ánh tính quy luật thống kê; ngưỡng an toàn lâm sàng 6 tháng và 12 tháng theo chuẩn AAP; cho đến độ trễ suy luận thời gian thực trên cả phần cứng GPU và CPU.</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(60 giây)</a:t>
            </a:r>
          </a:p>
          <a:p>
            <a:r>
              <a:t>Script: Đây là kết quả thực nghiệm trung tâm của đề tài. M2 ConvNeXt-Tiny tích hợp FiLM đã xuất sắc giành vị trí quán quân toàn diện với MAE chỉ 6.26 tháng, RMSE thấp nhất 8.40 tháng, R² cao nhất 95.71% và tỷ lệ an toàn lâm sàng 12 tháng đạt 86.5%. Swin-T bám đuổi sít sao ở vị trí Á quân với 6.37 tháng. Đáng chú ý, cơ chế FiLM đã giúp ResNet-50 rút ngắn sai số ngoạn mục từ 7.38 tháng xuống 6.47 tháng, đồng thời ResNet vẫn duy trì tốc độ cao nhất với 67.5 FPS.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(50 giây)</a:t>
            </a:r>
          </a:p>
          <a:p>
            <a:r>
              <a:t>Script: Kính thưa Hội đồng, để trả lời trực tiếp yêu cầu đối chiếu học thuật, nhóm đã tổng hợp bảng so sánh với các công bố gần nhất cùng kiểm thử trên tập chuẩn RSNA: Larson 2018 đạt 7.30 tháng; Wu 2021 đạt 6.60 tháng; Kasani 2023 với ConvNeXt đơn mô hình đạt 6.38 tháng; và công bố mới nhất của Pan năm 2024 trên tạp chí IEEE JBHI đạt 6.30 tháng. Mô hình M2 ConvNeXt-Tiny của nhóm chúng em đạt 6.26 tháng, vượt qua tất cả các mô hình đơn lẻ trong các công bố trên, đồng thời vượt xa ngưỡng biến thiên trung bình giữa các bác sĩ X-quang là 7.32 tháng.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(50 giây)</a:t>
            </a:r>
          </a:p>
          <a:p>
            <a:r>
              <a:t>Script: Lý giải vì sao ConvNeXt lại vượt qua cả Swin Transformer và ResNet-50: Thứ nhất, trên tập dữ liệu y tế quy mô vừa ~10.000 ảnh, Swin-T bị hạn chế bởi việc thiếu inductive bias không gian; trong khi ConvNeXt dùng tích chập 7x7 vừa mở rộng tầm nhìn toàn cục như Transformer, vừa bảo tồn nguyên vẹn sự tập trung vào các đĩa sụn vi mô. Thứ hai, cơ chế điều chế FiLM tương thích hoàn hảo với tầng LayerNorm của ConvNeXt. Và thứ ba, ConvNeXt chạy trên CPU nhanh hơn Swin-T 45%, tạo nên sự cân bằng hoàn hảo giữa độ chính xác và tính thực tiễn.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(40 giây)</a:t>
            </a:r>
          </a:p>
          <a:p>
            <a:r>
              <a:t>Script: Để mô hình không phải là một 'hộp đen' bí ẩn đối với các bác sĩ, chúng em phát triển thuật toán Regression Grad-CAM. Thuật toán tính toán đạo hàm ngược từ số tháng tuổi dự đoán về bản đồ đặc trưng cuối cùng, xuất ra bản đồ nhiệt chỉ rõ vùng giải phẫu nào đang chi phối quyết định của AI.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Quan sát hình ảnh kiểm chứng thực tế, Thầy Cô có thể thấy vùng màu đỏ kích hoạt cực đại tập trung chính xác vào khối 8 xương cổ tay và các chỏm sụn tiếp hợp ngón tay. Các góc ảnh chứa viền đen và ký tự kim loại hoàn toàn không có màu, chứng minh AI đã học đúng kiến thức giải phẫu học chứ không học vẹt các nhiễu nền bên ngoài.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Kết quả tuổi xương dự đoán được tự động đưa qua module phân tích hậu xử lý. Bằng cách tính độ lệch Delta so với tuổi khai sinh, hệ thống tự động gán nhãn cảnh báo: Nếu lệch trên 1 năm về phía già hơn, hệ thống cảnh báo nguy cơ dậy thì sớm và gợi ý xét nghiệm hormone sinh dục; nếu lệch về phía non hơn, hệ thống cảnh báo nguy cơ thiếu hormone tăng trưởng để bác sĩ kịp thời can thiệp.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Toàn bộ giải pháp đã được chúng em đóng gói thành ứng dụng WebApp tương tác thời gian thực. Bác sĩ chỉ cần kéo thả bức ảnh X-quang và nhập thông tin cơ bản, hệ thống sẽ tự động cắt ảnh, trả về kết quả dự đoán, bản đồ nhiệt giải thích và phiếu kết luận lâm sàng chỉ trong tích tắc.</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2 (40 giây)</a:t>
            </a:r>
          </a:p>
          <a:p>
            <a:r>
              <a:t>Script: Về hướng phát triển tương lai, nhóm đặt mục tiêu mở rộng tập dữ liệu trên trẻ em Việt Nam, đồng thời kết hợp thêm mô hình Object Detection để cắt riêng vùng ngón tay và vùng cổ tay nhằm tiếp tục hạ thấp sai số, hướng tới việc tích hợp chính thức vào hệ thống quản lý bệnh viện PACS.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Sinh viên 1 (45 giây)</a:t>
            </a:r>
          </a:p>
          <a:p>
            <a:r>
              <a:t>Script: Đặc biệt, kính thưa Thầy Cô, toàn bộ nghiên cứu của nhóm không dừng lại ở mức đồ án môn học mà đã được cấu trúc thành một bản thảo bài báo khoa học hoàn chỉnh chuẩn IEEE/Springer. Với 4 đóng góp mới rõ nét về kỹ thuật FiLM, pipeline tiền xử lý và kết quả thực nghiệm 6.26 tháng vượt qua các công bố SOTA gần nhất, nhóm tự tin hồ sơ nghiên cứu đã sẵn sàng cho mục tiêu công bố trên các tạp chí và hội nghị khoa học uy tín, hướng tới mức điểm thưởng tối đa cho đề tài.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Cả hai sinh viên (30 giây)</a:t>
            </a:r>
          </a:p>
          <a:p>
            <a:r>
              <a:t>Script: Đề tài của chúng em đã chứng minh tiềm năng to lớn của Trí tuệ Nhân tạo trong việc đồng hành và hỗ trợ các y bác sĩ nâng cao chất lượng chăm sóc sức khỏe trẻ em. Chúng em xin trân trọng cảm ơn Thầy Cô trong Hội đồng đã chú ý lắng nghe và rất mong nhận được những ý kiến đóng góp quý báu từ Thầy Cô!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457200"/>
          </a:xfrm>
          <a:prstGeom prst="rect">
            <a:avLst/>
          </a:prstGeom>
          <a:noFill/>
        </p:spPr>
        <p:txBody>
          <a:bodyPr wrap="none">
            <a:spAutoFit/>
          </a:bodyPr>
          <a:lstStyle/>
          <a:p>
            <a:pPr>
              <a:defRPr sz="1300" b="1">
                <a:solidFill>
                  <a:srgbClr val="0284C7"/>
                </a:solidFill>
              </a:defRPr>
            </a:pPr>
            <a:r>
              <a:t>TRƯỜNG ĐẠI HỌC BÁCH KHOA — ĐH ĐÀ NẴNG | KHOA CÔNG NGHỆ THÔNG TIN</a:t>
            </a:r>
          </a:p>
        </p:txBody>
      </p:sp>
      <p:sp>
        <p:nvSpPr>
          <p:cNvPr id="4" name="TextBox 3"/>
          <p:cNvSpPr txBox="1"/>
          <p:nvPr/>
        </p:nvSpPr>
        <p:spPr>
          <a:xfrm>
            <a:off x="731520" y="1371600"/>
            <a:ext cx="10698480" cy="2011680"/>
          </a:xfrm>
          <a:prstGeom prst="rect">
            <a:avLst/>
          </a:prstGeom>
          <a:noFill/>
        </p:spPr>
        <p:txBody>
          <a:bodyPr wrap="none">
            <a:spAutoFit/>
          </a:bodyPr>
          <a:lstStyle/>
          <a:p>
            <a:pPr>
              <a:defRPr sz="3600" b="1">
                <a:solidFill>
                  <a:srgbClr val="0F172A"/>
                </a:solidFill>
              </a:defRPr>
            </a:pPr>
            <a:r>
              <a:t>HỆ THỐNG TỰ ĐỘNG ĐÁNH GIÁ TUỔI XƯƠNG</a:t>
            </a:r>
            <a:br/>
            <a:r>
              <a:t>TỪ ẢNH X-QUANG BÀN TAY NHI KHOA</a:t>
            </a:r>
          </a:p>
        </p:txBody>
      </p:sp>
      <p:sp>
        <p:nvSpPr>
          <p:cNvPr id="5" name="TextBox 4"/>
          <p:cNvSpPr txBox="1"/>
          <p:nvPr/>
        </p:nvSpPr>
        <p:spPr>
          <a:xfrm>
            <a:off x="731520" y="3474720"/>
            <a:ext cx="10698480" cy="914400"/>
          </a:xfrm>
          <a:prstGeom prst="rect">
            <a:avLst/>
          </a:prstGeom>
          <a:noFill/>
        </p:spPr>
        <p:txBody>
          <a:bodyPr wrap="none">
            <a:spAutoFit/>
          </a:bodyPr>
          <a:lstStyle/>
          <a:p>
            <a:pPr>
              <a:defRPr sz="1800">
                <a:solidFill>
                  <a:srgbClr val="0369A1"/>
                </a:solidFill>
              </a:defRPr>
            </a:pPr>
            <a:r>
              <a:t>TIẾP CẬN HỌC SÂU ĐA PHƯƠNG THỨC &amp; TRÍ TUỆ NHÂN TẠO CÓ THỂ GIẢI THÍCH (XAI)</a:t>
            </a:r>
          </a:p>
        </p:txBody>
      </p:sp>
      <p:sp>
        <p:nvSpPr>
          <p:cNvPr id="6" name="TextBox 5"/>
          <p:cNvSpPr txBox="1"/>
          <p:nvPr/>
        </p:nvSpPr>
        <p:spPr>
          <a:xfrm>
            <a:off x="731520" y="4572000"/>
            <a:ext cx="10698480" cy="1645920"/>
          </a:xfrm>
          <a:prstGeom prst="rect">
            <a:avLst/>
          </a:prstGeom>
          <a:noFill/>
        </p:spPr>
        <p:txBody>
          <a:bodyPr wrap="none">
            <a:spAutoFit/>
          </a:bodyPr>
          <a:lstStyle/>
          <a:p>
            <a:pPr>
              <a:defRPr sz="1400">
                <a:solidFill>
                  <a:srgbClr val="334155"/>
                </a:solidFill>
              </a:defRPr>
            </a:pPr>
            <a:r>
              <a:t>Đơn vị: Viện VisionLab (CORP-01-CV)</a:t>
            </a:r>
            <a:br/>
            <a:r>
              <a:t>Sinh viên: Sinh viên 1 &amp; Sinh viên 2</a:t>
            </a:r>
            <a:br/>
            <a:r>
              <a:t>Cố vấn: DUT Computer Vision Mentor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QUẢN TRỊ DỰ ÁN &amp; PHỐI HỢP KỸ NGHỆ</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Phân Công Nhiệm Vụ &amp; Đóng Góp Thực Hiện  [02/47]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SINH VIÊN 1: DATA &amp; CLASSICAL CV LEAD</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Khảo sát lâm sàng &amp; Kỹ nghệ dữ liệu RSNA (12.611 ca).</a:t>
            </a:r>
          </a:p>
          <a:p>
            <a:pPr>
              <a:defRPr sz="1050">
                <a:solidFill>
                  <a:srgbClr val="334155"/>
                </a:solidFill>
              </a:defRPr>
            </a:pPr>
            <a:r>
              <a:t>• Pipeline Classical CV 5 bước: CLAHE, Gauss, Otsu, Morphology, Crop 512×512.</a:t>
            </a:r>
          </a:p>
          <a:p>
            <a:pPr>
              <a:defRPr sz="1050">
                <a:solidFill>
                  <a:srgbClr val="334155"/>
                </a:solidFill>
              </a:defRPr>
            </a:pPr>
            <a:r>
              <a:t>• Xây dựng khối cảnh báo WHO và phát triển ứng dụng WebApp CDSS.</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SINH VIÊN 2: DEEP LEARNING &amp; BENCHMARK LEAD</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Thiết kế kiến trúc Đa phương thức FiLM: f' = γ(g)⊙f + β(g).</a:t>
            </a:r>
          </a:p>
          <a:p>
            <a:pPr>
              <a:defRPr sz="1050">
                <a:solidFill>
                  <a:srgbClr val="334155"/>
                </a:solidFill>
              </a:defRPr>
            </a:pPr>
            <a:r>
              <a:t>• Huấn luyện ma trận 3 mô hình đối kháng: ResNet-50, ConvNeXt, Swin-T.</a:t>
            </a:r>
          </a:p>
          <a:p>
            <a:pPr>
              <a:defRPr sz="1050">
                <a:solidFill>
                  <a:srgbClr val="334155"/>
                </a:solidFill>
              </a:defRPr>
            </a:pPr>
            <a:r>
              <a:t>• Thẩm định giải thích Regression Grad-CAM và hoàn thiện bản thảo bài báo IEEE.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LỘ TRÌNH BÁO CÁO HỘI ĐỒNG</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Cấu Trúc Báo Cáo Tổng Thể (Agenda)  [03/47]</a:t>
            </a:r>
          </a:p>
        </p:txBody>
      </p:sp>
      <p:sp>
        <p:nvSpPr>
          <p:cNvPr id="5" name="Rounded Rectangle 4"/>
          <p:cNvSpPr/>
          <p:nvPr/>
        </p:nvSpPr>
        <p:spPr>
          <a:xfrm>
            <a:off x="7315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94560" cy="731520"/>
          </a:xfrm>
          <a:prstGeom prst="rect">
            <a:avLst/>
          </a:prstGeom>
          <a:noFill/>
        </p:spPr>
        <p:txBody>
          <a:bodyPr wrap="none">
            <a:spAutoFit/>
          </a:bodyPr>
          <a:lstStyle/>
          <a:p>
            <a:pPr>
              <a:defRPr sz="1200" b="1">
                <a:solidFill>
                  <a:srgbClr val="0369A1"/>
                </a:solidFill>
              </a:defRPr>
            </a:pPr>
            <a:r>
              <a:t>PHẦN 1: BỐI CẢNH Y TẾ</a:t>
            </a:r>
          </a:p>
        </p:txBody>
      </p:sp>
      <p:sp>
        <p:nvSpPr>
          <p:cNvPr id="7" name="TextBox 6"/>
          <p:cNvSpPr txBox="1"/>
          <p:nvPr/>
        </p:nvSpPr>
        <p:spPr>
          <a:xfrm>
            <a:off x="868680" y="2514600"/>
            <a:ext cx="2194560" cy="3566160"/>
          </a:xfrm>
          <a:prstGeom prst="rect">
            <a:avLst/>
          </a:prstGeom>
          <a:noFill/>
        </p:spPr>
        <p:txBody>
          <a:bodyPr wrap="square">
            <a:spAutoFit/>
          </a:bodyPr>
          <a:lstStyle/>
          <a:p>
            <a:pPr>
              <a:defRPr sz="1050">
                <a:solidFill>
                  <a:srgbClr val="334155"/>
                </a:solidFill>
              </a:defRPr>
            </a:pPr>
            <a:r>
              <a:t>• Giới thiệu bài toán, tầm quan trọng dậy thì sớm/chậm phát triển, tiếp cận hồi quy đa phương thức.</a:t>
            </a:r>
          </a:p>
        </p:txBody>
      </p:sp>
      <p:sp>
        <p:nvSpPr>
          <p:cNvPr id="8" name="Rounded Rectangle 7"/>
          <p:cNvSpPr/>
          <p:nvPr/>
        </p:nvSpPr>
        <p:spPr>
          <a:xfrm>
            <a:off x="34747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737360"/>
            <a:ext cx="2194560" cy="731520"/>
          </a:xfrm>
          <a:prstGeom prst="rect">
            <a:avLst/>
          </a:prstGeom>
          <a:noFill/>
        </p:spPr>
        <p:txBody>
          <a:bodyPr wrap="none">
            <a:spAutoFit/>
          </a:bodyPr>
          <a:lstStyle/>
          <a:p>
            <a:pPr>
              <a:defRPr sz="1200" b="1">
                <a:solidFill>
                  <a:srgbClr val="0369A1"/>
                </a:solidFill>
              </a:defRPr>
            </a:pPr>
            <a:r>
              <a:t>PHẦN 2: DỮ LIỆU &amp; TIỀN XỬ LÝ</a:t>
            </a:r>
          </a:p>
        </p:txBody>
      </p:sp>
      <p:sp>
        <p:nvSpPr>
          <p:cNvPr id="10" name="TextBox 9"/>
          <p:cNvSpPr txBox="1"/>
          <p:nvPr/>
        </p:nvSpPr>
        <p:spPr>
          <a:xfrm>
            <a:off x="3611879" y="2514600"/>
            <a:ext cx="2194560" cy="3566160"/>
          </a:xfrm>
          <a:prstGeom prst="rect">
            <a:avLst/>
          </a:prstGeom>
          <a:noFill/>
        </p:spPr>
        <p:txBody>
          <a:bodyPr wrap="square">
            <a:spAutoFit/>
          </a:bodyPr>
          <a:lstStyle/>
          <a:p>
            <a:pPr>
              <a:defRPr sz="1050">
                <a:solidFill>
                  <a:srgbClr val="334155"/>
                </a:solidFill>
              </a:defRPr>
            </a:pPr>
            <a:r>
              <a:t>• RSNA 12.611 ca, khảo sát EDA, phân tầng 80/10/10 và Pipeline 5 bước triệt tiêu học đường tắt.</a:t>
            </a:r>
          </a:p>
        </p:txBody>
      </p:sp>
      <p:sp>
        <p:nvSpPr>
          <p:cNvPr id="11" name="Rounded Rectangle 10"/>
          <p:cNvSpPr/>
          <p:nvPr/>
        </p:nvSpPr>
        <p:spPr>
          <a:xfrm>
            <a:off x="62179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1737360"/>
            <a:ext cx="2194560" cy="731520"/>
          </a:xfrm>
          <a:prstGeom prst="rect">
            <a:avLst/>
          </a:prstGeom>
          <a:noFill/>
        </p:spPr>
        <p:txBody>
          <a:bodyPr wrap="none">
            <a:spAutoFit/>
          </a:bodyPr>
          <a:lstStyle/>
          <a:p>
            <a:pPr>
              <a:defRPr sz="1200" b="1">
                <a:solidFill>
                  <a:srgbClr val="0369A1"/>
                </a:solidFill>
              </a:defRPr>
            </a:pPr>
            <a:r>
              <a:t>PHẦN 3: TAM MÃ HỌC SÂU</a:t>
            </a:r>
          </a:p>
        </p:txBody>
      </p:sp>
      <p:sp>
        <p:nvSpPr>
          <p:cNvPr id="13" name="TextBox 12"/>
          <p:cNvSpPr txBox="1"/>
          <p:nvPr/>
        </p:nvSpPr>
        <p:spPr>
          <a:xfrm>
            <a:off x="6355079" y="2514600"/>
            <a:ext cx="2194560" cy="3566160"/>
          </a:xfrm>
          <a:prstGeom prst="rect">
            <a:avLst/>
          </a:prstGeom>
          <a:noFill/>
        </p:spPr>
        <p:txBody>
          <a:bodyPr wrap="square">
            <a:spAutoFit/>
          </a:bodyPr>
          <a:lstStyle/>
          <a:p>
            <a:pPr>
              <a:defRPr sz="1050">
                <a:solidFill>
                  <a:srgbClr val="334155"/>
                </a:solidFill>
              </a:defRPr>
            </a:pPr>
            <a:r>
              <a:t>• Cơ chế FiLM, đối đầu 3 trường phái: ResNet-50 vs ConvNeXt vs Swin-T, động học hội tụ.</a:t>
            </a:r>
          </a:p>
        </p:txBody>
      </p:sp>
      <p:sp>
        <p:nvSpPr>
          <p:cNvPr id="14" name="Rounded Rectangle 13"/>
          <p:cNvSpPr/>
          <p:nvPr/>
        </p:nvSpPr>
        <p:spPr>
          <a:xfrm>
            <a:off x="89611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737360"/>
            <a:ext cx="2194560" cy="731520"/>
          </a:xfrm>
          <a:prstGeom prst="rect">
            <a:avLst/>
          </a:prstGeom>
          <a:noFill/>
        </p:spPr>
        <p:txBody>
          <a:bodyPr wrap="none">
            <a:spAutoFit/>
          </a:bodyPr>
          <a:lstStyle/>
          <a:p>
            <a:pPr>
              <a:defRPr sz="1200" b="1">
                <a:solidFill>
                  <a:srgbClr val="0369A1"/>
                </a:solidFill>
              </a:defRPr>
            </a:pPr>
            <a:r>
              <a:t>PHẦN 4: BENCHMARK &amp; DEMO</a:t>
            </a:r>
          </a:p>
        </p:txBody>
      </p:sp>
      <p:sp>
        <p:nvSpPr>
          <p:cNvPr id="16" name="TextBox 15"/>
          <p:cNvSpPr txBox="1"/>
          <p:nvPr/>
        </p:nvSpPr>
        <p:spPr>
          <a:xfrm>
            <a:off x="9098280" y="2514600"/>
            <a:ext cx="2194560" cy="3566160"/>
          </a:xfrm>
          <a:prstGeom prst="rect">
            <a:avLst/>
          </a:prstGeom>
          <a:noFill/>
        </p:spPr>
        <p:txBody>
          <a:bodyPr wrap="square">
            <a:spAutoFit/>
          </a:bodyPr>
          <a:lstStyle/>
          <a:p>
            <a:pPr>
              <a:defRPr sz="1050">
                <a:solidFill>
                  <a:srgbClr val="334155"/>
                </a:solidFill>
              </a:defRPr>
            </a:pPr>
            <a:r>
              <a:t>• Ma trận đối đầu, vượt SOTA, giải thích XAI Grad-CAM, cảnh báo WHO và WebApp CDSS.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62895" cy="914400"/>
          </a:xfrm>
          <a:prstGeom prst="rect">
            <a:avLst/>
          </a:prstGeom>
          <a:noFill/>
        </p:spPr>
        <p:txBody>
          <a:bodyPr wrap="none">
            <a:spAutoFit/>
          </a:bodyPr>
          <a:lstStyle/>
          <a:p>
            <a:pPr algn="ctr">
              <a:defRPr sz="2200" b="1">
                <a:solidFill>
                  <a:srgbClr val="0284C7"/>
                </a:solidFill>
              </a:defRPr>
            </a:pPr>
            <a:r>
              <a:t>PHẦN 1</a:t>
            </a:r>
          </a:p>
        </p:txBody>
      </p:sp>
      <p:sp>
        <p:nvSpPr>
          <p:cNvPr id="4" name="TextBox 3"/>
          <p:cNvSpPr txBox="1"/>
          <p:nvPr/>
        </p:nvSpPr>
        <p:spPr>
          <a:xfrm>
            <a:off x="914400" y="3017520"/>
            <a:ext cx="10362895" cy="2011680"/>
          </a:xfrm>
          <a:prstGeom prst="rect">
            <a:avLst/>
          </a:prstGeom>
          <a:noFill/>
        </p:spPr>
        <p:txBody>
          <a:bodyPr wrap="none">
            <a:spAutoFit/>
          </a:bodyPr>
          <a:lstStyle/>
          <a:p>
            <a:pPr algn="ctr">
              <a:defRPr sz="3400" b="1">
                <a:solidFill>
                  <a:srgbClr val="0F172A"/>
                </a:solidFill>
              </a:defRPr>
            </a:pPr>
            <a:r>
              <a:t>GIỚI THIỆU BÀI TOÁN &amp; BỐI CẢNH LÂM SÀNG Y TẾ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BỐI CẢNH Y HỌC &amp; ĐỘNG LỰC NGHIÊN CỨU</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Tầm Quan Trọng Của Đánh Giá Tuổi Xương Trong Nhi Khoa  [05/47]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DẬY THÌ SỚM (PRECOCIOUS PUBERTY)</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Tuổi xương vượt trước tuổi khai sinh (&gt; 1 năm).</a:t>
            </a:r>
          </a:p>
          <a:p>
            <a:pPr>
              <a:defRPr sz="1050">
                <a:solidFill>
                  <a:srgbClr val="334155"/>
                </a:solidFill>
              </a:defRPr>
            </a:pPr>
            <a:r>
              <a:t>• Các đĩa sụn tiếp hợp cốt hóa và đóng kín quá sớm.</a:t>
            </a:r>
          </a:p>
          <a:p>
            <a:pPr>
              <a:defRPr sz="1050">
                <a:solidFill>
                  <a:srgbClr val="334155"/>
                </a:solidFill>
              </a:defRPr>
            </a:pPr>
            <a:r>
              <a:t>• Trẻ bị thấp lùn vĩnh viễn khi bước vào tuổi trưởng thành.</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CHẬM PHÁT TRIỂN (GROWTH DELAY)</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Tuổi xương tụt hậu so với tuổi khai sinh (&lt; -1 năm).</a:t>
            </a:r>
          </a:p>
          <a:p>
            <a:pPr>
              <a:defRPr sz="1050">
                <a:solidFill>
                  <a:srgbClr val="334155"/>
                </a:solidFill>
              </a:defRPr>
            </a:pPr>
            <a:r>
              <a:t>• Do thiếu hụt hormone tăng trưởng GH hoặc suy giáp bẩm sinh.</a:t>
            </a:r>
          </a:p>
          <a:p>
            <a:pPr>
              <a:defRPr sz="1050">
                <a:solidFill>
                  <a:srgbClr val="334155"/>
                </a:solidFill>
              </a:defRPr>
            </a:pPr>
            <a:r>
              <a:t>• Cần phát hiện sớm trong 'giai đoạn vàng' để tiêm bù hormone.</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ÁP LỰC LÂM SÀNG THỦ CÔNG</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Lật sách GP Atlas hoặc chấm TW3 tốn 15–20 phút/ca bệnh.</a:t>
            </a:r>
          </a:p>
          <a:p>
            <a:pPr>
              <a:defRPr sz="1050">
                <a:solidFill>
                  <a:srgbClr val="334155"/>
                </a:solidFill>
              </a:defRPr>
            </a:pPr>
            <a:r>
              <a:t>• Sai số chủ quan giữa các bác sĩ lên tới 0.5 – 1.2 năm.</a:t>
            </a:r>
          </a:p>
          <a:p>
            <a:pPr>
              <a:defRPr sz="1050">
                <a:solidFill>
                  <a:srgbClr val="334155"/>
                </a:solidFill>
              </a:defRPr>
            </a:pPr>
            <a:r>
              <a:t>• Hệ thống AI định lượng chính xác trong 15ms hỗ trợ bác sĩ kịp thời.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ĐỊNH NGHĨA BÀI TOÁN &amp; PHƯƠNG PHÁP LUẬN</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Phạm Vi Nghiên Cứu &amp; Tiếp Cận Đa Phương Thức  [06/47]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ĐỐI TƯỢNG NGHIÊN CỨU</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Ảnh X-quang tư thế sau - trước (PA) bàn tay và cổ tay trái.</a:t>
            </a:r>
          </a:p>
          <a:p>
            <a:pPr>
              <a:defRPr sz="1050">
                <a:solidFill>
                  <a:srgbClr val="334155"/>
                </a:solidFill>
              </a:defRPr>
            </a:pPr>
            <a:r>
              <a:t>• Độ tuổi bệnh nhi: Từ 1 đến 228 tháng tuổi (0 – 19 tuổi).</a:t>
            </a:r>
          </a:p>
          <a:p>
            <a:pPr>
              <a:defRPr sz="1050">
                <a:solidFill>
                  <a:srgbClr val="334155"/>
                </a:solidFill>
              </a:defRPr>
            </a:pPr>
            <a:r>
              <a:t>• Biến lâm sàng 1D: Giới tính sinh học bệnh nhi (Nam = 1, Nữ = 0).</a:t>
            </a:r>
          </a:p>
          <a:p>
            <a:pPr>
              <a:defRPr sz="1050">
                <a:solidFill>
                  <a:srgbClr val="334155"/>
                </a:solidFill>
              </a:defRPr>
            </a:pPr>
            <a:r>
              <a:t>• Bé gái cốt hóa xương sớm hơn bé trai 1.5 – 2 năm.</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ĐỘT PHÁ: HỒI QUY ĐA PHƯƠNG THỨC</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Bác bỏ phân loại: Quá trình cốt hóa biến thiên liên tục từng milimét.</a:t>
            </a:r>
          </a:p>
          <a:p>
            <a:pPr>
              <a:defRPr sz="1050">
                <a:solidFill>
                  <a:srgbClr val="334155"/>
                </a:solidFill>
              </a:defRPr>
            </a:pPr>
            <a:r>
              <a:t>• Hồi quy liên tục (Regression): Dự đoán số thực ŷ ∈ [1, 228] tháng.</a:t>
            </a:r>
          </a:p>
          <a:p>
            <a:pPr>
              <a:defRPr sz="1050">
                <a:solidFill>
                  <a:srgbClr val="334155"/>
                </a:solidFill>
              </a:defRPr>
            </a:pPr>
            <a:r>
              <a:t>• Cơ chế FiLM: Giới tính trực tiếp điều biến các kênh đặc trưng thị giác.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62895" cy="914400"/>
          </a:xfrm>
          <a:prstGeom prst="rect">
            <a:avLst/>
          </a:prstGeom>
          <a:noFill/>
        </p:spPr>
        <p:txBody>
          <a:bodyPr wrap="none">
            <a:spAutoFit/>
          </a:bodyPr>
          <a:lstStyle/>
          <a:p>
            <a:pPr algn="ctr">
              <a:defRPr sz="2200" b="1">
                <a:solidFill>
                  <a:srgbClr val="0284C7"/>
                </a:solidFill>
              </a:defRPr>
            </a:pPr>
            <a:r>
              <a:t>PHẦN 2</a:t>
            </a:r>
          </a:p>
        </p:txBody>
      </p:sp>
      <p:sp>
        <p:nvSpPr>
          <p:cNvPr id="4" name="TextBox 3"/>
          <p:cNvSpPr txBox="1"/>
          <p:nvPr/>
        </p:nvSpPr>
        <p:spPr>
          <a:xfrm>
            <a:off x="914400" y="3017520"/>
            <a:ext cx="10362895" cy="2011680"/>
          </a:xfrm>
          <a:prstGeom prst="rect">
            <a:avLst/>
          </a:prstGeom>
          <a:noFill/>
        </p:spPr>
        <p:txBody>
          <a:bodyPr wrap="none">
            <a:spAutoFit/>
          </a:bodyPr>
          <a:lstStyle/>
          <a:p>
            <a:pPr algn="ctr">
              <a:defRPr sz="3400" b="1">
                <a:solidFill>
                  <a:srgbClr val="0F172A"/>
                </a:solidFill>
              </a:defRPr>
            </a:pPr>
            <a:r>
              <a:t>DỮ LIỆU LÂM SÀNG &amp; TIỀN XỬ LÝ ẢNH CỔ ĐIỂN (CLASSICAL CV)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GIẢI PHẪU HỌC LÂM SÀNG NHI KHOA</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Tiến Trình Cốt Hóa Sinh Học Trên Phim X-Quang Bàn Tay  [08/47]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VÙNG 8 XƯƠNG CỔ TAY (CARPALS)</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Xuất hiện tuần tự từ sơ sinh đến 7 tuổi.</a:t>
            </a:r>
          </a:p>
          <a:p>
            <a:pPr>
              <a:defRPr sz="1050">
                <a:solidFill>
                  <a:srgbClr val="334155"/>
                </a:solidFill>
              </a:defRPr>
            </a:pPr>
            <a:r>
              <a:t>• Khởi đầu: Xương cả (Capitate) &amp; xương móc (Hamate).</a:t>
            </a:r>
          </a:p>
          <a:p>
            <a:pPr>
              <a:defRPr sz="1050">
                <a:solidFill>
                  <a:srgbClr val="334155"/>
                </a:solidFill>
              </a:defRPr>
            </a:pPr>
            <a:r>
              <a:t>• Tiếp theo: Xương tháp, nguyệt, thang, thê và cuối cùng là xương đậu.</a:t>
            </a:r>
          </a:p>
          <a:p>
            <a:pPr>
              <a:defRPr sz="1050">
                <a:solidFill>
                  <a:srgbClr val="334155"/>
                </a:solidFill>
              </a:defRPr>
            </a:pPr>
            <a:r>
              <a:t>• Ở trẻ sơ sinh: Cổ tay là sụn trong suốt chưa cản quang.</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ĐĨA SỤN TIẾP HỢP (EPIPHYSEAL PLATES)</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Nằm giữa thân xương và chỏm đốt ngón tay.</a:t>
            </a:r>
          </a:p>
          <a:p>
            <a:pPr>
              <a:defRPr sz="1050">
                <a:solidFill>
                  <a:srgbClr val="334155"/>
                </a:solidFill>
              </a:defRPr>
            </a:pPr>
            <a:r>
              <a:t>• Nở rộng và biến động mạnh nhất ở tuổi dậy thì.</a:t>
            </a:r>
          </a:p>
          <a:p>
            <a:pPr>
              <a:defRPr sz="1050">
                <a:solidFill>
                  <a:srgbClr val="334155"/>
                </a:solidFill>
              </a:defRPr>
            </a:pPr>
            <a:r>
              <a:t>• Khép kín hoàn toàn (hợp nhất xương) khi trưởng thành sinh lý.</a:t>
            </a:r>
          </a:p>
          <a:p>
            <a:pPr>
              <a:defRPr sz="1050">
                <a:solidFill>
                  <a:srgbClr val="334155"/>
                </a:solidFill>
              </a:defRPr>
            </a:pPr>
            <a:r>
              <a:t>• AI phải phân giải được kích thước biến thiên từng milimét.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TẬP DỮ LIỆU CHUẨN QUỐC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Bộ Dữ Liệu Y Tế Thật RSNA Pediatric Bone Age Challenge  [09/47]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NGUỒN DỮ LIỆU Y TẾ</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Quy mô: 12.611 ca bệnh nhi thật.</a:t>
            </a:r>
          </a:p>
          <a:p>
            <a:pPr>
              <a:defRPr sz="1050">
                <a:solidFill>
                  <a:srgbClr val="334155"/>
                </a:solidFill>
              </a:defRPr>
            </a:pPr>
            <a:r>
              <a:t>• Đóng góp bởi: Hiệp hội Điện quang Bắc Mỹ (RSNA).</a:t>
            </a:r>
          </a:p>
          <a:p>
            <a:pPr>
              <a:defRPr sz="1050">
                <a:solidFill>
                  <a:srgbClr val="334155"/>
                </a:solidFill>
              </a:defRPr>
            </a:pPr>
            <a:r>
              <a:t>• Thu thập từ Stanford Children's Hospital và Children's Hospital Colorado.</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PHÂN PHỐI ĐỘ TUỔI</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Trải dài từ 1 đến 228 tháng (0 – 19 tuổi).</a:t>
            </a:r>
          </a:p>
          <a:p>
            <a:pPr>
              <a:defRPr sz="1050">
                <a:solidFill>
                  <a:srgbClr val="334155"/>
                </a:solidFill>
              </a:defRPr>
            </a:pPr>
            <a:r>
              <a:t>• Trung bình: μ = 127.32 tháng (~10.6 tuổi).</a:t>
            </a:r>
          </a:p>
          <a:p>
            <a:pPr>
              <a:defRPr sz="1050">
                <a:solidFill>
                  <a:srgbClr val="334155"/>
                </a:solidFill>
              </a:defRPr>
            </a:pPr>
            <a:r>
              <a:t>• Độ lệch chuẩn: σ = 41.18 tháng.</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NHÃN CHUẨN VÀNG (GROUND TRUTH)</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100% ca bệnh có hội đồng chuyên gia chẩn đoán hình ảnh đối soát chéo.</a:t>
            </a:r>
          </a:p>
          <a:p>
            <a:pPr>
              <a:defRPr sz="1050">
                <a:solidFill>
                  <a:srgbClr val="334155"/>
                </a:solidFill>
              </a:defRPr>
            </a:pPr>
            <a:r>
              <a:t>• Radiologist Consensus chuẩn mực quốc tế cao nhất.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THỐNG KÊ MÔ TẢ &amp; KHẢO SÁT LÂM SÀNG</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Phân Tích Thống Kê Lâm Sàng (Clinical EDA)  [10/47]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CƠ CẤU GIỚI TÍNH CÂN BẰNG</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Nam: 54.18% (6.833 ca bệnh nhi).</a:t>
            </a:r>
          </a:p>
          <a:p>
            <a:pPr>
              <a:defRPr sz="1050">
                <a:solidFill>
                  <a:srgbClr val="334155"/>
                </a:solidFill>
              </a:defRPr>
            </a:pPr>
            <a:r>
              <a:t>• Nữ: 45.82% (5.778 ca bệnh nhi).</a:t>
            </a:r>
          </a:p>
          <a:p>
            <a:pPr>
              <a:defRPr sz="1050">
                <a:solidFill>
                  <a:srgbClr val="334155"/>
                </a:solidFill>
              </a:defRPr>
            </a:pPr>
            <a:r>
              <a:t>• Tỷ lệ cân bằng lý tưởng, không bị lệch giới tính.</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PHÂN PHỐI ĐỘ TUỔI ĐỐI XỨNG</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Đường cong hình chuông tiệm cận phân phối chuẩn Gauss.</a:t>
            </a:r>
          </a:p>
          <a:p>
            <a:pPr>
              <a:defRPr sz="1050">
                <a:solidFill>
                  <a:srgbClr val="334155"/>
                </a:solidFill>
              </a:defRPr>
            </a:pPr>
            <a:r>
              <a:t>• Mật độ tập trung cao nhất ở giai đoạn 8 – 14 tuổi.</a:t>
            </a:r>
          </a:p>
          <a:p>
            <a:pPr>
              <a:defRPr sz="1050">
                <a:solidFill>
                  <a:srgbClr val="334155"/>
                </a:solidFill>
              </a:defRPr>
            </a:pPr>
            <a:r>
              <a:t>• Tạo điều kiện lý tưởng cho thuật toán hồi quy liên tục.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KỸ NGHỆ PHÂN TẦNG CHỐNG RÒ RỈ</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Chiến Lược Phân Tầng Cố Định (Stratified Split 80/10/10)  [11/47]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BÁC BỎ RANDOM SPLIT</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Tuyệt đối không chia ngẫu nhiên để tránh rò rỉ phân phối.</a:t>
            </a:r>
          </a:p>
          <a:p>
            <a:pPr>
              <a:defRPr sz="1050">
                <a:solidFill>
                  <a:srgbClr val="334155"/>
                </a:solidFill>
              </a:defRPr>
            </a:pPr>
            <a:r>
              <a:t>• Phân chia kết hợp 10 phân vị tuổi (Deciles) × 2 Giới tính = 20 Bins chuẩn.</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PHÂN CHIA 3 TẬP ĐỘC LẬP</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Train Set (80.0%): 10.088 ca.</a:t>
            </a:r>
          </a:p>
          <a:p>
            <a:pPr>
              <a:defRPr sz="1050">
                <a:solidFill>
                  <a:srgbClr val="334155"/>
                </a:solidFill>
              </a:defRPr>
            </a:pPr>
            <a:r>
              <a:t>• Val Set (10.0%): 1.261 ca.</a:t>
            </a:r>
          </a:p>
          <a:p>
            <a:pPr>
              <a:defRPr sz="1050">
                <a:solidFill>
                  <a:srgbClr val="334155"/>
                </a:solidFill>
              </a:defRPr>
            </a:pPr>
            <a:r>
              <a:t>• Test Set (10.0%): 1.262 ca (Đóng băng hoàn toàn).</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ĐÓNG BĂNG DỮ LIỆU</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Lưu trữ cố định trong tệp train_stratified.csv.</a:t>
            </a:r>
          </a:p>
          <a:p>
            <a:pPr>
              <a:defRPr sz="1050">
                <a:solidFill>
                  <a:srgbClr val="334155"/>
                </a:solidFill>
              </a:defRPr>
            </a:pPr>
            <a:r>
              <a:t>• Đảm bảo 100% tính tái lặp khoa học và công bằng giữa 3 mô hình.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CƠ CẤU MẪU THEO LỨA TUỔI SINH LÝ</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Phân Bổ Bệnh Nhi Theo 4 Giai Đoạn Phát Triển  [12/47]</a:t>
            </a:r>
          </a:p>
        </p:txBody>
      </p:sp>
      <p:sp>
        <p:nvSpPr>
          <p:cNvPr id="5" name="Rounded Rectangle 4"/>
          <p:cNvSpPr/>
          <p:nvPr/>
        </p:nvSpPr>
        <p:spPr>
          <a:xfrm>
            <a:off x="7315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94560" cy="731520"/>
          </a:xfrm>
          <a:prstGeom prst="rect">
            <a:avLst/>
          </a:prstGeom>
          <a:noFill/>
        </p:spPr>
        <p:txBody>
          <a:bodyPr wrap="none">
            <a:spAutoFit/>
          </a:bodyPr>
          <a:lstStyle/>
          <a:p>
            <a:pPr>
              <a:defRPr sz="1200" b="1">
                <a:solidFill>
                  <a:srgbClr val="0369A1"/>
                </a:solidFill>
              </a:defRPr>
            </a:pPr>
            <a:r>
              <a:t>1. NHŨ NHI (&lt; 3T)</a:t>
            </a:r>
          </a:p>
        </p:txBody>
      </p:sp>
      <p:sp>
        <p:nvSpPr>
          <p:cNvPr id="7" name="TextBox 6"/>
          <p:cNvSpPr txBox="1"/>
          <p:nvPr/>
        </p:nvSpPr>
        <p:spPr>
          <a:xfrm>
            <a:off x="868680" y="2514600"/>
            <a:ext cx="2194560" cy="3566160"/>
          </a:xfrm>
          <a:prstGeom prst="rect">
            <a:avLst/>
          </a:prstGeom>
          <a:noFill/>
        </p:spPr>
        <p:txBody>
          <a:bodyPr wrap="square">
            <a:spAutoFit/>
          </a:bodyPr>
          <a:lstStyle/>
          <a:p>
            <a:pPr>
              <a:defRPr sz="1050">
                <a:solidFill>
                  <a:srgbClr val="334155"/>
                </a:solidFill>
              </a:defRPr>
            </a:pPr>
            <a:r>
              <a:t>• 782 ca (6.2%)</a:t>
            </a:r>
          </a:p>
          <a:p>
            <a:pPr>
              <a:defRPr sz="1050">
                <a:solidFill>
                  <a:srgbClr val="334155"/>
                </a:solidFill>
              </a:defRPr>
            </a:pPr>
            <a:r>
              <a:t>• Cổ tay chủ yếu là sụn trong suốt chưa cản quang; khe khớp rất rộng.</a:t>
            </a:r>
          </a:p>
        </p:txBody>
      </p:sp>
      <p:sp>
        <p:nvSpPr>
          <p:cNvPr id="8" name="Rounded Rectangle 7"/>
          <p:cNvSpPr/>
          <p:nvPr/>
        </p:nvSpPr>
        <p:spPr>
          <a:xfrm>
            <a:off x="34747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737360"/>
            <a:ext cx="2194560" cy="731520"/>
          </a:xfrm>
          <a:prstGeom prst="rect">
            <a:avLst/>
          </a:prstGeom>
          <a:noFill/>
        </p:spPr>
        <p:txBody>
          <a:bodyPr wrap="none">
            <a:spAutoFit/>
          </a:bodyPr>
          <a:lstStyle/>
          <a:p>
            <a:pPr>
              <a:defRPr sz="1200" b="1">
                <a:solidFill>
                  <a:srgbClr val="0369A1"/>
                </a:solidFill>
              </a:defRPr>
            </a:pPr>
            <a:r>
              <a:t>2. NHI ĐỒNG (3-8T)</a:t>
            </a:r>
          </a:p>
        </p:txBody>
      </p:sp>
      <p:sp>
        <p:nvSpPr>
          <p:cNvPr id="10" name="TextBox 9"/>
          <p:cNvSpPr txBox="1"/>
          <p:nvPr/>
        </p:nvSpPr>
        <p:spPr>
          <a:xfrm>
            <a:off x="3611879" y="2514600"/>
            <a:ext cx="2194560" cy="3566160"/>
          </a:xfrm>
          <a:prstGeom prst="rect">
            <a:avLst/>
          </a:prstGeom>
          <a:noFill/>
        </p:spPr>
        <p:txBody>
          <a:bodyPr wrap="square">
            <a:spAutoFit/>
          </a:bodyPr>
          <a:lstStyle/>
          <a:p>
            <a:pPr>
              <a:defRPr sz="1050">
                <a:solidFill>
                  <a:srgbClr val="334155"/>
                </a:solidFill>
              </a:defRPr>
            </a:pPr>
            <a:r>
              <a:t>• 2.415 ca (19.1%)</a:t>
            </a:r>
          </a:p>
          <a:p>
            <a:pPr>
              <a:defRPr sz="1050">
                <a:solidFill>
                  <a:srgbClr val="334155"/>
                </a:solidFill>
              </a:defRPr>
            </a:pPr>
            <a:r>
              <a:t>• Xuất hiện tuần tự 8 hạt xương cổ tay; các tâm cốt hóa nở to đều đặn.</a:t>
            </a:r>
          </a:p>
        </p:txBody>
      </p:sp>
      <p:sp>
        <p:nvSpPr>
          <p:cNvPr id="11" name="Rounded Rectangle 10"/>
          <p:cNvSpPr/>
          <p:nvPr/>
        </p:nvSpPr>
        <p:spPr>
          <a:xfrm>
            <a:off x="62179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1737360"/>
            <a:ext cx="2194560" cy="731520"/>
          </a:xfrm>
          <a:prstGeom prst="rect">
            <a:avLst/>
          </a:prstGeom>
          <a:noFill/>
        </p:spPr>
        <p:txBody>
          <a:bodyPr wrap="none">
            <a:spAutoFit/>
          </a:bodyPr>
          <a:lstStyle/>
          <a:p>
            <a:pPr>
              <a:defRPr sz="1200" b="1">
                <a:solidFill>
                  <a:srgbClr val="0369A1"/>
                </a:solidFill>
              </a:defRPr>
            </a:pPr>
            <a:r>
              <a:t>3. TIỀN DẬY THÌ (8-12T)</a:t>
            </a:r>
          </a:p>
        </p:txBody>
      </p:sp>
      <p:sp>
        <p:nvSpPr>
          <p:cNvPr id="13" name="TextBox 12"/>
          <p:cNvSpPr txBox="1"/>
          <p:nvPr/>
        </p:nvSpPr>
        <p:spPr>
          <a:xfrm>
            <a:off x="6355079" y="2514600"/>
            <a:ext cx="2194560" cy="3566160"/>
          </a:xfrm>
          <a:prstGeom prst="rect">
            <a:avLst/>
          </a:prstGeom>
          <a:noFill/>
        </p:spPr>
        <p:txBody>
          <a:bodyPr wrap="square">
            <a:spAutoFit/>
          </a:bodyPr>
          <a:lstStyle/>
          <a:p>
            <a:pPr>
              <a:defRPr sz="1050">
                <a:solidFill>
                  <a:srgbClr val="334155"/>
                </a:solidFill>
              </a:defRPr>
            </a:pPr>
            <a:r>
              <a:t>• 4.120 ca (32.7%)</a:t>
            </a:r>
          </a:p>
          <a:p>
            <a:pPr>
              <a:defRPr sz="1050">
                <a:solidFill>
                  <a:srgbClr val="334155"/>
                </a:solidFill>
              </a:defRPr>
            </a:pPr>
            <a:r>
              <a:t>• Đĩa sụn tiếp hợp nở rộng tối đa; biến động hình thái sụn mạnh nhất.</a:t>
            </a:r>
          </a:p>
        </p:txBody>
      </p:sp>
      <p:sp>
        <p:nvSpPr>
          <p:cNvPr id="14" name="Rounded Rectangle 13"/>
          <p:cNvSpPr/>
          <p:nvPr/>
        </p:nvSpPr>
        <p:spPr>
          <a:xfrm>
            <a:off x="89611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737360"/>
            <a:ext cx="2194560" cy="731520"/>
          </a:xfrm>
          <a:prstGeom prst="rect">
            <a:avLst/>
          </a:prstGeom>
          <a:noFill/>
        </p:spPr>
        <p:txBody>
          <a:bodyPr wrap="none">
            <a:spAutoFit/>
          </a:bodyPr>
          <a:lstStyle/>
          <a:p>
            <a:pPr>
              <a:defRPr sz="1200" b="1">
                <a:solidFill>
                  <a:srgbClr val="0369A1"/>
                </a:solidFill>
              </a:defRPr>
            </a:pPr>
            <a:r>
              <a:t>4. VỊ THÀNH NIÊN (12-19T)</a:t>
            </a:r>
          </a:p>
        </p:txBody>
      </p:sp>
      <p:sp>
        <p:nvSpPr>
          <p:cNvPr id="16" name="TextBox 15"/>
          <p:cNvSpPr txBox="1"/>
          <p:nvPr/>
        </p:nvSpPr>
        <p:spPr>
          <a:xfrm>
            <a:off x="9098280" y="2514600"/>
            <a:ext cx="2194560" cy="3566160"/>
          </a:xfrm>
          <a:prstGeom prst="rect">
            <a:avLst/>
          </a:prstGeom>
          <a:noFill/>
        </p:spPr>
        <p:txBody>
          <a:bodyPr wrap="square">
            <a:spAutoFit/>
          </a:bodyPr>
          <a:lstStyle/>
          <a:p>
            <a:pPr>
              <a:defRPr sz="1050">
                <a:solidFill>
                  <a:srgbClr val="334155"/>
                </a:solidFill>
              </a:defRPr>
            </a:pPr>
            <a:r>
              <a:t>• 5.294 ca (42.0%)</a:t>
            </a:r>
          </a:p>
          <a:p>
            <a:pPr>
              <a:defRPr sz="1050">
                <a:solidFill>
                  <a:srgbClr val="334155"/>
                </a:solidFill>
              </a:defRPr>
            </a:pPr>
            <a:r>
              <a:t>• Hợp nhất thân xương và chỏm; đóng hoàn toàn khe sụn tiếp hợp.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VẤN ĐỀ KỸ THUẬT THỊ GIÁC</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3 Thách Thức Quang Học Lớn Trên Ảnh X-Quang Gốc  [13/47]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1. VIỀN ĐEN MÁY QUÉT QUÁ LỚN</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Chiếm từ 30% đến 40% diện tích khung hình thô.</a:t>
            </a:r>
          </a:p>
          <a:p>
            <a:pPr>
              <a:defRPr sz="1050">
                <a:solidFill>
                  <a:srgbClr val="334155"/>
                </a:solidFill>
              </a:defRPr>
            </a:pPr>
            <a:r>
              <a:t>• Lãng phí năng lực tính toán và bộ nhớ VRAM của GPU.</a:t>
            </a:r>
          </a:p>
          <a:p>
            <a:pPr>
              <a:defRPr sz="1050">
                <a:solidFill>
                  <a:srgbClr val="334155"/>
                </a:solidFill>
              </a:defRPr>
            </a:pPr>
            <a:r>
              <a:t>• Làm loãng trọng số attention và phân tán trường tiếp nhận.</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2. ĐỘ TƯƠNG PHẢN ĐĨA SỤN THẤP</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Đĩa sụn chứa ít canxi nên độ cản quang kém, chìm trong mô mềm.</a:t>
            </a:r>
          </a:p>
          <a:p>
            <a:pPr>
              <a:defRPr sz="1050">
                <a:solidFill>
                  <a:srgbClr val="334155"/>
                </a:solidFill>
              </a:defRPr>
            </a:pPr>
            <a:r>
              <a:t>• Khó phân biệt ranh giới sụn chưa cốt hóa và mô xung quanh.</a:t>
            </a:r>
          </a:p>
          <a:p>
            <a:pPr>
              <a:defRPr sz="1050">
                <a:solidFill>
                  <a:srgbClr val="334155"/>
                </a:solidFill>
              </a:defRPr>
            </a:pPr>
            <a:r>
              <a:t>• Cần tăng cường sáng cục bộ mà không làm cháy xương đặc.</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3. DỊ VẬT KIM LOẠI &amp; CHỮ L/R</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Ký hiệu kim loại L/R cản quang cực mạnh (pixel trắng toát).</a:t>
            </a:r>
          </a:p>
          <a:p>
            <a:pPr>
              <a:defRPr sz="1050">
                <a:solidFill>
                  <a:srgbClr val="334155"/>
                </a:solidFill>
              </a:defRPr>
            </a:pPr>
            <a:r>
              <a:t>• Nguy cơ Shortcut Learning: Mạng học đường tắt vào chữ thay vì sụn.</a:t>
            </a:r>
          </a:p>
          <a:p>
            <a:pPr>
              <a:defRPr sz="1050">
                <a:solidFill>
                  <a:srgbClr val="334155"/>
                </a:solidFill>
              </a:defRPr>
            </a:pPr>
            <a:r>
              <a:t>• Bắt buộc phải xóa sạch dị vật trước khi đưa vào mô hình!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GIẢI PHÁP TIỀN XỬ LÝ CHUẨN HÓA</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Pipeline Chuẩn Hóa Thị Giác Cổ Điển 5 Bước (Classical CV)  [14/47]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Quy trình 5 bước Classical CV tuần tự:</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Bước 1: CLAHE (clipLimit=3.0, tileGridSize=8×8) cân bằng sáng cục bộ.</a:t>
            </a:r>
          </a:p>
          <a:p>
            <a:pPr>
              <a:defRPr sz="1050">
                <a:solidFill>
                  <a:srgbClr val="334155"/>
                </a:solidFill>
              </a:defRPr>
            </a:pPr>
            <a:r>
              <a:t>• Bước 2: Lọc Gaussian (5×5, σ=1.0) khử nhiễu lượng tử phim X-quang.</a:t>
            </a:r>
          </a:p>
          <a:p>
            <a:pPr>
              <a:defRPr sz="1050">
                <a:solidFill>
                  <a:srgbClr val="334155"/>
                </a:solidFill>
              </a:defRPr>
            </a:pPr>
            <a:r>
              <a:t>• Bước 3: Ngưỡng tự động Otsu nhị phân hóa tách bàn tay khỏi nền.</a:t>
            </a:r>
          </a:p>
          <a:p>
            <a:pPr>
              <a:defRPr sz="1050">
                <a:solidFill>
                  <a:srgbClr val="334155"/>
                </a:solidFill>
              </a:defRPr>
            </a:pPr>
            <a:r>
              <a:t>• Bước 4: Toán tử Hình thái học Morphology Open/Close xóa sạch chữ L/R kim loại.</a:t>
            </a:r>
          </a:p>
          <a:p>
            <a:pPr>
              <a:defRPr sz="1050">
                <a:solidFill>
                  <a:srgbClr val="334155"/>
                </a:solidFill>
              </a:defRPr>
            </a:pPr>
            <a:r>
              <a:t>• Bước 5: Bounding Box Contours Crop cắt sát biên bàn tay + viền an toàn 2% đưa về 512×512.</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Kết quả kỹ nghệ đạt được:</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Triệt tiêu 100% hiện tượng học đường tắt viền đen và chữ kim loại.</a:t>
            </a:r>
          </a:p>
          <a:p>
            <a:pPr>
              <a:defRPr sz="1050">
                <a:solidFill>
                  <a:srgbClr val="334155"/>
                </a:solidFill>
              </a:defRPr>
            </a:pPr>
            <a:r>
              <a:t>• Làm nổi rõ viền sụn tiếp hợp và hạt xương cổ tay.</a:t>
            </a:r>
          </a:p>
          <a:p>
            <a:pPr>
              <a:defRPr sz="1050">
                <a:solidFill>
                  <a:srgbClr val="334155"/>
                </a:solidFill>
              </a:defRPr>
            </a:pPr>
            <a:r>
              <a:t>• Toàn bộ 12.611 ảnh được xuất cache sẵn sàng huấn luyện tốc độ cao.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62895" cy="914400"/>
          </a:xfrm>
          <a:prstGeom prst="rect">
            <a:avLst/>
          </a:prstGeom>
          <a:noFill/>
        </p:spPr>
        <p:txBody>
          <a:bodyPr wrap="none">
            <a:spAutoFit/>
          </a:bodyPr>
          <a:lstStyle/>
          <a:p>
            <a:pPr algn="ctr">
              <a:defRPr sz="2200" b="1">
                <a:solidFill>
                  <a:srgbClr val="0284C7"/>
                </a:solidFill>
              </a:defRPr>
            </a:pPr>
            <a:r>
              <a:t>PHẦN 3</a:t>
            </a:r>
          </a:p>
        </p:txBody>
      </p:sp>
      <p:sp>
        <p:nvSpPr>
          <p:cNvPr id="4" name="TextBox 3"/>
          <p:cNvSpPr txBox="1"/>
          <p:nvPr/>
        </p:nvSpPr>
        <p:spPr>
          <a:xfrm>
            <a:off x="914400" y="3017520"/>
            <a:ext cx="10362895" cy="2011680"/>
          </a:xfrm>
          <a:prstGeom prst="rect">
            <a:avLst/>
          </a:prstGeom>
          <a:noFill/>
        </p:spPr>
        <p:txBody>
          <a:bodyPr wrap="none">
            <a:spAutoFit/>
          </a:bodyPr>
          <a:lstStyle/>
          <a:p>
            <a:pPr algn="ctr">
              <a:defRPr sz="3400" b="1">
                <a:solidFill>
                  <a:srgbClr val="0F172A"/>
                </a:solidFill>
              </a:defRPr>
            </a:pPr>
            <a:r>
              <a:t>THẾ TRẬN TAM MÃ HỌC SÂU ĐỐI ĐẦU &amp; THUẬT TOÁN TỐI ƯU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BỨC TRANH TOÀN CẢNH Y VĂN QUỐC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Tiến Trình Phát Triển Các Phương Pháp Học Máy Trong BAA  [15B/47]</a:t>
            </a:r>
          </a:p>
        </p:txBody>
      </p:sp>
      <p:sp>
        <p:nvSpPr>
          <p:cNvPr id="5" name="Rounded Rectangle 4"/>
          <p:cNvSpPr/>
          <p:nvPr/>
        </p:nvSpPr>
        <p:spPr>
          <a:xfrm>
            <a:off x="7315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194560" cy="731520"/>
          </a:xfrm>
          <a:prstGeom prst="rect">
            <a:avLst/>
          </a:prstGeom>
          <a:noFill/>
        </p:spPr>
        <p:txBody>
          <a:bodyPr wrap="none">
            <a:spAutoFit/>
          </a:bodyPr>
          <a:lstStyle/>
          <a:p>
            <a:pPr>
              <a:defRPr sz="1200" b="1">
                <a:solidFill>
                  <a:srgbClr val="0369A1"/>
                </a:solidFill>
              </a:defRPr>
            </a:pPr>
            <a:r>
              <a:t>1. CỔ ĐIỂN CNNs (2017-2019)</a:t>
            </a:r>
          </a:p>
        </p:txBody>
      </p:sp>
      <p:sp>
        <p:nvSpPr>
          <p:cNvPr id="7" name="TextBox 6"/>
          <p:cNvSpPr txBox="1"/>
          <p:nvPr/>
        </p:nvSpPr>
        <p:spPr>
          <a:xfrm>
            <a:off x="868680" y="2514600"/>
            <a:ext cx="2194560" cy="3566160"/>
          </a:xfrm>
          <a:prstGeom prst="rect">
            <a:avLst/>
          </a:prstGeom>
          <a:noFill/>
        </p:spPr>
        <p:txBody>
          <a:bodyPr wrap="square">
            <a:spAutoFit/>
          </a:bodyPr>
          <a:lstStyle/>
          <a:p>
            <a:pPr>
              <a:defRPr sz="1050">
                <a:solidFill>
                  <a:srgbClr val="334155"/>
                </a:solidFill>
              </a:defRPr>
            </a:pPr>
            <a:r>
              <a:t>• VGG-16, ResNet-50 (Larson et al. 2018: 7.30m).</a:t>
            </a:r>
          </a:p>
          <a:p>
            <a:pPr>
              <a:defRPr sz="1050">
                <a:solidFill>
                  <a:srgbClr val="334155"/>
                </a:solidFill>
              </a:defRPr>
            </a:pPr>
            <a:r>
              <a:t>• Hạn chế: Ghép nối 1-bit giới tính thô sơ bị triệt tiêu gradient; trường nhìn 3×3 cục bộ.</a:t>
            </a:r>
          </a:p>
        </p:txBody>
      </p:sp>
      <p:sp>
        <p:nvSpPr>
          <p:cNvPr id="8" name="Rounded Rectangle 7"/>
          <p:cNvSpPr/>
          <p:nvPr/>
        </p:nvSpPr>
        <p:spPr>
          <a:xfrm>
            <a:off x="3474720"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737360"/>
            <a:ext cx="2194560" cy="731520"/>
          </a:xfrm>
          <a:prstGeom prst="rect">
            <a:avLst/>
          </a:prstGeom>
          <a:noFill/>
        </p:spPr>
        <p:txBody>
          <a:bodyPr wrap="none">
            <a:spAutoFit/>
          </a:bodyPr>
          <a:lstStyle/>
          <a:p>
            <a:pPr>
              <a:defRPr sz="1200" b="1">
                <a:solidFill>
                  <a:srgbClr val="0369A1"/>
                </a:solidFill>
              </a:defRPr>
            </a:pPr>
            <a:r>
              <a:t>2. ATTENTION CNNs (2020-2022)</a:t>
            </a:r>
          </a:p>
        </p:txBody>
      </p:sp>
      <p:sp>
        <p:nvSpPr>
          <p:cNvPr id="10" name="TextBox 9"/>
          <p:cNvSpPr txBox="1"/>
          <p:nvPr/>
        </p:nvSpPr>
        <p:spPr>
          <a:xfrm>
            <a:off x="3611879" y="2514600"/>
            <a:ext cx="2194560" cy="3566160"/>
          </a:xfrm>
          <a:prstGeom prst="rect">
            <a:avLst/>
          </a:prstGeom>
          <a:noFill/>
        </p:spPr>
        <p:txBody>
          <a:bodyPr wrap="square">
            <a:spAutoFit/>
          </a:bodyPr>
          <a:lstStyle/>
          <a:p>
            <a:pPr>
              <a:defRPr sz="1050">
                <a:solidFill>
                  <a:srgbClr val="334155"/>
                </a:solidFill>
              </a:defRPr>
            </a:pPr>
            <a:r>
              <a:t>• Residual Attention, Dual-branch ROI (Wu et al. 2021: 6.60m).</a:t>
            </a:r>
          </a:p>
          <a:p>
            <a:pPr>
              <a:defRPr sz="1050">
                <a:solidFill>
                  <a:srgbClr val="334155"/>
                </a:solidFill>
              </a:defRPr>
            </a:pPr>
            <a:r>
              <a:t>• Ưu điểm: Tập trung đĩa sụn; Hạn chế: Kiến trúc phức tạp, khó hội tụ.</a:t>
            </a:r>
          </a:p>
        </p:txBody>
      </p:sp>
      <p:sp>
        <p:nvSpPr>
          <p:cNvPr id="11" name="Rounded Rectangle 10"/>
          <p:cNvSpPr/>
          <p:nvPr/>
        </p:nvSpPr>
        <p:spPr>
          <a:xfrm>
            <a:off x="62179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79" y="1737360"/>
            <a:ext cx="2194560" cy="731520"/>
          </a:xfrm>
          <a:prstGeom prst="rect">
            <a:avLst/>
          </a:prstGeom>
          <a:noFill/>
        </p:spPr>
        <p:txBody>
          <a:bodyPr wrap="none">
            <a:spAutoFit/>
          </a:bodyPr>
          <a:lstStyle/>
          <a:p>
            <a:pPr>
              <a:defRPr sz="1200" b="1">
                <a:solidFill>
                  <a:srgbClr val="0369A1"/>
                </a:solidFill>
              </a:defRPr>
            </a:pPr>
            <a:r>
              <a:t>3. VISION TRANSFORMERS (2022-2024)</a:t>
            </a:r>
          </a:p>
        </p:txBody>
      </p:sp>
      <p:sp>
        <p:nvSpPr>
          <p:cNvPr id="13" name="TextBox 12"/>
          <p:cNvSpPr txBox="1"/>
          <p:nvPr/>
        </p:nvSpPr>
        <p:spPr>
          <a:xfrm>
            <a:off x="6355079" y="2514600"/>
            <a:ext cx="2194560" cy="3566160"/>
          </a:xfrm>
          <a:prstGeom prst="rect">
            <a:avLst/>
          </a:prstGeom>
          <a:noFill/>
        </p:spPr>
        <p:txBody>
          <a:bodyPr wrap="square">
            <a:spAutoFit/>
          </a:bodyPr>
          <a:lstStyle/>
          <a:p>
            <a:pPr>
              <a:defRPr sz="1050">
                <a:solidFill>
                  <a:srgbClr val="334155"/>
                </a:solidFill>
              </a:defRPr>
            </a:pPr>
            <a:r>
              <a:t>• ViT, Swin Transformer v2 (Kasani et al. 2023: 6.38m).</a:t>
            </a:r>
          </a:p>
          <a:p>
            <a:pPr>
              <a:defRPr sz="1050">
                <a:solidFill>
                  <a:srgbClr val="334155"/>
                </a:solidFill>
              </a:defRPr>
            </a:pPr>
            <a:r>
              <a:t>• Ưu điểm: Nắm bắt quan hệ tầm xa; Hạn chế: Thiếu Inductive Bias, tiêu tốn VRAM.</a:t>
            </a:r>
          </a:p>
        </p:txBody>
      </p:sp>
      <p:sp>
        <p:nvSpPr>
          <p:cNvPr id="14" name="Rounded Rectangle 13"/>
          <p:cNvSpPr/>
          <p:nvPr/>
        </p:nvSpPr>
        <p:spPr>
          <a:xfrm>
            <a:off x="8961119" y="1600200"/>
            <a:ext cx="24688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737360"/>
            <a:ext cx="2194560" cy="731520"/>
          </a:xfrm>
          <a:prstGeom prst="rect">
            <a:avLst/>
          </a:prstGeom>
          <a:noFill/>
        </p:spPr>
        <p:txBody>
          <a:bodyPr wrap="none">
            <a:spAutoFit/>
          </a:bodyPr>
          <a:lstStyle/>
          <a:p>
            <a:pPr>
              <a:defRPr sz="1200" b="1">
                <a:solidFill>
                  <a:srgbClr val="0369A1"/>
                </a:solidFill>
              </a:defRPr>
            </a:pPr>
            <a:r>
              <a:t>4. MODERN CONVNETS + FiLM (2023-NAY)</a:t>
            </a:r>
          </a:p>
        </p:txBody>
      </p:sp>
      <p:sp>
        <p:nvSpPr>
          <p:cNvPr id="16" name="TextBox 15"/>
          <p:cNvSpPr txBox="1"/>
          <p:nvPr/>
        </p:nvSpPr>
        <p:spPr>
          <a:xfrm>
            <a:off x="9098280" y="2514600"/>
            <a:ext cx="2194560" cy="3566160"/>
          </a:xfrm>
          <a:prstGeom prst="rect">
            <a:avLst/>
          </a:prstGeom>
          <a:noFill/>
        </p:spPr>
        <p:txBody>
          <a:bodyPr wrap="square">
            <a:spAutoFit/>
          </a:bodyPr>
          <a:lstStyle/>
          <a:p>
            <a:pPr>
              <a:defRPr sz="1050">
                <a:solidFill>
                  <a:srgbClr val="334155"/>
                </a:solidFill>
              </a:defRPr>
            </a:pPr>
            <a:r>
              <a:t>• ConvNeXt-V2 kết hợp FiLM (Pan et al. 2024: 6.30m, VisionLab DUT: 6.26m).</a:t>
            </a:r>
          </a:p>
          <a:p>
            <a:pPr>
              <a:defRPr sz="1050">
                <a:solidFill>
                  <a:srgbClr val="334155"/>
                </a:solidFill>
              </a:defRPr>
            </a:pPr>
            <a:r>
              <a:t>• Depthwise 7×7 mở rộng Receptive Field, bảo tồn Inductive Bias, điều chế affine.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KIẾN TRÚC HỢP NHẤT ĐA PHƯƠNG THỨC ĐỘT PHÁ</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Sơ Đồ Khối Vận Hành Hệ Thống &amp; Cơ Chế Điều Biến FiLM  [16/47]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1. NHÁNH THỊ GIÁC 2D &amp; LÂM SÀNG 1D</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Nhánh 2D: Ảnh sạch 512×512×3 → Visual Backbone → Vector đặc trưng f_img ∈ ℝ^D.</a:t>
            </a:r>
          </a:p>
          <a:p>
            <a:pPr>
              <a:defRPr sz="1050">
                <a:solidFill>
                  <a:srgbClr val="334155"/>
                </a:solidFill>
              </a:defRPr>
            </a:pPr>
            <a:r>
              <a:t>• Nhánh 1D: Giới tính g ∈ {0, 1} → Gender MLP → Vector e_g ∈ ℝ^32.</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2. ĐIỀU BIẾN TUYẾN TÍNH FiLM</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Chiếu vector giới tính ra 2 tham số affine: γ(g), β(g) = Linear(e_g).</a:t>
            </a:r>
          </a:p>
          <a:p>
            <a:pPr>
              <a:defRPr sz="1050">
                <a:solidFill>
                  <a:srgbClr val="334155"/>
                </a:solidFill>
              </a:defRPr>
            </a:pPr>
            <a:r>
              <a:t>• Điều biến trực tiếp kênh thị giác: f' = γ(g) ⊙ f_img + β(g).</a:t>
            </a:r>
          </a:p>
          <a:p>
            <a:pPr>
              <a:defRPr sz="1050">
                <a:solidFill>
                  <a:srgbClr val="334155"/>
                </a:solidFill>
              </a:defRPr>
            </a:pPr>
            <a:r>
              <a:t>• Khắc phục 100% hiện tượng tiêu biến gradient của phép Naive Concat!</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3. ĐẦU HỒI QUY PHÂN CẤP</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Linear(D → 1024) → BatchNorm → ReLU → Linear(1024 → 512) → Linear(512 → 1).</a:t>
            </a:r>
          </a:p>
          <a:p>
            <a:pPr>
              <a:defRPr sz="1050">
                <a:solidFill>
                  <a:srgbClr val="334155"/>
                </a:solidFill>
              </a:defRPr>
            </a:pPr>
            <a:r>
              <a:t>• Dự đoán trực tiếp số tháng tuổi liên tục ŷ.</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TRƯỜNG PHÁI 1: RESIDUAL CNN CỔ ĐIỂN</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Mô Hình 1: Residual Bottleneck CNN (ResNet-50)  [17/47]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KIẾN TRÚC CỐT LÕI</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Tác giả: He et al. (Microsoft Research, 2015).</a:t>
            </a:r>
          </a:p>
          <a:p>
            <a:pPr>
              <a:defRPr sz="1050">
                <a:solidFill>
                  <a:srgbClr val="334155"/>
                </a:solidFill>
              </a:defRPr>
            </a:pPr>
            <a:r>
              <a:t>• Cơ chế cốt lõi: Residual Skip Connections (y = ℱ(x) + x).</a:t>
            </a:r>
          </a:p>
          <a:p>
            <a:pPr>
              <a:defRPr sz="1050">
                <a:solidFill>
                  <a:srgbClr val="334155"/>
                </a:solidFill>
              </a:defRPr>
            </a:pPr>
            <a:r>
              <a:t>• Bề mặt hàm mất mát phẳng và ổn định, triệt tiêu tiêu biến gradient qua 50 tầng.</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THÔNG SỐ KỸ NGHỆ</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Tổng số tham số: 26.17 triệu tham số.</a:t>
            </a:r>
          </a:p>
          <a:p>
            <a:pPr>
              <a:defRPr sz="1050">
                <a:solidFill>
                  <a:srgbClr val="334155"/>
                </a:solidFill>
              </a:defRPr>
            </a:pPr>
            <a:r>
              <a:t>• Vector đặc trưng hình ảnh GAP: 2.048 chiều (2048D).</a:t>
            </a:r>
          </a:p>
          <a:p>
            <a:pPr>
              <a:defRPr sz="1050">
                <a:solidFill>
                  <a:srgbClr val="334155"/>
                </a:solidFill>
              </a:defRPr>
            </a:pPr>
            <a:r>
              <a:t>• Kích thước Checkpoint: 324.0 MB.</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VAI TRÒ TRONG ĐỀ TÀI</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Đóng vai trò là Mô hình Nền tảng (Anchor Baseline) chuẩn mực.</a:t>
            </a:r>
          </a:p>
          <a:p>
            <a:pPr>
              <a:defRPr sz="1050">
                <a:solidFill>
                  <a:srgbClr val="334155"/>
                </a:solidFill>
              </a:defRPr>
            </a:pPr>
            <a:r>
              <a:t>• Được nâng cấp bằng khối điều biến FiLM và đầu hồi quy phân cấp.</a:t>
            </a:r>
          </a:p>
          <a:p>
            <a:pPr>
              <a:defRPr sz="1050">
                <a:solidFill>
                  <a:srgbClr val="334155"/>
                </a:solidFill>
              </a:defRPr>
            </a:pPr>
            <a:r>
              <a:t>• Kiểm chứng mức độ tiết kiệm sai số khi chuyển sang FiLM.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LỰA CHỌN THAM SỐ TOÁN HỌC</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Tại Sao ResNet-50 Là 'Điểm Rơi Vàng' (Sweet Spot)?  [18/47]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SO SÁNH CÁC BIẾN THỂ RESNET</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ResNet-18 / 34: Chỉ có 512 chiều đặc trưng, quá nông cho sụn tiếp hợp.</a:t>
            </a:r>
          </a:p>
          <a:p>
            <a:pPr>
              <a:defRPr sz="1050">
                <a:solidFill>
                  <a:srgbClr val="334155"/>
                </a:solidFill>
              </a:defRPr>
            </a:pPr>
            <a:r>
              <a:t>• ResNet-50: Khối Bottleneck (1×1 → 3×3 → 1×1), 2048D, 25.6M params, vừa vặn hoàn hảo với 10.000 ảnh y tế.</a:t>
            </a:r>
          </a:p>
          <a:p>
            <a:pPr>
              <a:defRPr sz="1050">
                <a:solidFill>
                  <a:srgbClr val="334155"/>
                </a:solidFill>
              </a:defRPr>
            </a:pPr>
            <a:r>
              <a:t>• ResNet-101 / 152: 44.5M – 60.2M params, quá nặng, dễ bị Overfitting.</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CHỨNG MINH TOÁN HỌC GRADIENT</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Đạo hàm lan truyền ngược: ∂L/∂x = (∂L/∂y) · (∂ℱ/∂x + 1).</a:t>
            </a:r>
          </a:p>
          <a:p>
            <a:pPr>
              <a:defRPr sz="1050">
                <a:solidFill>
                  <a:srgbClr val="334155"/>
                </a:solidFill>
              </a:defRPr>
            </a:pPr>
            <a:r>
              <a:t>• Số hạng +1 đảm bảo dòng gradient luôn lưu thông kể cả khi ∂ℱ/∂x tiệm cận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THIẾT LẬP THỰC NGHIỆM ĐỒNG BỘ</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Cấu Hình Huấn Luyện ResNet-50 Multimodal (FiLM)  [19/47]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PHẦN CỨNG &amp; MÔI TRƯỜNG</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GPU: NVIDIA Tesla T4 (14.56 GB VRAM).</a:t>
            </a:r>
          </a:p>
          <a:p>
            <a:pPr>
              <a:defRPr sz="1050">
                <a:solidFill>
                  <a:srgbClr val="334155"/>
                </a:solidFill>
              </a:defRPr>
            </a:pPr>
            <a:r>
              <a:t>• Môi trường: PyTorch 2.x CUDA trên Google Colab Pro.</a:t>
            </a:r>
          </a:p>
          <a:p>
            <a:pPr>
              <a:defRPr sz="1050">
                <a:solidFill>
                  <a:srgbClr val="334155"/>
                </a:solidFill>
              </a:defRPr>
            </a:pPr>
            <a:r>
              <a:t>• Batch Size: 32 mẫu | Epochs: 15 vòng lặp.</a:t>
            </a:r>
          </a:p>
          <a:p>
            <a:pPr>
              <a:defRPr sz="1050">
                <a:solidFill>
                  <a:srgbClr val="334155"/>
                </a:solidFill>
              </a:defRPr>
            </a:pPr>
            <a:r>
              <a:t>• Thời gian chạy thực tế: 202.1 phút (~3.37 giờ).</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HÀM MẤT MÁT HUBER LOSS</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Smooth L1 (δ = 1.0) kháng ngoại lai.</a:t>
            </a:r>
          </a:p>
          <a:p>
            <a:pPr>
              <a:defRPr sz="1050">
                <a:solidFill>
                  <a:srgbClr val="334155"/>
                </a:solidFill>
              </a:defRPr>
            </a:pPr>
            <a:r>
              <a:t>• Khi lỗi nhỏ (|y - ŷ| ≤ 1): Dùng L2 đạo hàm mượt mà.</a:t>
            </a:r>
          </a:p>
          <a:p>
            <a:pPr>
              <a:defRPr sz="1050">
                <a:solidFill>
                  <a:srgbClr val="334155"/>
                </a:solidFill>
              </a:defRPr>
            </a:pPr>
            <a:r>
              <a:t>• Khi lỗi lớn (|y - ŷ| &gt; 1): Chuyển sang L1 đạo hàm hằng số, chặn bùng nổ gradient!</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BỘ TỐI ƯU &amp; LỊCH HỌC</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AdamW (lr = 1e-4, weight_decay = 1e-4).</a:t>
            </a:r>
          </a:p>
          <a:p>
            <a:pPr>
              <a:defRPr sz="1050">
                <a:solidFill>
                  <a:srgbClr val="334155"/>
                </a:solidFill>
              </a:defRPr>
            </a:pPr>
            <a:r>
              <a:t>• CosineAnnealingLR (T_max = 15).</a:t>
            </a:r>
          </a:p>
          <a:p>
            <a:pPr>
              <a:defRPr sz="1050">
                <a:solidFill>
                  <a:srgbClr val="334155"/>
                </a:solidFill>
              </a:defRPr>
            </a:pPr>
            <a:r>
              <a:t>• Mixed Precision Training (AMP FP16) tăng tốc 2.1x và tiết kiệm 50% bộ nhớ.</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TIẾN TRÌNH HỘI TỤ THỰC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Kết Quả Động Học Huấn Luyện ResNet-50 Multimodal  [20/47]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TIẾN TRÌNH HỘI TỤ 15 EPOCHS</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Epoch 01: Val MAE = 111.43 tháng (Khởi tạo ngẫu nhiên đầu hồi quy).</a:t>
            </a:r>
          </a:p>
          <a:p>
            <a:pPr>
              <a:defRPr sz="1050">
                <a:solidFill>
                  <a:srgbClr val="334155"/>
                </a:solidFill>
              </a:defRPr>
            </a:pPr>
            <a:r>
              <a:t>• Epoch 05: Val MAE = 12.77 tháng (Lao dốc ngoạn mục nhờ tiền huấn luyện ImageNet).</a:t>
            </a:r>
          </a:p>
          <a:p>
            <a:pPr>
              <a:defRPr sz="1050">
                <a:solidFill>
                  <a:srgbClr val="334155"/>
                </a:solidFill>
              </a:defRPr>
            </a:pPr>
            <a:r>
              <a:t>• Epoch 13: Đạt điểm tối ưu Val MAE = 6.82 tháng (~0.568 năm) → Lưu checkpoint tốt nhất.</a:t>
            </a:r>
          </a:p>
          <a:p>
            <a:pPr>
              <a:defRPr sz="1050">
                <a:solidFill>
                  <a:srgbClr val="334155"/>
                </a:solidFill>
              </a:defRPr>
            </a:pPr>
            <a:r>
              <a:t>• Epoch 14–15: Dao động quanh mức 7.0 – 7.2 tháng với Cosine Annealing.</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ĐẶC TÍNH HUẤN LUYỆN</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Đường cong huấn luyện và kiểm định bám sát nhau, không có hiện tượng Overfitting.</a:t>
            </a:r>
          </a:p>
          <a:p>
            <a:pPr>
              <a:defRPr sz="1050">
                <a:solidFill>
                  <a:srgbClr val="334155"/>
                </a:solidFill>
              </a:defRPr>
            </a:pPr>
            <a:r>
              <a:t>• Lưu checkpoint chính thức: resnet50_multimodal.pth (324.0 MB).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KIỂM THỬ ĐỘC LẬP &amp; ABLATION STUDY</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Đánh Giá Trên Tập Test Độc Lập (1.262 Ca) — ResNet-50  [21/47]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CHỈ SỐ TEST SET</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Test MAE: 6.47 tháng (~0.539 năm, khoảng 6 tháng 14 ngày).</a:t>
            </a:r>
          </a:p>
          <a:p>
            <a:pPr>
              <a:defRPr sz="1050">
                <a:solidFill>
                  <a:srgbClr val="334155"/>
                </a:solidFill>
              </a:defRPr>
            </a:pPr>
            <a:r>
              <a:t>• Test RMSE: 8.70 tháng.</a:t>
            </a:r>
          </a:p>
          <a:p>
            <a:pPr>
              <a:defRPr sz="1050">
                <a:solidFill>
                  <a:srgbClr val="334155"/>
                </a:solidFill>
              </a:defRPr>
            </a:pPr>
            <a:r>
              <a:t>• Hệ số xác định: R² = 0.9540 (95.40%).</a:t>
            </a:r>
          </a:p>
          <a:p>
            <a:pPr>
              <a:defRPr sz="1050">
                <a:solidFill>
                  <a:srgbClr val="334155"/>
                </a:solidFill>
              </a:defRPr>
            </a:pPr>
            <a:r>
              <a:t>• Tốc độ thông lượng GPU: 67.5 FPS (Nhanh nhất hệ thống).</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ĐỘ AN TOÀN LÂM SÀNG AAP</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Độ chính xác trong hạn ≤ 6 tháng: 59.7% (Cao nhất hệ thống).</a:t>
            </a:r>
          </a:p>
          <a:p>
            <a:pPr>
              <a:defRPr sz="1050">
                <a:solidFill>
                  <a:srgbClr val="334155"/>
                </a:solidFill>
              </a:defRPr>
            </a:pPr>
            <a:r>
              <a:t>• Độ an toàn trong hạn ≤ 12 tháng: 84.70%.</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ĐỘT PHÁ CỦA FiLM (ABLATION STUDY)</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Baseline (Naive Concat 1-bit): MAE = 7.38m.</a:t>
            </a:r>
          </a:p>
          <a:p>
            <a:pPr>
              <a:defRPr sz="1050">
                <a:solidFill>
                  <a:srgbClr val="334155"/>
                </a:solidFill>
              </a:defRPr>
            </a:pPr>
            <a:r>
              <a:t>• ResNet-50 + FiLM: MAE = 6.47m.</a:t>
            </a:r>
          </a:p>
          <a:p>
            <a:pPr>
              <a:defRPr sz="1050">
                <a:solidFill>
                  <a:srgbClr val="334155"/>
                </a:solidFill>
              </a:defRPr>
            </a:pPr>
            <a:r>
              <a:t>• 👉 Giảm tới -12.3% sai số (tiết kiệm 0.91 tháng) nhờ cơ chế điều biến affine!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THẨM ĐỊNH THỐNG KÊ PHẦN DƯ</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Phân Tích Phân Bố Phần Dư Sai Số (Residual Analysis)  [22/47]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ĐỒ THỊ PHÂN TÁN (SCATTER PLOT)</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Các điểm dự đoán bám chặt vào đường chéo lý tưởng 45°.</a:t>
            </a:r>
          </a:p>
          <a:p>
            <a:pPr>
              <a:defRPr sz="1050">
                <a:solidFill>
                  <a:srgbClr val="334155"/>
                </a:solidFill>
              </a:defRPr>
            </a:pPr>
            <a:r>
              <a:t>• Đại đa số nằm gọn trong hành lang an toàn AAP ±12 tháng.</a:t>
            </a:r>
          </a:p>
          <a:p>
            <a:pPr>
              <a:defRPr sz="1050">
                <a:solidFill>
                  <a:srgbClr val="334155"/>
                </a:solidFill>
              </a:defRPr>
            </a:pPr>
            <a:r>
              <a:t>• Hệ số xác định R² = 0.9540 thể hiện tính tuyến tính cao.</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PHÂN PHỐI GAUSS ĐỐI XỨNG</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Biểu đồ phần dư (e = y - ŷ) có dạng hình chuông cân đối quanh mốc 0.</a:t>
            </a:r>
          </a:p>
          <a:p>
            <a:pPr>
              <a:defRPr sz="1050">
                <a:solidFill>
                  <a:srgbClr val="334155"/>
                </a:solidFill>
              </a:defRPr>
            </a:pPr>
            <a:r>
              <a:t>• Chứng minh mô hình hoàn toàn không bị thiên lệch (unbiased).</a:t>
            </a:r>
          </a:p>
          <a:p>
            <a:pPr>
              <a:defRPr sz="1050">
                <a:solidFill>
                  <a:srgbClr val="334155"/>
                </a:solidFill>
              </a:defRPr>
            </a:pPr>
            <a:r>
              <a:t>• Tỷ số RMSE / MAE ≈ 1.34 chứng minh kiểm soát tốt các ca bệnh ngoại lai.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TRƯỜNG PHÁI 2: MODERN PURE CNN</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Mô Hình 2: Modern Pure CNN (ConvNeXt-V2)  [23/47]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TRIẾT LÝ THIẾT KẾ</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Tác giả: Meta AI Research (Woo et al., 2023).</a:t>
            </a:r>
          </a:p>
          <a:p>
            <a:pPr>
              <a:defRPr sz="1050">
                <a:solidFill>
                  <a:srgbClr val="334155"/>
                </a:solidFill>
              </a:defRPr>
            </a:pPr>
            <a:r>
              <a:t>• Tái cấu trúc tích chập theo chuẩn hiện đại: Học tập các ưu điểm của Vision Transformer.</a:t>
            </a:r>
          </a:p>
          <a:p>
            <a:pPr>
              <a:defRPr sz="1050">
                <a:solidFill>
                  <a:srgbClr val="334155"/>
                </a:solidFill>
              </a:defRPr>
            </a:pPr>
            <a:r>
              <a:t>• Bảo tồn 100% Inductive Bias không gian của mạng tích chập.</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THÔNG SỐ KIẾN TRÚC</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Tổng tham số: 28.58 triệu tham số (29.8M gồm FiLM/Head).</a:t>
            </a:r>
          </a:p>
          <a:p>
            <a:pPr>
              <a:defRPr sz="1050">
                <a:solidFill>
                  <a:srgbClr val="334155"/>
                </a:solidFill>
              </a:defRPr>
            </a:pPr>
            <a:r>
              <a:t>• Vector đặc trưng hình ảnh: 768 chiều (768D).</a:t>
            </a:r>
          </a:p>
          <a:p>
            <a:pPr>
              <a:defRPr sz="1050">
                <a:solidFill>
                  <a:srgbClr val="334155"/>
                </a:solidFill>
              </a:defRPr>
            </a:pPr>
            <a:r>
              <a:t>• Kích thước Checkpoint: 341.2 MB.</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VỊ THẾ TRONG HỆ THỐNG</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Ứng viên sáng giá nhất cho ngôi vị Quán quân toàn diện.</a:t>
            </a:r>
          </a:p>
          <a:p>
            <a:pPr>
              <a:defRPr sz="1050">
                <a:solidFill>
                  <a:srgbClr val="334155"/>
                </a:solidFill>
              </a:defRPr>
            </a:pPr>
            <a:r>
              <a:t>• Khắc phục triệt để nhược điểm trường nhìn hẹp của ResNet-50.</a:t>
            </a:r>
          </a:p>
          <a:p>
            <a:pPr>
              <a:defRPr sz="1050">
                <a:solidFill>
                  <a:srgbClr val="334155"/>
                </a:solidFill>
              </a:defRPr>
            </a:pPr>
            <a:r>
              <a:t>• Tương thích hoàn hảo với cơ chế điều biến tuyến tính FiLM.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CẢI TIẾN TÍCH CHẬP ĐỘT PHÁ</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3 Đột Phá Kiến Trúc Của ConvNeXt Trong Phân Tích X-Ray  [24/47]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1. BỘ LỌC TÍCH CHẬP LỚN 7×7</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Tích chập Depthwise Separable 7×7 mở rộng Receptive Field.</a:t>
            </a:r>
          </a:p>
          <a:p>
            <a:pPr>
              <a:defRPr sz="1050">
                <a:solidFill>
                  <a:srgbClr val="334155"/>
                </a:solidFill>
              </a:defRPr>
            </a:pPr>
            <a:r>
              <a:t>• Bao quát toàn bộ cấu trúc bàn tay và tương quan liên ngón mà không bị nhiễu nền.</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2. KHỐI NGHỊCH ĐẢO CỔ CHAI (INVERTED BOTTLENECK)</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Mở rộng số kênh C → 4C → C.</a:t>
            </a:r>
          </a:p>
          <a:p>
            <a:pPr>
              <a:defRPr sz="1050">
                <a:solidFill>
                  <a:srgbClr val="334155"/>
                </a:solidFill>
              </a:defRPr>
            </a:pPr>
            <a:r>
              <a:t>• Giữ lại trọn vẹn các chi tiết đĩa sụn siêu nhỏ trước khi nén đặc trưng.</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3. CHUẨN HÓA PHẢN HỒI TOÀN CỤC (GRN)</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Global Response Normalization kết hợp LayerNorm.</a:t>
            </a:r>
          </a:p>
          <a:p>
            <a:pPr>
              <a:defRPr sz="1050">
                <a:solidFill>
                  <a:srgbClr val="334155"/>
                </a:solidFill>
              </a:defRPr>
            </a:pPr>
            <a:r>
              <a:t>• Chống hiện tượng bão hòa kênh và triệt tiêu gradient hiệu quả.</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THIẾT LẬP THỰC NGHIỆM CONVNEXT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Cấu Hình Huấn Luyện ConvNeXt-Tiny Multimodal  [25/47]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THAM SỐ HUẤN LUYỆN</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Batch Size: 32 | Epochs: 20 vòng lặp.</a:t>
            </a:r>
          </a:p>
          <a:p>
            <a:pPr>
              <a:defRPr sz="1050">
                <a:solidFill>
                  <a:srgbClr val="334155"/>
                </a:solidFill>
              </a:defRPr>
            </a:pPr>
            <a:r>
              <a:t>• Optimizer: AdamW (lr = 1e-4, weight_decay = 1e-4).</a:t>
            </a:r>
          </a:p>
          <a:p>
            <a:pPr>
              <a:defRPr sz="1050">
                <a:solidFill>
                  <a:srgbClr val="334155"/>
                </a:solidFill>
              </a:defRPr>
            </a:pPr>
            <a:r>
              <a:t>• Hàm mất mát: Huber Loss (Smooth L1, δ = 1.0).</a:t>
            </a:r>
          </a:p>
          <a:p>
            <a:pPr>
              <a:defRPr sz="1050">
                <a:solidFill>
                  <a:srgbClr val="334155"/>
                </a:solidFill>
              </a:defRPr>
            </a:pPr>
            <a:r>
              <a:t>• Mixed Precision: PyTorch AMP FP16.</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CHỐNG HỌC VẸT NÂNG CAO</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Stochastic Depth (Drop Path Rate = 0.1).</a:t>
            </a:r>
          </a:p>
          <a:p>
            <a:pPr>
              <a:defRPr sz="1050">
                <a:solidFill>
                  <a:srgbClr val="334155"/>
                </a:solidFill>
              </a:defRPr>
            </a:pPr>
            <a:r>
              <a:t>• Ngắt ngẫu nhiên các nhánh trong khối Inverted Bottleneck.</a:t>
            </a:r>
          </a:p>
          <a:p>
            <a:pPr>
              <a:defRPr sz="1050">
                <a:solidFill>
                  <a:srgbClr val="334155"/>
                </a:solidFill>
              </a:defRPr>
            </a:pPr>
            <a:r>
              <a:t>• Ép mạng học đa dạng đặc trưng sụn thay vì phụ thuộc vào một nhánh.</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HỢP NHẤT ĐA PHƯƠNG THỨC</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Visual Features: 768D | Gender Embedding: 32D.</a:t>
            </a:r>
          </a:p>
          <a:p>
            <a:pPr>
              <a:defRPr sz="1050">
                <a:solidFill>
                  <a:srgbClr val="334155"/>
                </a:solidFill>
              </a:defRPr>
            </a:pPr>
            <a:r>
              <a:t>• FiLM Affine: Chiếu ra γ(g), β(g) ∈ ℝ^768.</a:t>
            </a:r>
          </a:p>
          <a:p>
            <a:pPr>
              <a:defRPr sz="1050">
                <a:solidFill>
                  <a:srgbClr val="334155"/>
                </a:solidFill>
              </a:defRPr>
            </a:pPr>
            <a:r>
              <a:t>• Đầu hồi quy phân cấp: 768 → 1024 → 512 → 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TIẾN TRÌNH HỘI TỤ CONVNEXT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Động Học Hội Tụ ConvNeXt-Tiny Multimodal (FiLM)  [26/47]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ĐỘNG HỌC MẤT MÁT VƯỢT TRỘI</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Hội tụ mượt mà và sâu hơn hẳn ResNet-50 nhờ bộ lọc 7×7 và GRN.</a:t>
            </a:r>
          </a:p>
          <a:p>
            <a:pPr>
              <a:defRPr sz="1050">
                <a:solidFill>
                  <a:srgbClr val="334155"/>
                </a:solidFill>
              </a:defRPr>
            </a:pPr>
            <a:r>
              <a:t>• Điểm tối ưu đạt được tại Epoch 17: Val MAE = 6.18 tháng.</a:t>
            </a:r>
          </a:p>
          <a:p>
            <a:pPr>
              <a:defRPr sz="1050">
                <a:solidFill>
                  <a:srgbClr val="334155"/>
                </a:solidFill>
              </a:defRPr>
            </a:pPr>
            <a:r>
              <a:t>• Lưu checkpoint tối ưu: convnext_tiny_multimodal.pth (341.2 MB).</a:t>
            </a:r>
          </a:p>
          <a:p>
            <a:pPr>
              <a:defRPr sz="1050">
                <a:solidFill>
                  <a:srgbClr val="334155"/>
                </a:solidFill>
              </a:defRPr>
            </a:pPr>
            <a:r>
              <a:t>• Không xuất hiện hiện tượng bão hòa kênh hay phân kỳ gradient.</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Ý NGHĨA KỸ NGHỆ</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Sự kết hợp giữa LayerNorm và Inverted Bottleneck tạo không gian biểu diễn tuyến tính lý tưởng cho FiLM.</a:t>
            </a:r>
          </a:p>
          <a:p>
            <a:pPr>
              <a:defRPr sz="1050">
                <a:solidFill>
                  <a:srgbClr val="334155"/>
                </a:solidFill>
              </a:defRPr>
            </a:pPr>
            <a:r>
              <a:t>• Val MAE giảm sâu hơn ResNet-50 gần 0.64 tháng.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QUÁN QUÂN TOÀN HỆ THỐNG</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Kiểm Thử ConvNeXt-Tiny Trên Tập Test — Quán Quân Toàn Hệ Thống  [27/47]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TEST MAE QUÁN QUÂN</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MAE = 6.26 tháng (~0.521 năm, 6 tháng 8 ngày).</a:t>
            </a:r>
          </a:p>
          <a:p>
            <a:pPr>
              <a:defRPr sz="1050">
                <a:solidFill>
                  <a:srgbClr val="334155"/>
                </a:solidFill>
              </a:defRPr>
            </a:pPr>
            <a:r>
              <a:t>• Kỷ lục sai số thấp nhất toàn bộ nghiên cứu.</a:t>
            </a:r>
          </a:p>
          <a:p>
            <a:pPr>
              <a:defRPr sz="1050">
                <a:solidFill>
                  <a:srgbClr val="334155"/>
                </a:solidFill>
              </a:defRPr>
            </a:pPr>
            <a:r>
              <a:t>• Cắt giảm -15.2% sai số so với Baseline!</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TEST RMSE &amp; R² SCORE</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Test RMSE: 8.40 tháng (Thấp nhất hệ thống).</a:t>
            </a:r>
          </a:p>
          <a:p>
            <a:pPr>
              <a:defRPr sz="1050">
                <a:solidFill>
                  <a:srgbClr val="334155"/>
                </a:solidFill>
              </a:defRPr>
            </a:pPr>
            <a:r>
              <a:t>• R² Score: 0.9571 (95.71% - Cao nhất hệ thống).</a:t>
            </a:r>
          </a:p>
          <a:p>
            <a:pPr>
              <a:defRPr sz="1050">
                <a:solidFill>
                  <a:srgbClr val="334155"/>
                </a:solidFill>
              </a:defRPr>
            </a:pPr>
            <a:r>
              <a:t>• Giải thích 95.71% phương sai tuổi thực tế của bệnh nhi.</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AN TOÀN LÂM SÀNG AAP &amp; THÔNG LƯỢNG</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Độ an toàn trong hạn ≤ 12 tháng: 86.50% (Cao nhất).</a:t>
            </a:r>
          </a:p>
          <a:p>
            <a:pPr>
              <a:defRPr sz="1050">
                <a:solidFill>
                  <a:srgbClr val="334155"/>
                </a:solidFill>
              </a:defRPr>
            </a:pPr>
            <a:r>
              <a:t>• Thông lượng GPU: 55.0 FPS.</a:t>
            </a:r>
          </a:p>
          <a:p>
            <a:pPr>
              <a:defRPr sz="1050">
                <a:solidFill>
                  <a:srgbClr val="334155"/>
                </a:solidFill>
              </a:defRPr>
            </a:pPr>
            <a:r>
              <a:t>• Thông lượng CPU: 1.3 FPS (Mượt nhất CPU).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BƯỚC NHẢY HIỆU NĂNG</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Bước Tiến Vượt Bậc Của ConvNeXt So Với ResNet-50  [28/47]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BẢNG ĐỐI CHIẾU TRỰC TIẾP</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So với Baseline (ResNet Naive): MAE giảm từ 7.38m → 6.26m (Cải thiện -15.2%).</a:t>
            </a:r>
          </a:p>
          <a:p>
            <a:pPr>
              <a:defRPr sz="1050">
                <a:solidFill>
                  <a:srgbClr val="334155"/>
                </a:solidFill>
              </a:defRPr>
            </a:pPr>
            <a:r>
              <a:t>• So với ResNet-50 + FiLM: MAE giảm từ 6.47m → 6.26m (Cải thiện thêm -3.2%).</a:t>
            </a:r>
          </a:p>
          <a:p>
            <a:pPr>
              <a:defRPr sz="1050">
                <a:solidFill>
                  <a:srgbClr val="334155"/>
                </a:solidFill>
              </a:defRPr>
            </a:pPr>
            <a:r>
              <a:t>• RMSE giảm mạnh: 9.60m → 8.40m (Cải thiện -12.5% ngoại lai).</a:t>
            </a:r>
          </a:p>
          <a:p>
            <a:pPr>
              <a:defRPr sz="1050">
                <a:solidFill>
                  <a:srgbClr val="334155"/>
                </a:solidFill>
              </a:defRPr>
            </a:pPr>
            <a:r>
              <a:t>• Tỷ lệ an toàn 12 tháng: Tăng từ 81.38% lên 86.50% (+5.12%).</a:t>
            </a:r>
          </a:p>
          <a:p>
            <a:pPr>
              <a:defRPr sz="1050">
                <a:solidFill>
                  <a:srgbClr val="334155"/>
                </a:solidFill>
              </a:defRPr>
            </a:pPr>
            <a:r>
              <a:t>• Tốc độ CPU: Đạt 1.3 FPS (Nhanh hơn ResNet và Swin-T).</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KẾT LUẬN THỰC TIỄN</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ConvNeXt-Tiny chứng minh sự ưu việt toàn diện của tích chập hiện đại hóa.</a:t>
            </a:r>
          </a:p>
          <a:p>
            <a:pPr>
              <a:defRPr sz="1050">
                <a:solidFill>
                  <a:srgbClr val="334155"/>
                </a:solidFill>
              </a:defRPr>
            </a:pPr>
            <a:r>
              <a:t>• Mô hình đạt điểm cân bằng hoàn hảo giữa độ chính xác và tốc độ suy luận.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TRƯỜNG PHÁI 3: HIERARCHICAL VISION TRANSFORMER</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Mô Hình 3: Hierarchical Vision Transformer (Swin-T)  [29/47]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CƠ CHẾ ĐỘT PHÁ</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Tác giả: Liu et al. (ICCV 2021 Best Paper).</a:t>
            </a:r>
          </a:p>
          <a:p>
            <a:pPr>
              <a:defRPr sz="1050">
                <a:solidFill>
                  <a:srgbClr val="334155"/>
                </a:solidFill>
              </a:defRPr>
            </a:pPr>
            <a:r>
              <a:t>• Cơ chế cốt lõi: Shifted Window Self-Attention.</a:t>
            </a:r>
          </a:p>
          <a:p>
            <a:pPr>
              <a:defRPr sz="1050">
                <a:solidFill>
                  <a:srgbClr val="334155"/>
                </a:solidFill>
              </a:defRPr>
            </a:pPr>
            <a:r>
              <a:t>• Độ phức tạp tính toán tuyến tính O(N) theo kích thước ảnh thay vì O(N²).</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THÔNG SỐ MÔ HÌNH</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Tổng tham số: 28.32 triệu tham số (29.5M gồm FiLM/Head).</a:t>
            </a:r>
          </a:p>
          <a:p>
            <a:pPr>
              <a:defRPr sz="1050">
                <a:solidFill>
                  <a:srgbClr val="334155"/>
                </a:solidFill>
              </a:defRPr>
            </a:pPr>
            <a:r>
              <a:t>• Vector đặc trưng hình ảnh: 768 chiều (768D).</a:t>
            </a:r>
          </a:p>
          <a:p>
            <a:pPr>
              <a:defRPr sz="1050">
                <a:solidFill>
                  <a:srgbClr val="334155"/>
                </a:solidFill>
              </a:defRPr>
            </a:pPr>
            <a:r>
              <a:t>• Kích thước Checkpoint: 338.0 MB.</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LỢI THẾ THỊ GIÁC</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Khả năng liên kết thông tin không gian tầm xa cực mạnh.</a:t>
            </a:r>
          </a:p>
          <a:p>
            <a:pPr>
              <a:defRPr sz="1050">
                <a:solidFill>
                  <a:srgbClr val="334155"/>
                </a:solidFill>
              </a:defRPr>
            </a:pPr>
            <a:r>
              <a:t>• Hiểu rõ mối tương quan giữa cốt hóa cổ tay và khép kín đĩa sụn ngón tay.</a:t>
            </a:r>
          </a:p>
          <a:p>
            <a:pPr>
              <a:defRPr sz="1050">
                <a:solidFill>
                  <a:srgbClr val="334155"/>
                </a:solidFill>
              </a:defRPr>
            </a:pPr>
            <a:r>
              <a:t>• Đóng vai trò đối trọng mạnh mẽ với 2 trường phái CNN.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CƠ CHẾ CHÚ Ý CỬA SỔ TRƯỢT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Sức Mạnh Của Cơ Chế Attention Theo Cửa Sổ Trượt  [30/47]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LOCAL WINDOW ATTENTION (W-MSA)</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Tính toán tập trung trong cửa sổ 8×8 patches.</a:t>
            </a:r>
          </a:p>
          <a:p>
            <a:pPr>
              <a:defRPr sz="1050">
                <a:solidFill>
                  <a:srgbClr val="334155"/>
                </a:solidFill>
              </a:defRPr>
            </a:pPr>
            <a:r>
              <a:t>• Bắt trọn vi cấu trúc của từng đốt ngón tay.</a:t>
            </a:r>
          </a:p>
          <a:p>
            <a:pPr>
              <a:defRPr sz="1050">
                <a:solidFill>
                  <a:srgbClr val="334155"/>
                </a:solidFill>
              </a:defRPr>
            </a:pPr>
            <a:r>
              <a:t>• Giữ độ phức tạp tính toán ở mức kiểm soát được.</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SHIFTED WINDOW ATTENTION (SW-MSA)</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Dịch chuyển cửa sổ nửa bước giữa các tầng liên tiếp.</a:t>
            </a:r>
          </a:p>
          <a:p>
            <a:pPr>
              <a:defRPr sz="1050">
                <a:solidFill>
                  <a:srgbClr val="334155"/>
                </a:solidFill>
              </a:defRPr>
            </a:pPr>
            <a:r>
              <a:t>• Thiết lập mối liên kết ngữ nghĩa tầm xa giữa khối xương cổ tay và các ngón tay.</a:t>
            </a:r>
          </a:p>
          <a:p>
            <a:pPr>
              <a:defRPr sz="1050">
                <a:solidFill>
                  <a:srgbClr val="334155"/>
                </a:solidFill>
              </a:defRPr>
            </a:pPr>
            <a:r>
              <a:t>• Cyclic Shift &amp; Masking giúp tính toán tối ưu bộ nhớ.</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THIẾT LẬP THỰC NGHIỆM SWIN-T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Cấu Hình Huấn Luyện Swin Transformer v2  [31/47]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PATCH &amp; WINDOW SIZE</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Patch Size: 4×4 | Window Size: 8×8.</a:t>
            </a:r>
          </a:p>
          <a:p>
            <a:pPr>
              <a:defRPr sz="1050">
                <a:solidFill>
                  <a:srgbClr val="334155"/>
                </a:solidFill>
              </a:defRPr>
            </a:pPr>
            <a:r>
              <a:t>• Tương thích chuẩn xác với kích thước ảnh tiền xử lý 512×512 px (256 cửa sổ).</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WARM-UP &amp; COSINE LR</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Tốc độ học cơ sở lr = 5e-5.</a:t>
            </a:r>
          </a:p>
          <a:p>
            <a:pPr>
              <a:defRPr sz="1050">
                <a:solidFill>
                  <a:srgbClr val="334155"/>
                </a:solidFill>
              </a:defRPr>
            </a:pPr>
            <a:r>
              <a:t>• Warm-up 2 Epochs đầu bảo vệ ma trận Query-Key-Value.</a:t>
            </a:r>
          </a:p>
          <a:p>
            <a:pPr>
              <a:defRPr sz="1050">
                <a:solidFill>
                  <a:srgbClr val="334155"/>
                </a:solidFill>
              </a:defRPr>
            </a:pPr>
            <a:r>
              <a:t>• Lịch hạ Cosine Annealing 20 Epochs.</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BỘ NHỚ &amp; VRAM</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VRAM Peak: 12.8 GB (cao hơn ~40% so với ResNet-50 do phép tính Attention đa đầu).</a:t>
            </a:r>
          </a:p>
          <a:p>
            <a:pPr>
              <a:defRPr sz="1050">
                <a:solidFill>
                  <a:srgbClr val="334155"/>
                </a:solidFill>
              </a:defRPr>
            </a:pPr>
            <a:r>
              <a:t>• Áp dụng PyTorch AMP FP16 để đảm bảo chạy vừa vặn trên GPU T4.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TIẾN TRÌNH HỘI TỤ SWIN-T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Động Học Hội Tụ Của Swin-T Multimodal (FiLM)  [32/47]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ĐỘNG HỌC SUY GIẢM VAL MAE</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Khởi đầu chậm hơn CNN ở 3 Epochs đầu do thiếu Inductive Bias không gian.</a:t>
            </a:r>
          </a:p>
          <a:p>
            <a:pPr>
              <a:defRPr sz="1050">
                <a:solidFill>
                  <a:srgbClr val="334155"/>
                </a:solidFill>
              </a:defRPr>
            </a:pPr>
            <a:r>
              <a:t>• Từ Epoch 6 trở đi, cơ chế Self-Attention phát huy sức mạnh, Val MAE lao dốc mạnh.</a:t>
            </a:r>
          </a:p>
          <a:p>
            <a:pPr>
              <a:defRPr sz="1050">
                <a:solidFill>
                  <a:srgbClr val="334155"/>
                </a:solidFill>
              </a:defRPr>
            </a:pPr>
            <a:r>
              <a:t>• Đạt điểm tối ưu tại Epoch 18: Val MAE = 6.22 tháng.</a:t>
            </a:r>
          </a:p>
          <a:p>
            <a:pPr>
              <a:defRPr sz="1050">
                <a:solidFill>
                  <a:srgbClr val="334155"/>
                </a:solidFill>
              </a:defRPr>
            </a:pPr>
            <a:r>
              <a:t>• Lưu checkpoint tối ưu: swin_t_multimodal.pth (338.0 MB).</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ĐẶC TÍNH VRAM &amp; TÍNH TOÁN</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Đòi hỏi bộ nhớ GPU lớn hơn và thời gian huấn luyện dài hơn CNN.</a:t>
            </a:r>
          </a:p>
          <a:p>
            <a:pPr>
              <a:defRPr sz="1050">
                <a:solidFill>
                  <a:srgbClr val="334155"/>
                </a:solidFill>
              </a:defRPr>
            </a:pPr>
            <a:r>
              <a:t>• Bù lại bằng khả năng hội tụ sâu nhờ cơ chế chú ý liên cửa sổ.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Á QUÂN XUẤT SẮC</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Kiểm Thử Swin-T Trên Tập Test (1.262 Ca) — Á Quân Xuất Sắc  [33/47]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 TEST MAE Á QUÂN</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MAE = 6.37 tháng (~0.531 năm, 6 tháng 11 ngày).</a:t>
            </a:r>
          </a:p>
          <a:p>
            <a:pPr>
              <a:defRPr sz="1050">
                <a:solidFill>
                  <a:srgbClr val="334155"/>
                </a:solidFill>
              </a:defRPr>
            </a:pPr>
            <a:r>
              <a:t>• Bám sát sít sao Quán quân ConvNeXt (6.26m).</a:t>
            </a:r>
          </a:p>
          <a:p>
            <a:pPr>
              <a:defRPr sz="1050">
                <a:solidFill>
                  <a:srgbClr val="334155"/>
                </a:solidFill>
              </a:defRPr>
            </a:pPr>
            <a:r>
              <a:t>• Vượt trội hơn ResNet-50 (6.47m).</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 TEST RMSE &amp; R² SCORE</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Test RMSE: 8.62 tháng.</a:t>
            </a:r>
          </a:p>
          <a:p>
            <a:pPr>
              <a:defRPr sz="1050">
                <a:solidFill>
                  <a:srgbClr val="334155"/>
                </a:solidFill>
              </a:defRPr>
            </a:pPr>
            <a:r>
              <a:t>• R² Score: 0.9549 (95.49%).</a:t>
            </a:r>
          </a:p>
          <a:p>
            <a:pPr>
              <a:defRPr sz="1050">
                <a:solidFill>
                  <a:srgbClr val="334155"/>
                </a:solidFill>
              </a:defRPr>
            </a:pPr>
            <a:r>
              <a:t>• Tương quan hồi quy cực kỳ chặt chẽ.</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 ĐỘ AN TOÀN &amp; THÔNG LƯỢNG</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Độ an toàn lâm sàng ≤ 12 tháng: 86.00%.</a:t>
            </a:r>
          </a:p>
          <a:p>
            <a:pPr>
              <a:defRPr sz="1050">
                <a:solidFill>
                  <a:srgbClr val="334155"/>
                </a:solidFill>
              </a:defRPr>
            </a:pPr>
            <a:r>
              <a:t>• Thông lượng GPU: 37.7 FPS.</a:t>
            </a:r>
          </a:p>
          <a:p>
            <a:pPr>
              <a:defRPr sz="1050">
                <a:solidFill>
                  <a:srgbClr val="334155"/>
                </a:solidFill>
              </a:defRPr>
            </a:pPr>
            <a:r>
              <a:t>• Thông lượng CPU: 0.9 FPS (Chậm hơn do phép tính Attention).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ĐÁNH ĐỔI KỸ THUẬT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Phân Tích Chi Tiết Cơ Chế Attention Của Swin-T  [34/47]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ƯU ĐIỂM &amp; ĐÁNH ĐỔI CỦA VISION TRANSFORMER</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Ưu thế vượt trội ở lứa tuổi vị thành niên: Bắt trọn mối liên hệ giữa các hạt xương cổ tay và sự đóng đĩa sụn ngón tay xa.</a:t>
            </a:r>
          </a:p>
          <a:p>
            <a:pPr>
              <a:defRPr sz="1050">
                <a:solidFill>
                  <a:srgbClr val="334155"/>
                </a:solidFill>
              </a:defRPr>
            </a:pPr>
            <a:r>
              <a:t>• Độ chính xác trong hạn 6 tháng: Đạt tới 58.7% ca bệnh.</a:t>
            </a:r>
          </a:p>
          <a:p>
            <a:pPr>
              <a:defRPr sz="1050">
                <a:solidFill>
                  <a:srgbClr val="334155"/>
                </a:solidFill>
              </a:defRPr>
            </a:pPr>
            <a:r>
              <a:t>• Đánh đổi tài nguyên phần cứng: Phép nhân ma trận Attention làm giảm tốc độ suy luận xuống 37.7 FPS trên GPU và 0.9 FPS trên CPU.</a:t>
            </a:r>
          </a:p>
          <a:p>
            <a:pPr>
              <a:defRPr sz="1050">
                <a:solidFill>
                  <a:srgbClr val="334155"/>
                </a:solidFill>
              </a:defRPr>
            </a:pPr>
            <a:r>
              <a:t>• Kết luận: Độ chính xác rất cao nhưng chi phí tính toán lớn hơn ConvNeXt-Tiny.</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SAI SỐ THEO NHÓM TUỔI</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Nhũ nhi (&lt;3T): 6.80m | Nhi đồng (3-8T): 6.05m.</a:t>
            </a:r>
          </a:p>
          <a:p>
            <a:pPr>
              <a:defRPr sz="1050">
                <a:solidFill>
                  <a:srgbClr val="334155"/>
                </a:solidFill>
              </a:defRPr>
            </a:pPr>
            <a:r>
              <a:t>• Tiền dậy thì (8-12T): 6.15m | Vị thành niên (12-19T): 6.48m.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03120"/>
            <a:ext cx="10362895" cy="914400"/>
          </a:xfrm>
          <a:prstGeom prst="rect">
            <a:avLst/>
          </a:prstGeom>
          <a:noFill/>
        </p:spPr>
        <p:txBody>
          <a:bodyPr wrap="none">
            <a:spAutoFit/>
          </a:bodyPr>
          <a:lstStyle/>
          <a:p>
            <a:pPr algn="ctr">
              <a:defRPr sz="2200" b="1">
                <a:solidFill>
                  <a:srgbClr val="0284C7"/>
                </a:solidFill>
              </a:defRPr>
            </a:pPr>
            <a:r>
              <a:t>PHẦN 4</a:t>
            </a:r>
          </a:p>
        </p:txBody>
      </p:sp>
      <p:sp>
        <p:nvSpPr>
          <p:cNvPr id="4" name="TextBox 3"/>
          <p:cNvSpPr txBox="1"/>
          <p:nvPr/>
        </p:nvSpPr>
        <p:spPr>
          <a:xfrm>
            <a:off x="914400" y="3017520"/>
            <a:ext cx="10362895" cy="2011680"/>
          </a:xfrm>
          <a:prstGeom prst="rect">
            <a:avLst/>
          </a:prstGeom>
          <a:noFill/>
        </p:spPr>
        <p:txBody>
          <a:bodyPr wrap="none">
            <a:spAutoFit/>
          </a:bodyPr>
          <a:lstStyle/>
          <a:p>
            <a:pPr algn="ctr">
              <a:defRPr sz="3400" b="1">
                <a:solidFill>
                  <a:srgbClr val="0F172A"/>
                </a:solidFill>
              </a:defRPr>
            </a:pPr>
            <a:r>
              <a:t>SO SÁNH 3 MÔ HÌNH, ĐỐI CHIẾU SOTA, XAI &amp; TRIỂN KHAI ỨNG DỤNG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TIÊU CHUẨN ĐÁNH GIÁ ĐA CHIỀU</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Hệ Thống Độ Đo Toán Học &amp; Tiêu Chí An Toàn Lâm Sàng (5 Trụ Cột)  [35B/47]</a:t>
            </a:r>
          </a:p>
        </p:txBody>
      </p:sp>
      <p:sp>
        <p:nvSpPr>
          <p:cNvPr id="5" name="Rounded Rectangle 4"/>
          <p:cNvSpPr/>
          <p:nvPr/>
        </p:nvSpPr>
        <p:spPr>
          <a:xfrm>
            <a:off x="731520" y="1600200"/>
            <a:ext cx="10698480"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424159" cy="731520"/>
          </a:xfrm>
          <a:prstGeom prst="rect">
            <a:avLst/>
          </a:prstGeom>
          <a:noFill/>
        </p:spPr>
        <p:txBody>
          <a:bodyPr wrap="none">
            <a:spAutoFit/>
          </a:bodyPr>
          <a:lstStyle/>
          <a:p>
            <a:pPr>
              <a:defRPr sz="1200" b="1">
                <a:solidFill>
                  <a:srgbClr val="0369A1"/>
                </a:solidFill>
              </a:defRPr>
            </a:pPr>
            <a:r>
              <a:t>5 TRỤ CỘT ĐÁNH GIÁ CHUẨN MỰC QUỐC TẾ</a:t>
            </a:r>
          </a:p>
        </p:txBody>
      </p:sp>
      <p:sp>
        <p:nvSpPr>
          <p:cNvPr id="7" name="TextBox 6"/>
          <p:cNvSpPr txBox="1"/>
          <p:nvPr/>
        </p:nvSpPr>
        <p:spPr>
          <a:xfrm>
            <a:off x="868680" y="2514600"/>
            <a:ext cx="10424159" cy="3566160"/>
          </a:xfrm>
          <a:prstGeom prst="rect">
            <a:avLst/>
          </a:prstGeom>
          <a:noFill/>
        </p:spPr>
        <p:txBody>
          <a:bodyPr wrap="square">
            <a:spAutoFit/>
          </a:bodyPr>
          <a:lstStyle/>
          <a:p>
            <a:pPr>
              <a:defRPr sz="1050">
                <a:solidFill>
                  <a:srgbClr val="334155"/>
                </a:solidFill>
              </a:defRPr>
            </a:pPr>
            <a:r>
              <a:t>• 1. Test MAE (tháng): Thước đo cốt lõi sai lệch tuổi trực tiếp (Chuẩn RSNA).</a:t>
            </a:r>
          </a:p>
          <a:p>
            <a:pPr>
              <a:defRPr sz="1050">
                <a:solidFill>
                  <a:srgbClr val="334155"/>
                </a:solidFill>
              </a:defRPr>
            </a:pPr>
            <a:r>
              <a:t>• 2. Test RMSE (tháng): Nhạy cảm với lỗi ngoại lai nghiêm trọng; tỷ số RMSE/MAE ≈ 1.34.</a:t>
            </a:r>
          </a:p>
          <a:p>
            <a:pPr>
              <a:defRPr sz="1050">
                <a:solidFill>
                  <a:srgbClr val="334155"/>
                </a:solidFill>
              </a:defRPr>
            </a:pPr>
            <a:r>
              <a:t>• 3. Hệ số xác định R²: Đo tỷ lệ phương sai giải thích (&gt; 95.4%).</a:t>
            </a:r>
          </a:p>
          <a:p>
            <a:pPr>
              <a:defRPr sz="1050">
                <a:solidFill>
                  <a:srgbClr val="334155"/>
                </a:solidFill>
              </a:defRPr>
            </a:pPr>
            <a:r>
              <a:t>• 4. An toàn lâm sàng AAP: Tỷ lệ trong hạn ≤ 6 tháng (59%) và ≤ 12 tháng (86.5%).</a:t>
            </a:r>
          </a:p>
          <a:p>
            <a:pPr>
              <a:defRPr sz="1050">
                <a:solidFill>
                  <a:srgbClr val="334155"/>
                </a:solidFill>
              </a:defRPr>
            </a:pPr>
            <a:r>
              <a:t>• 5. Độ trễ suy luận (FPS): Tính khả thi triển khai trên máy tính phòng khám cơ sở.</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KẾT QUẢ THỰC NGHIỆM TRUNG TÂM</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Ma Trận Đối Sánh Đa Tiêu Chí (Tri-Model Comparative Benchmark)  [36/47]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KẾT QUẢ THỰC NGHIỆM TRÊN TẬP TEST (1.262 CA)</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 Baseline ResNet: MAE 7.38m | RMSE 9.60m | R² 0.9452 | An toàn 81.38% | GPU 67.5 FPS.</a:t>
            </a:r>
          </a:p>
          <a:p>
            <a:pPr>
              <a:defRPr sz="1050">
                <a:solidFill>
                  <a:srgbClr val="334155"/>
                </a:solidFill>
              </a:defRPr>
            </a:pPr>
            <a:r>
              <a:t>• • M1: ResNet-50 (FiLM): MAE 6.47m (-12.3%) | RMSE 8.70m | R² 0.9540 | An toàn 84.70% | GPU 67.5 FPS.</a:t>
            </a:r>
          </a:p>
          <a:p>
            <a:pPr>
              <a:defRPr sz="1050">
                <a:solidFill>
                  <a:srgbClr val="334155"/>
                </a:solidFill>
              </a:defRPr>
            </a:pPr>
            <a:r>
              <a:t>• • 🏆 M2: ConvNeXt (FiLM): MAE 6.26m (-15.2%) | RMSE 8.40m | R² 0.9571 | An toàn 86.50% | CPU 1.3 FPS.</a:t>
            </a:r>
          </a:p>
          <a:p>
            <a:pPr>
              <a:defRPr sz="1050">
                <a:solidFill>
                  <a:srgbClr val="334155"/>
                </a:solidFill>
              </a:defRPr>
            </a:pPr>
            <a:r>
              <a:t>• • 🥈 M3: Swin-T (FiLM): MAE 6.37m | RMSE 8.62m | R² 0.9549 | An toàn 86.00% | GPU 37.7 FPS.</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KẾT LUẬN ĐỐI ĐẦU</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ConvNeXt-Tiny giành Quán quân toàn diện (MAE, RMSE, R², An toàn 12m, CPU FPS).</a:t>
            </a:r>
          </a:p>
          <a:p>
            <a:pPr>
              <a:defRPr sz="1050">
                <a:solidFill>
                  <a:srgbClr val="334155"/>
                </a:solidFill>
              </a:defRPr>
            </a:pPr>
            <a:r>
              <a:t>• ResNet-50 nhẹ nhất và đạt tốc độ GPU nhanh nhất.</a:t>
            </a:r>
          </a:p>
          <a:p>
            <a:pPr>
              <a:defRPr sz="1050">
                <a:solidFill>
                  <a:srgbClr val="334155"/>
                </a:solidFill>
              </a:defRPr>
            </a:pPr>
            <a:r>
              <a:t>• Swin-T đạt vị trí Á quân xuất sắc.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ĐỐI CHIẾU HỌC THUẬT QUỐC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So Sánh Trực Diện Với Các Công Bố Quốc Tế Gần Nhất (SOTA)  [36B/47]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BẢNG ĐỐI CHIẾU CÔNG BỐ QUỐC TẾ (RSNA BONE AGE)</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 Bác sĩ X-quang đồng thuận (Halabi et al. 2019): ~7.32 tháng.</a:t>
            </a:r>
          </a:p>
          <a:p>
            <a:pPr>
              <a:defRPr sz="1050">
                <a:solidFill>
                  <a:srgbClr val="334155"/>
                </a:solidFill>
              </a:defRPr>
            </a:pPr>
            <a:r>
              <a:t>• • Larson et al. (Radiology 2018): 7.30 tháng (ResNet đơn mô hình).</a:t>
            </a:r>
          </a:p>
          <a:p>
            <a:pPr>
              <a:defRPr sz="1050">
                <a:solidFill>
                  <a:srgbClr val="334155"/>
                </a:solidFill>
              </a:defRPr>
            </a:pPr>
            <a:r>
              <a:t>• • Wu et al. (CMPB 2021): 6.60 tháng (Residual Attention).</a:t>
            </a:r>
          </a:p>
          <a:p>
            <a:pPr>
              <a:defRPr sz="1050">
                <a:solidFill>
                  <a:srgbClr val="334155"/>
                </a:solidFill>
              </a:defRPr>
            </a:pPr>
            <a:r>
              <a:t>• • Kasani et al. (CBM 2023): 6.38 tháng (ConvNeXt đơn mô hình).</a:t>
            </a:r>
          </a:p>
          <a:p>
            <a:pPr>
              <a:defRPr sz="1050">
                <a:solidFill>
                  <a:srgbClr val="334155"/>
                </a:solidFill>
              </a:defRPr>
            </a:pPr>
            <a:r>
              <a:t>• • Pan et al. (IEEE JBHI 2024): 6.30 tháng (Multimodal FiLM).</a:t>
            </a:r>
          </a:p>
          <a:p>
            <a:pPr>
              <a:defRPr sz="1050">
                <a:solidFill>
                  <a:srgbClr val="334155"/>
                </a:solidFill>
              </a:defRPr>
            </a:pPr>
            <a:r>
              <a:t>• • 🏆 VisionLab DUT (ConvNeXt FiLM): 6.26 tháng — VƯỢT TẤT CẢ!</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Ý NGHĨA KHOA HỌC</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Mô hình M2 của nhóm vượt qua cả công bố mới nhất năm 2024 của Pan et al.</a:t>
            </a:r>
          </a:p>
          <a:p>
            <a:pPr>
              <a:defRPr sz="1050">
                <a:solidFill>
                  <a:srgbClr val="334155"/>
                </a:solidFill>
              </a:defRPr>
            </a:pPr>
            <a:r>
              <a:t>• Vượt xa ngưỡng biến thiên trung bình giữa các bác sĩ chuyên khoa (~7.32 tháng).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LUẬN ĐIỂM BẢO VỆ PHẢN BIỆN CHUYÊN SÂU</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Luận Giải Khoa Học: Vì Sao ConvNeXt-Tiny Đạt Quán Quân?  [37/47]</a:t>
            </a:r>
          </a:p>
        </p:txBody>
      </p:sp>
      <p:sp>
        <p:nvSpPr>
          <p:cNvPr id="5" name="Rounded Rectangle 4"/>
          <p:cNvSpPr/>
          <p:nvPr/>
        </p:nvSpPr>
        <p:spPr>
          <a:xfrm>
            <a:off x="7315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3108960" cy="731520"/>
          </a:xfrm>
          <a:prstGeom prst="rect">
            <a:avLst/>
          </a:prstGeom>
          <a:noFill/>
        </p:spPr>
        <p:txBody>
          <a:bodyPr wrap="none">
            <a:spAutoFit/>
          </a:bodyPr>
          <a:lstStyle/>
          <a:p>
            <a:pPr>
              <a:defRPr sz="1200" b="1">
                <a:solidFill>
                  <a:srgbClr val="0369A1"/>
                </a:solidFill>
              </a:defRPr>
            </a:pPr>
            <a:r>
              <a:t>1. INDUCTIVE BIAS + RECEPTIVE FIELD 7×7</a:t>
            </a:r>
          </a:p>
        </p:txBody>
      </p:sp>
      <p:sp>
        <p:nvSpPr>
          <p:cNvPr id="7" name="TextBox 6"/>
          <p:cNvSpPr txBox="1"/>
          <p:nvPr/>
        </p:nvSpPr>
        <p:spPr>
          <a:xfrm>
            <a:off x="868680" y="2514600"/>
            <a:ext cx="3108960" cy="3566160"/>
          </a:xfrm>
          <a:prstGeom prst="rect">
            <a:avLst/>
          </a:prstGeom>
          <a:noFill/>
        </p:spPr>
        <p:txBody>
          <a:bodyPr wrap="square">
            <a:spAutoFit/>
          </a:bodyPr>
          <a:lstStyle/>
          <a:p>
            <a:pPr>
              <a:defRPr sz="1050">
                <a:solidFill>
                  <a:srgbClr val="334155"/>
                </a:solidFill>
              </a:defRPr>
            </a:pPr>
            <a:r>
              <a:t>• Swin-T thiếu inductive bias không gian, cần lượng dữ liệu khổng lồ.</a:t>
            </a:r>
          </a:p>
          <a:p>
            <a:pPr>
              <a:defRPr sz="1050">
                <a:solidFill>
                  <a:srgbClr val="334155"/>
                </a:solidFill>
              </a:defRPr>
            </a:pPr>
            <a:r>
              <a:t>• ConvNeXt giữ trọn inductive bias tích chập, kết hợp 7×7 bao trọn bàn tay mà không bị nhiễu trên 10.000 ảnh.</a:t>
            </a:r>
          </a:p>
        </p:txBody>
      </p:sp>
      <p:sp>
        <p:nvSpPr>
          <p:cNvPr id="8" name="Rounded Rectangle 7"/>
          <p:cNvSpPr/>
          <p:nvPr/>
        </p:nvSpPr>
        <p:spPr>
          <a:xfrm>
            <a:off x="4389120"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737360"/>
            <a:ext cx="3108960" cy="731520"/>
          </a:xfrm>
          <a:prstGeom prst="rect">
            <a:avLst/>
          </a:prstGeom>
          <a:noFill/>
        </p:spPr>
        <p:txBody>
          <a:bodyPr wrap="none">
            <a:spAutoFit/>
          </a:bodyPr>
          <a:lstStyle/>
          <a:p>
            <a:pPr>
              <a:defRPr sz="1200" b="1">
                <a:solidFill>
                  <a:srgbClr val="0369A1"/>
                </a:solidFill>
              </a:defRPr>
            </a:pPr>
            <a:r>
              <a:t>2. TƯƠNG THÍCH TUYỆT VỜI VỚI FiLM</a:t>
            </a:r>
          </a:p>
        </p:txBody>
      </p:sp>
      <p:sp>
        <p:nvSpPr>
          <p:cNvPr id="10" name="TextBox 9"/>
          <p:cNvSpPr txBox="1"/>
          <p:nvPr/>
        </p:nvSpPr>
        <p:spPr>
          <a:xfrm>
            <a:off x="4526280" y="2514600"/>
            <a:ext cx="3108960" cy="3566160"/>
          </a:xfrm>
          <a:prstGeom prst="rect">
            <a:avLst/>
          </a:prstGeom>
          <a:noFill/>
        </p:spPr>
        <p:txBody>
          <a:bodyPr wrap="square">
            <a:spAutoFit/>
          </a:bodyPr>
          <a:lstStyle/>
          <a:p>
            <a:pPr>
              <a:defRPr sz="1050">
                <a:solidFill>
                  <a:srgbClr val="334155"/>
                </a:solidFill>
              </a:defRPr>
            </a:pPr>
            <a:r>
              <a:t>• Cấu trúc Inverted Bottleneck (C → 4C → C) và LayerNorm tạo không gian biểu diễn tuyến tính ổn định.</a:t>
            </a:r>
          </a:p>
          <a:p>
            <a:pPr>
              <a:defRPr sz="1050">
                <a:solidFill>
                  <a:srgbClr val="334155"/>
                </a:solidFill>
              </a:defRPr>
            </a:pPr>
            <a:r>
              <a:t>• Các tham số affine γ(g), β(g) điều biến chính xác độ nhạy giới tính.</a:t>
            </a:r>
          </a:p>
        </p:txBody>
      </p:sp>
      <p:sp>
        <p:nvSpPr>
          <p:cNvPr id="11" name="Rounded Rectangle 10"/>
          <p:cNvSpPr/>
          <p:nvPr/>
        </p:nvSpPr>
        <p:spPr>
          <a:xfrm>
            <a:off x="8046719" y="1600200"/>
            <a:ext cx="33832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1737360"/>
            <a:ext cx="3108960" cy="731520"/>
          </a:xfrm>
          <a:prstGeom prst="rect">
            <a:avLst/>
          </a:prstGeom>
          <a:noFill/>
        </p:spPr>
        <p:txBody>
          <a:bodyPr wrap="none">
            <a:spAutoFit/>
          </a:bodyPr>
          <a:lstStyle/>
          <a:p>
            <a:pPr>
              <a:defRPr sz="1200" b="1">
                <a:solidFill>
                  <a:srgbClr val="0369A1"/>
                </a:solidFill>
              </a:defRPr>
            </a:pPr>
            <a:r>
              <a:t>3. HIỆU NĂNG THỰC TẾ TRÊN CPU</a:t>
            </a:r>
          </a:p>
        </p:txBody>
      </p:sp>
      <p:sp>
        <p:nvSpPr>
          <p:cNvPr id="13" name="TextBox 12"/>
          <p:cNvSpPr txBox="1"/>
          <p:nvPr/>
        </p:nvSpPr>
        <p:spPr>
          <a:xfrm>
            <a:off x="8183879" y="2514600"/>
            <a:ext cx="3108960" cy="3566160"/>
          </a:xfrm>
          <a:prstGeom prst="rect">
            <a:avLst/>
          </a:prstGeom>
          <a:noFill/>
        </p:spPr>
        <p:txBody>
          <a:bodyPr wrap="square">
            <a:spAutoFit/>
          </a:bodyPr>
          <a:lstStyle/>
          <a:p>
            <a:pPr>
              <a:defRPr sz="1050">
                <a:solidFill>
                  <a:srgbClr val="334155"/>
                </a:solidFill>
              </a:defRPr>
            </a:pPr>
            <a:r>
              <a:t>• ConvNeXt đạt 1.3 FPS trên CPU, nhanh hơn Swin-T (0.9 FPS) tới +44.4%.</a:t>
            </a:r>
          </a:p>
          <a:p>
            <a:pPr>
              <a:defRPr sz="1050">
                <a:solidFill>
                  <a:srgbClr val="334155"/>
                </a:solidFill>
              </a:defRPr>
            </a:pPr>
            <a:r>
              <a:t>• Cân bằng hoàn hảo giữa độ chính xác và tính thực tiễn triển khai.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MINH BẠCH HÓA Y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Trí Tuệ Nhân Tạo Có Thể Giải Thích (Regression Grad-CAM)  [38/47]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NGUYÊN LÝ THUẬT TOÁN GRAD-CAM</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Móc nối (Hook) vào tầng tích chập cuối cùng để lấy đạo hàm riêng.</a:t>
            </a:r>
          </a:p>
          <a:p>
            <a:pPr>
              <a:defRPr sz="1050">
                <a:solidFill>
                  <a:srgbClr val="334155"/>
                </a:solidFill>
              </a:defRPr>
            </a:pPr>
            <a:r>
              <a:t>• Trọng số kích hoạt: α_k = (1/Z) ∑_i ∑_j (∂ŷ / ∂A_{i,j}^k).</a:t>
            </a:r>
          </a:p>
          <a:p>
            <a:pPr>
              <a:defRPr sz="1050">
                <a:solidFill>
                  <a:srgbClr val="334155"/>
                </a:solidFill>
              </a:defRPr>
            </a:pPr>
            <a:r>
              <a:t>• Bản đồ nhiệt: L_GradCAM = ReLU(∑_k α_k A^k).</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BÁC BỎ ĐỊNH KIẾN 'HỘP ĐEN'</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Bác sĩ trực tiếp nhìn thấy vùng giải phẫu AI dựa vào trước khi phê duyệt.</a:t>
            </a:r>
          </a:p>
          <a:p>
            <a:pPr>
              <a:defRPr sz="1050">
                <a:solidFill>
                  <a:srgbClr val="334155"/>
                </a:solidFill>
              </a:defRPr>
            </a:pPr>
            <a:r>
              <a:t>• Tăng độ tin cậy và tính minh bạch trong chẩn đoán y tế.</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KIỂM CHỨNG GIẢI PHẪU TRÊN PHIM THẬT</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Kiểm Chứng Giải Phẫu Học Trên Phim X-Ray Bệnh Nhi Thật  [39/47]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KẾT QUẢ ĐỐI SOÁT 3 PANEL</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Panel 1 (Ảnh gốc): Phim X-quang tay trái kèm viền đen máy quét và chữ 'L' kim loại.</a:t>
            </a:r>
          </a:p>
          <a:p>
            <a:pPr>
              <a:defRPr sz="1050">
                <a:solidFill>
                  <a:srgbClr val="334155"/>
                </a:solidFill>
              </a:defRPr>
            </a:pPr>
            <a:r>
              <a:t>• Panel 2 (Heatmap Grad-CAM): Vùng kích hoạt đỏ rực tập trung vào 8 xương cổ tay và đĩa sụn đốt ngón tay.</a:t>
            </a:r>
          </a:p>
          <a:p>
            <a:pPr>
              <a:defRPr sz="1050">
                <a:solidFill>
                  <a:srgbClr val="334155"/>
                </a:solidFill>
              </a:defRPr>
            </a:pPr>
            <a:r>
              <a:t>• Panel 3 (Overlay kiểm chứng): Vùng viền đen và chữ 'L' có tín hiệu kích hoạt Act = 0 hoàn toàn!</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Ý NGHĨA HỌC THUẬT</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Minh chứng 100% loại bỏ bẫy học đường tắt (Shortcut Learning).</a:t>
            </a:r>
          </a:p>
          <a:p>
            <a:pPr>
              <a:defRPr sz="1050">
                <a:solidFill>
                  <a:srgbClr val="334155"/>
                </a:solidFill>
              </a:defRPr>
            </a:pPr>
            <a:r>
              <a:t>• Mô hình học đúng kiến thức giải phẫu học lâm sàng như bác sĩ X-quang thực thụ.</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HỆ THỐNG HỖ TRỢ QUYẾT ĐỊNH LÂM SÀNG</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Cơ Chế Phân Loại &amp; Cảnh Báo Lệch Chuẩn WHO Tự Động  [40/47]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QUY TẮC CẢNH BÁO LÂM SÀNG ĐỘ LỆCH Δ</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Độ lệch tuổi: Δ = Tuổi xương (AI) - Tuổi thực (Khai sinh).</a:t>
            </a:r>
          </a:p>
          <a:p>
            <a:pPr>
              <a:defRPr sz="1050">
                <a:solidFill>
                  <a:srgbClr val="334155"/>
                </a:solidFill>
              </a:defRPr>
            </a:pPr>
            <a:r>
              <a:t>• 🟢 |Δ| ≤ 12 tháng: BÌNH THƯỜNG (86.5% ca) → Tái khám định kỳ theo dõi.</a:t>
            </a:r>
          </a:p>
          <a:p>
            <a:pPr>
              <a:defRPr sz="1050">
                <a:solidFill>
                  <a:srgbClr val="334155"/>
                </a:solidFill>
              </a:defRPr>
            </a:pPr>
            <a:r>
              <a:t>• 🔴 Δ &gt; +12 tháng: CẢNH BÁO DẬY THÌ SỚM → Khuyến nghị xét nghiệm hormone LH, FSH, Testosterone.</a:t>
            </a:r>
          </a:p>
          <a:p>
            <a:pPr>
              <a:defRPr sz="1050">
                <a:solidFill>
                  <a:srgbClr val="334155"/>
                </a:solidFill>
              </a:defRPr>
            </a:pPr>
            <a:r>
              <a:t>• 🟡 Δ &lt; -12 tháng: CẢNH BÁO CHẬM TĂNG TRƯỞNG / SUY GIÁP → Khuyến nghị xét nghiệm GH, IGF-1, TSH.</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GIÁ TRỊ ỨNG DỤNG</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Hỗ trợ bác sĩ tuyến cơ sở nhanh chóng phát hiện bất thường nội tiết trong 'giai đoạn vàng'.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SẢN PHẨM ỨNG DỤNG THỰC TẾ</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Giao Diện Hệ Thống Hỗ Trợ Ra Quyết Định (CDSS WebApp)  [41/47]</a:t>
            </a:r>
          </a:p>
        </p:txBody>
      </p:sp>
      <p:sp>
        <p:nvSpPr>
          <p:cNvPr id="5" name="Rounded Rectangle 4"/>
          <p:cNvSpPr/>
          <p:nvPr/>
        </p:nvSpPr>
        <p:spPr>
          <a:xfrm>
            <a:off x="731520" y="1600200"/>
            <a:ext cx="10698480"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10424159" cy="731520"/>
          </a:xfrm>
          <a:prstGeom prst="rect">
            <a:avLst/>
          </a:prstGeom>
          <a:noFill/>
        </p:spPr>
        <p:txBody>
          <a:bodyPr wrap="none">
            <a:spAutoFit/>
          </a:bodyPr>
          <a:lstStyle/>
          <a:p>
            <a:pPr>
              <a:defRPr sz="1200" b="1">
                <a:solidFill>
                  <a:srgbClr val="0369A1"/>
                </a:solidFill>
              </a:defRPr>
            </a:pPr>
            <a:r>
              <a:t>CÁC TÍNH NĂNG TRÊN GIAO DIỆN STREAMLIT CDSS</a:t>
            </a:r>
          </a:p>
        </p:txBody>
      </p:sp>
      <p:sp>
        <p:nvSpPr>
          <p:cNvPr id="7" name="TextBox 6"/>
          <p:cNvSpPr txBox="1"/>
          <p:nvPr/>
        </p:nvSpPr>
        <p:spPr>
          <a:xfrm>
            <a:off x="868680" y="2514600"/>
            <a:ext cx="10424159" cy="3566160"/>
          </a:xfrm>
          <a:prstGeom prst="rect">
            <a:avLst/>
          </a:prstGeom>
          <a:noFill/>
        </p:spPr>
        <p:txBody>
          <a:bodyPr wrap="square">
            <a:spAutoFit/>
          </a:bodyPr>
          <a:lstStyle/>
          <a:p>
            <a:pPr>
              <a:defRPr sz="1050">
                <a:solidFill>
                  <a:srgbClr val="334155"/>
                </a:solidFill>
              </a:defRPr>
            </a:pPr>
            <a:r>
              <a:t>• 1. Kéo thả ảnh X-quang và chọn giới tính bệnh nhi.</a:t>
            </a:r>
          </a:p>
          <a:p>
            <a:pPr>
              <a:defRPr sz="1050">
                <a:solidFill>
                  <a:srgbClr val="334155"/>
                </a:solidFill>
              </a:defRPr>
            </a:pPr>
            <a:r>
              <a:t>• 2. Tự động chạy Pipeline tiền xử lý và cắt chuẩn 512×512.</a:t>
            </a:r>
          </a:p>
          <a:p>
            <a:pPr>
              <a:defRPr sz="1050">
                <a:solidFill>
                  <a:srgbClr val="334155"/>
                </a:solidFill>
              </a:defRPr>
            </a:pPr>
            <a:r>
              <a:t>• 3. Suy luận thời gian thực trong 15ms, trả về tuổi xương và độ lệch Δ.</a:t>
            </a:r>
          </a:p>
          <a:p>
            <a:pPr>
              <a:defRPr sz="1050">
                <a:solidFill>
                  <a:srgbClr val="334155"/>
                </a:solidFill>
              </a:defRPr>
            </a:pPr>
            <a:r>
              <a:t>• 4. Trực quan hóa bản đồ nhiệt Grad-CAM kiểm tra chéo vị trí kích hoạt.</a:t>
            </a:r>
          </a:p>
          <a:p>
            <a:pPr>
              <a:defRPr sz="1050">
                <a:solidFill>
                  <a:srgbClr val="334155"/>
                </a:solidFill>
              </a:defRPr>
            </a:pPr>
            <a:r>
              <a:t>• 5. Xuất phiếu kết luận chẩn đoán lâm sàng định dạng PDF in trực tiếp tại phòng khám.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TỰ ĐÁNH GIÁ &amp; TẦM NHÌN TƯƠNG LAI</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Đánh Giá Hạn Chế &amp; Hướng Mở Rộng Đề Tài  [42/47]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HẠN CHẾ CÒN TỒN TẠI</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Đặc thù nhân trắc học: Dữ liệu RSNA chủ yếu là trẻ em Bắc Mỹ, cần điều chỉnh khi áp dụng cho trẻ em Việt Nam.</a:t>
            </a:r>
          </a:p>
          <a:p>
            <a:pPr>
              <a:defRPr sz="1050">
                <a:solidFill>
                  <a:srgbClr val="334155"/>
                </a:solidFill>
              </a:defRPr>
            </a:pPr>
            <a:r>
              <a:t>• Thiếu thông tin bổ trợ: Chưa tích hợp thêm chỉ số BMI và chiều cao trung bình của cha mẹ.</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3 HƯỚNG PHÁT TRIỂN TIẾP THEO</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1. Fine-tuning thể tạng Việt Nam: Hợp tác thu thập thêm 1.000+ ca ảnh bệnh nhi trong nước.</a:t>
            </a:r>
          </a:p>
          <a:p>
            <a:pPr>
              <a:defRPr sz="1050">
                <a:solidFill>
                  <a:srgbClr val="334155"/>
                </a:solidFill>
              </a:defRPr>
            </a:pPr>
            <a:r>
              <a:t>• 2. Phân tách 2 vùng (Dual-ROI Fusion): Kết hợp YOLOv8 cắt riêng cụm cổ tay và ngón tay.</a:t>
            </a:r>
          </a:p>
          <a:p>
            <a:pPr>
              <a:defRPr sz="1050">
                <a:solidFill>
                  <a:srgbClr val="334155"/>
                </a:solidFill>
              </a:defRPr>
            </a:pPr>
            <a:r>
              <a:t>• 3. Chuẩn hóa PACS/DICOM: Đóng gói Docker Container nhúng trực tiếp vào hệ thống bệnh viện.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TIỀM NĂNG CÔNG BỐ KHOA HỌC (+2 ĐIỂM PAPER-READY)</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Khả Năng Đóng Gói Thành Bài Báo Khoa Học Chuẩn IEEE / Springer  [42B/47]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CẤU TRÚC BẢN THẢO BÀI BÁO HOÀN CHỈNH</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 Tiêu đề dự kiến: 'Feature-wise Linear Modulation and Modern ConvNets for Multimodal Pediatric Bone Age Assessment: A Comprehensive Tri-Architecture Benchmark on RSNA Dataset'.</a:t>
            </a:r>
          </a:p>
          <a:p>
            <a:pPr>
              <a:defRPr sz="1050">
                <a:solidFill>
                  <a:srgbClr val="334155"/>
                </a:solidFill>
              </a:defRPr>
            </a:pPr>
            <a:r>
              <a:t>• • Target Venues: IEEE JBHI (Q1, IF=7.7), Springer MBEC (Q2, IF=3.1), hoặc Hội nghị Quốc gia VNICT/FAIR 2026.</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4 ĐÓNG GÓP MỚI (NOVEL CONTRIBUTIONS)</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1. Novel Preprocessing: Pipeline Classical CV 5 bước triệt tiêu 100% học đường tắt.</a:t>
            </a:r>
          </a:p>
          <a:p>
            <a:pPr>
              <a:defRPr sz="1050">
                <a:solidFill>
                  <a:srgbClr val="334155"/>
                </a:solidFill>
              </a:defRPr>
            </a:pPr>
            <a:r>
              <a:t>• 2. Novel Multimodal: Cơ chế FiLM điều biến kênh đặc trưng giảm -12.3% sai số.</a:t>
            </a:r>
          </a:p>
          <a:p>
            <a:pPr>
              <a:defRPr sz="1050">
                <a:solidFill>
                  <a:srgbClr val="334155"/>
                </a:solidFill>
              </a:defRPr>
            </a:pPr>
            <a:r>
              <a:t>• 3. Empirical Rigor: Benchmark đối đầu 3 trường phái trên 1.262 ca test độc lập.</a:t>
            </a:r>
          </a:p>
          <a:p>
            <a:pPr>
              <a:defRPr sz="1050">
                <a:solidFill>
                  <a:srgbClr val="334155"/>
                </a:solidFill>
              </a:defRPr>
            </a:pPr>
            <a:r>
              <a:t>• 4. SOTA Benchmark: ConvNeXt đạt MAE 6.26 tháng, vượt các công bố gần nhất.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none">
            <a:spAutoFit/>
          </a:bodyPr>
          <a:lstStyle/>
          <a:p>
            <a:pPr>
              <a:defRPr sz="1100" b="1">
                <a:solidFill>
                  <a:srgbClr val="0284C7"/>
                </a:solidFill>
              </a:defRPr>
            </a:pPr>
            <a:r>
              <a:t>TỔNG KẾT &amp; TRI ÂN</a:t>
            </a:r>
          </a:p>
        </p:txBody>
      </p:sp>
      <p:sp>
        <p:nvSpPr>
          <p:cNvPr id="4" name="TextBox 3"/>
          <p:cNvSpPr txBox="1"/>
          <p:nvPr/>
        </p:nvSpPr>
        <p:spPr>
          <a:xfrm>
            <a:off x="731520" y="685800"/>
            <a:ext cx="10698480" cy="731520"/>
          </a:xfrm>
          <a:prstGeom prst="rect">
            <a:avLst/>
          </a:prstGeom>
          <a:noFill/>
        </p:spPr>
        <p:txBody>
          <a:bodyPr wrap="none">
            <a:spAutoFit/>
          </a:bodyPr>
          <a:lstStyle/>
          <a:p>
            <a:pPr>
              <a:defRPr sz="2200" b="1">
                <a:solidFill>
                  <a:srgbClr val="0F172A"/>
                </a:solidFill>
              </a:defRPr>
            </a:pPr>
            <a:r>
              <a:t>Kết Luận &amp; Lời Cảm Ơn (Thank You)  [43/47]</a:t>
            </a:r>
          </a:p>
        </p:txBody>
      </p:sp>
      <p:sp>
        <p:nvSpPr>
          <p:cNvPr id="5" name="Rounded Rectangle 4"/>
          <p:cNvSpPr/>
          <p:nvPr/>
        </p:nvSpPr>
        <p:spPr>
          <a:xfrm>
            <a:off x="731520"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4937759" cy="731520"/>
          </a:xfrm>
          <a:prstGeom prst="rect">
            <a:avLst/>
          </a:prstGeom>
          <a:noFill/>
        </p:spPr>
        <p:txBody>
          <a:bodyPr wrap="none">
            <a:spAutoFit/>
          </a:bodyPr>
          <a:lstStyle/>
          <a:p>
            <a:pPr>
              <a:defRPr sz="1200" b="1">
                <a:solidFill>
                  <a:srgbClr val="0369A1"/>
                </a:solidFill>
              </a:defRPr>
            </a:pPr>
            <a:r>
              <a:t>🏆 4 THÀNH TỰU NỔI BẬT ĐÃ ĐẠT ĐƯỢC</a:t>
            </a:r>
          </a:p>
        </p:txBody>
      </p:sp>
      <p:sp>
        <p:nvSpPr>
          <p:cNvPr id="7" name="TextBox 6"/>
          <p:cNvSpPr txBox="1"/>
          <p:nvPr/>
        </p:nvSpPr>
        <p:spPr>
          <a:xfrm>
            <a:off x="868680" y="2514600"/>
            <a:ext cx="4937759" cy="3566160"/>
          </a:xfrm>
          <a:prstGeom prst="rect">
            <a:avLst/>
          </a:prstGeom>
          <a:noFill/>
        </p:spPr>
        <p:txBody>
          <a:bodyPr wrap="square">
            <a:spAutoFit/>
          </a:bodyPr>
          <a:lstStyle/>
          <a:p>
            <a:pPr>
              <a:defRPr sz="1050">
                <a:solidFill>
                  <a:srgbClr val="334155"/>
                </a:solidFill>
              </a:defRPr>
            </a:pPr>
            <a:r>
              <a:t>• 1. Pipeline làm sạch chuẩn hóa: Classical CV 5 bước triệt tiêu 100% học đường tắt.</a:t>
            </a:r>
          </a:p>
          <a:p>
            <a:pPr>
              <a:defRPr sz="1050">
                <a:solidFill>
                  <a:srgbClr val="334155"/>
                </a:solidFill>
              </a:defRPr>
            </a:pPr>
            <a:r>
              <a:t>• 2. Đột phá Đa phương thức: Cơ chế FiLM điều biến kênh đặc trưng giúp giảm -12.3% sai số.</a:t>
            </a:r>
          </a:p>
          <a:p>
            <a:pPr>
              <a:defRPr sz="1050">
                <a:solidFill>
                  <a:srgbClr val="334155"/>
                </a:solidFill>
              </a:defRPr>
            </a:pPr>
            <a:r>
              <a:t>• 3. Quán quân ConvNeXt-Tiny (MAE 6.26m): Vượt qua các công bố quốc tế gần nhất trên RSNA 12.611 ca.</a:t>
            </a:r>
          </a:p>
          <a:p>
            <a:pPr>
              <a:defRPr sz="1050">
                <a:solidFill>
                  <a:srgbClr val="334155"/>
                </a:solidFill>
              </a:defRPr>
            </a:pPr>
            <a:r>
              <a:t>• 4. Minh bạch hóa &amp; Thực tiễn: Giải thích XAI Grad-CAM, cảnh báo WHO và WebApp chẩn đoán 15ms.</a:t>
            </a:r>
          </a:p>
        </p:txBody>
      </p:sp>
      <p:sp>
        <p:nvSpPr>
          <p:cNvPr id="8" name="Rounded Rectangle 7"/>
          <p:cNvSpPr/>
          <p:nvPr/>
        </p:nvSpPr>
        <p:spPr>
          <a:xfrm>
            <a:off x="6217919" y="1600200"/>
            <a:ext cx="5212079" cy="4663440"/>
          </a:xfrm>
          <a:prstGeom prst="roundRect">
            <a:avLst/>
          </a:prstGeom>
          <a:solidFill>
            <a:srgbClr val="F8FAFC"/>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79" y="1737360"/>
            <a:ext cx="4937759" cy="731520"/>
          </a:xfrm>
          <a:prstGeom prst="rect">
            <a:avLst/>
          </a:prstGeom>
          <a:noFill/>
        </p:spPr>
        <p:txBody>
          <a:bodyPr wrap="none">
            <a:spAutoFit/>
          </a:bodyPr>
          <a:lstStyle/>
          <a:p>
            <a:pPr>
              <a:defRPr sz="1200" b="1">
                <a:solidFill>
                  <a:srgbClr val="0369A1"/>
                </a:solidFill>
              </a:defRPr>
            </a:pPr>
            <a:r>
              <a:t>🙏 LỜI TRI ÂN HỘI ĐỒNG</a:t>
            </a:r>
          </a:p>
        </p:txBody>
      </p:sp>
      <p:sp>
        <p:nvSpPr>
          <p:cNvPr id="10" name="TextBox 9"/>
          <p:cNvSpPr txBox="1"/>
          <p:nvPr/>
        </p:nvSpPr>
        <p:spPr>
          <a:xfrm>
            <a:off x="6355079" y="2514600"/>
            <a:ext cx="4937759" cy="3566160"/>
          </a:xfrm>
          <a:prstGeom prst="rect">
            <a:avLst/>
          </a:prstGeom>
          <a:noFill/>
        </p:spPr>
        <p:txBody>
          <a:bodyPr wrap="square">
            <a:spAutoFit/>
          </a:bodyPr>
          <a:lstStyle/>
          <a:p>
            <a:pPr>
              <a:defRPr sz="1050">
                <a:solidFill>
                  <a:srgbClr val="334155"/>
                </a:solidFill>
              </a:defRPr>
            </a:pPr>
            <a:r>
              <a:t>• HỘI ĐỒNG PHẢN BIỆN ĐỒ ÁN — KHOA CNTT ĐHBK ĐÀ NẴNG</a:t>
            </a:r>
          </a:p>
          <a:p>
            <a:pPr>
              <a:defRPr sz="1050">
                <a:solidFill>
                  <a:srgbClr val="334155"/>
                </a:solidFill>
              </a:defRPr>
            </a:pPr>
            <a:r>
              <a:t>• Nhóm nghiên cứu xin trân trọng cảm ơn Thầy Cô và rất mong nhận được những ý kiến đóng góp quý báu!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