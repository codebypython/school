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Lst>
  <p:sldSz cx="18288000" cy="10287000"/>
  <p:notesSz cx="6858000" cy="9144000"/>
  <p:embeddedFontLst>
    <p:embeddedFont>
      <p:font typeface="Paytone One" charset="1" panose="00000500000000000000"/>
      <p:regular r:id="rId49"/>
    </p:embeddedFont>
    <p:embeddedFont>
      <p:font typeface="Roboto" charset="1" panose="02000000000000000000"/>
      <p:regular r:id="rId50"/>
    </p:embeddedFont>
    <p:embeddedFont>
      <p:font typeface="Noto Serif Display" charset="1" panose="02020502080505020204"/>
      <p:regular r:id="rId51"/>
    </p:embeddedFont>
    <p:embeddedFont>
      <p:font typeface="Canva Sans" charset="1" panose="020B0503030501040103"/>
      <p:regular r:id="rId52"/>
    </p:embeddedFont>
    <p:embeddedFont>
      <p:font typeface="Mokoto" charset="1" panose="00000000000000000000"/>
      <p:regular r:id="rId53"/>
    </p:embeddedFont>
    <p:embeddedFont>
      <p:font typeface="Canva Sans Bold" charset="1" panose="020B0803030501040103"/>
      <p:regular r:id="rId54"/>
    </p:embeddedFont>
    <p:embeddedFont>
      <p:font typeface="Roboto Bold" charset="1" panose="02000000000000000000"/>
      <p:regular r:id="rId55"/>
    </p:embeddedFont>
    <p:embeddedFont>
      <p:font typeface="Noto Sans Bold" charset="1" panose="020B0802040504020204"/>
      <p:regular r:id="rId5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51" Target="fonts/font51.fntdata" Type="http://schemas.openxmlformats.org/officeDocument/2006/relationships/font"/><Relationship Id="rId52" Target="fonts/font52.fntdata" Type="http://schemas.openxmlformats.org/officeDocument/2006/relationships/font"/><Relationship Id="rId53" Target="fonts/font53.fntdata" Type="http://schemas.openxmlformats.org/officeDocument/2006/relationships/font"/><Relationship Id="rId54" Target="fonts/font54.fntdata" Type="http://schemas.openxmlformats.org/officeDocument/2006/relationships/font"/><Relationship Id="rId55" Target="fonts/font55.fntdata" Type="http://schemas.openxmlformats.org/officeDocument/2006/relationships/font"/><Relationship Id="rId56" Target="fonts/font56.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11" Target="../media/image12.png" Type="http://schemas.openxmlformats.org/officeDocument/2006/relationships/image"/><Relationship Id="rId12" Target="../media/image13.svg" Type="http://schemas.openxmlformats.org/officeDocument/2006/relationships/image"/><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3.png" Type="http://schemas.openxmlformats.org/officeDocument/2006/relationships/image"/><Relationship Id="rId8" Target="../media/image4.svg" Type="http://schemas.openxmlformats.org/officeDocument/2006/relationships/image"/><Relationship Id="rId9" Target="../media/image1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14.jpeg" Type="http://schemas.openxmlformats.org/officeDocument/2006/relationships/image"/><Relationship Id="rId6" Target="../media/image15.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16.png" Type="http://schemas.openxmlformats.org/officeDocument/2006/relationships/image"/><Relationship Id="rId6" Target="../media/image1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14.jpeg" Type="http://schemas.openxmlformats.org/officeDocument/2006/relationships/image"/><Relationship Id="rId6" Target="../media/image15.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18.png" Type="http://schemas.openxmlformats.org/officeDocument/2006/relationships/image"/><Relationship Id="rId6" Target="../media/image19.png" Type="http://schemas.openxmlformats.org/officeDocument/2006/relationships/image"/><Relationship Id="rId7" Target="../media/image20.png" Type="http://schemas.openxmlformats.org/officeDocument/2006/relationships/image"/><Relationship Id="rId8" Target="../media/image21.png" Type="http://schemas.openxmlformats.org/officeDocument/2006/relationships/image"/><Relationship Id="rId9"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22.png" Type="http://schemas.openxmlformats.org/officeDocument/2006/relationships/image"/><Relationship Id="rId8" Target="../media/image2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24.png" Type="http://schemas.openxmlformats.org/officeDocument/2006/relationships/image"/><Relationship Id="rId8" Target="../media/image2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26.jpeg" Type="http://schemas.openxmlformats.org/officeDocument/2006/relationships/image"/><Relationship Id="rId6" Target="../media/image2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2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4.svg" Type="http://schemas.openxmlformats.org/officeDocument/2006/relationships/image"/><Relationship Id="rId11" Target="../media/image35.png" Type="http://schemas.openxmlformats.org/officeDocument/2006/relationships/image"/><Relationship Id="rId12" Target="../media/image36.svg" Type="http://schemas.openxmlformats.org/officeDocument/2006/relationships/image"/><Relationship Id="rId13" Target="../media/image37.png" Type="http://schemas.openxmlformats.org/officeDocument/2006/relationships/image"/><Relationship Id="rId14" Target="../media/image38.svg" Type="http://schemas.openxmlformats.org/officeDocument/2006/relationships/image"/><Relationship Id="rId15" Target="../media/image39.jpeg" Type="http://schemas.openxmlformats.org/officeDocument/2006/relationships/image"/><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29.png" Type="http://schemas.openxmlformats.org/officeDocument/2006/relationships/image"/><Relationship Id="rId6" Target="../media/image30.svg" Type="http://schemas.openxmlformats.org/officeDocument/2006/relationships/image"/><Relationship Id="rId7" Target="../media/image31.png" Type="http://schemas.openxmlformats.org/officeDocument/2006/relationships/image"/><Relationship Id="rId8" Target="../media/image32.svg" Type="http://schemas.openxmlformats.org/officeDocument/2006/relationships/image"/><Relationship Id="rId9" Target="../media/image3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40.png" Type="http://schemas.openxmlformats.org/officeDocument/2006/relationships/image"/><Relationship Id="rId8" Target="../media/image41.png" Type="http://schemas.openxmlformats.org/officeDocument/2006/relationships/image"/><Relationship Id="rId9" Target="../media/image42.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14.jpeg" Type="http://schemas.openxmlformats.org/officeDocument/2006/relationships/image"/><Relationship Id="rId6" Target="../media/image15.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43.png" Type="http://schemas.openxmlformats.org/officeDocument/2006/relationships/image"/><Relationship Id="rId6" Target="../media/image44.svg" Type="http://schemas.openxmlformats.org/officeDocument/2006/relationships/image"/><Relationship Id="rId7" Target="../media/image45.png" Type="http://schemas.openxmlformats.org/officeDocument/2006/relationships/image"/><Relationship Id="rId8" Target="../media/image46.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4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8.png" Type="http://schemas.openxmlformats.org/officeDocument/2006/relationships/image"/><Relationship Id="rId4" Target="../media/image49.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0.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1.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2.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3.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4.png" Type="http://schemas.openxmlformats.org/officeDocument/2006/relationships/image"/><Relationship Id="rId4" Target="../media/image55.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6.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7.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8.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9.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0.png" Type="http://schemas.openxmlformats.org/officeDocument/2006/relationships/image"/><Relationship Id="rId4" Target="../media/image61.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2.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3.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4.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5.png" Type="http://schemas.openxmlformats.org/officeDocument/2006/relationships/image"/><Relationship Id="rId4" Target="../embeddings/oleObject1.bin" Type="http://schemas.openxmlformats.org/officeDocument/2006/relationships/oleObject"/></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6.png" Type="http://schemas.openxmlformats.org/officeDocument/2006/relationships/image"/><Relationship Id="rId4" Target="../embeddings/oleObject2.bin" Type="http://schemas.openxmlformats.org/officeDocument/2006/relationships/oleObject"/></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7.png" Type="http://schemas.openxmlformats.org/officeDocument/2006/relationships/image"/><Relationship Id="rId4" Target="../media/image68.svg" Type="http://schemas.openxmlformats.org/officeDocument/2006/relationships/image"/><Relationship Id="rId5" Target="../media/image40.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69.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5.png" Type="http://schemas.openxmlformats.org/officeDocument/2006/relationships/image"/><Relationship Id="rId11" Target="../media/image45.png" Type="http://schemas.openxmlformats.org/officeDocument/2006/relationships/image"/><Relationship Id="rId12" Target="../media/image46.svg" Type="http://schemas.openxmlformats.org/officeDocument/2006/relationships/image"/><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70.png" Type="http://schemas.openxmlformats.org/officeDocument/2006/relationships/image"/><Relationship Id="rId6" Target="../media/image71.jpeg" Type="http://schemas.openxmlformats.org/officeDocument/2006/relationships/image"/><Relationship Id="rId7" Target="../media/image72.jpeg" Type="http://schemas.openxmlformats.org/officeDocument/2006/relationships/image"/><Relationship Id="rId8" Target="../media/image73.jpeg" Type="http://schemas.openxmlformats.org/officeDocument/2006/relationships/image"/><Relationship Id="rId9" Target="../media/image74.jpe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76.png" Type="http://schemas.openxmlformats.org/officeDocument/2006/relationships/image"/><Relationship Id="rId6" Target="../media/image77.svg" Type="http://schemas.openxmlformats.org/officeDocument/2006/relationships/image"/><Relationship Id="rId7" Target="../media/image78.png" Type="http://schemas.openxmlformats.org/officeDocument/2006/relationships/image"/><Relationship Id="rId8" Target="../media/image79.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14.jpeg" Type="http://schemas.openxmlformats.org/officeDocument/2006/relationships/image"/><Relationship Id="rId6" Target="../media/image15.jpe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80.png" Type="http://schemas.openxmlformats.org/officeDocument/2006/relationships/image"/><Relationship Id="rId6" Target="../media/image81.png" Type="http://schemas.openxmlformats.org/officeDocument/2006/relationships/image"/><Relationship Id="rId7" Target="../media/image82.png" Type="http://schemas.openxmlformats.org/officeDocument/2006/relationships/image"/><Relationship Id="rId8" Target="../media/image45.png" Type="http://schemas.openxmlformats.org/officeDocument/2006/relationships/image"/><Relationship Id="rId9" Target="../media/image46.sv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1028700"/>
            <a:ext cx="16230600" cy="8229600"/>
            <a:chOff x="0" y="0"/>
            <a:chExt cx="4274726" cy="2167467"/>
          </a:xfrm>
        </p:grpSpPr>
        <p:sp>
          <p:nvSpPr>
            <p:cNvPr name="Freeform 4" id="4"/>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000000">
                <a:alpha val="69804"/>
              </a:srgbClr>
            </a:solidFill>
            <a:ln w="123825" cap="sq">
              <a:solidFill>
                <a:srgbClr val="000000">
                  <a:alpha val="69804"/>
                </a:srgbClr>
              </a:solidFill>
              <a:prstDash val="solid"/>
              <a:miter/>
            </a:ln>
          </p:spPr>
        </p:sp>
        <p:sp>
          <p:nvSpPr>
            <p:cNvPr name="TextBox 5" id="5"/>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5400000">
            <a:off x="8944306" y="5180427"/>
            <a:ext cx="399388" cy="8135684"/>
          </a:xfrm>
          <a:custGeom>
            <a:avLst/>
            <a:gdLst/>
            <a:ahLst/>
            <a:cxnLst/>
            <a:rect r="r" b="b" t="t" l="l"/>
            <a:pathLst>
              <a:path h="8135684" w="399388">
                <a:moveTo>
                  <a:pt x="0" y="0"/>
                </a:moveTo>
                <a:lnTo>
                  <a:pt x="399388" y="0"/>
                </a:lnTo>
                <a:lnTo>
                  <a:pt x="399388" y="8135683"/>
                </a:lnTo>
                <a:lnTo>
                  <a:pt x="0" y="8135683"/>
                </a:lnTo>
                <a:lnTo>
                  <a:pt x="0" y="0"/>
                </a:lnTo>
                <a:close/>
              </a:path>
            </a:pathLst>
          </a:custGeom>
          <a:blipFill>
            <a:blip r:embed="rId3">
              <a:alphaModFix amt="65999"/>
            </a:blip>
            <a:stretch>
              <a:fillRect l="0" t="0" r="0" b="0"/>
            </a:stretch>
          </a:blipFill>
        </p:spPr>
      </p:sp>
      <p:sp>
        <p:nvSpPr>
          <p:cNvPr name="Freeform 7" id="7"/>
          <p:cNvSpPr/>
          <p:nvPr/>
        </p:nvSpPr>
        <p:spPr>
          <a:xfrm flipH="false" flipV="false" rot="-10800000">
            <a:off x="-895973" y="-128681"/>
            <a:ext cx="3775893" cy="3604261"/>
          </a:xfrm>
          <a:custGeom>
            <a:avLst/>
            <a:gdLst/>
            <a:ahLst/>
            <a:cxnLst/>
            <a:rect r="r" b="b" t="t" l="l"/>
            <a:pathLst>
              <a:path h="3604261" w="3775893">
                <a:moveTo>
                  <a:pt x="0" y="0"/>
                </a:moveTo>
                <a:lnTo>
                  <a:pt x="3775893" y="0"/>
                </a:lnTo>
                <a:lnTo>
                  <a:pt x="3775893" y="3604262"/>
                </a:lnTo>
                <a:lnTo>
                  <a:pt x="0" y="36042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10800000">
            <a:off x="15576737" y="7107131"/>
            <a:ext cx="3775893" cy="3604261"/>
          </a:xfrm>
          <a:custGeom>
            <a:avLst/>
            <a:gdLst/>
            <a:ahLst/>
            <a:cxnLst/>
            <a:rect r="r" b="b" t="t" l="l"/>
            <a:pathLst>
              <a:path h="3604261" w="3775893">
                <a:moveTo>
                  <a:pt x="0" y="0"/>
                </a:moveTo>
                <a:lnTo>
                  <a:pt x="3775893" y="0"/>
                </a:lnTo>
                <a:lnTo>
                  <a:pt x="3775893" y="3604261"/>
                </a:lnTo>
                <a:lnTo>
                  <a:pt x="0" y="36042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1667492" y="3598477"/>
            <a:ext cx="14953016" cy="1997019"/>
          </a:xfrm>
          <a:prstGeom prst="rect">
            <a:avLst/>
          </a:prstGeom>
        </p:spPr>
        <p:txBody>
          <a:bodyPr anchor="t" rtlCol="false" tIns="0" lIns="0" bIns="0" rIns="0">
            <a:spAutoFit/>
          </a:bodyPr>
          <a:lstStyle/>
          <a:p>
            <a:pPr algn="ctr">
              <a:lnSpc>
                <a:spcPts val="8053"/>
              </a:lnSpc>
            </a:pPr>
            <a:r>
              <a:rPr lang="en-US" sz="5752" spc="-57">
                <a:solidFill>
                  <a:srgbClr val="348BFF"/>
                </a:solidFill>
                <a:latin typeface="Paytone One"/>
                <a:ea typeface="Paytone One"/>
                <a:cs typeface="Paytone One"/>
                <a:sym typeface="Paytone One"/>
              </a:rPr>
              <a:t>NHẬN DIỆN LỖI HÀN TRONG CÔNG NGHIỆP CƠ KHÍ TỪ ẢNH X-QUANG</a:t>
            </a:r>
          </a:p>
        </p:txBody>
      </p:sp>
      <p:sp>
        <p:nvSpPr>
          <p:cNvPr name="TextBox 10" id="10"/>
          <p:cNvSpPr txBox="true"/>
          <p:nvPr/>
        </p:nvSpPr>
        <p:spPr>
          <a:xfrm rot="0">
            <a:off x="-1201096" y="1761600"/>
            <a:ext cx="9706304" cy="987423"/>
          </a:xfrm>
          <a:prstGeom prst="rect">
            <a:avLst/>
          </a:prstGeom>
        </p:spPr>
        <p:txBody>
          <a:bodyPr anchor="t" rtlCol="false" tIns="0" lIns="0" bIns="0" rIns="0">
            <a:spAutoFit/>
          </a:bodyPr>
          <a:lstStyle/>
          <a:p>
            <a:pPr algn="ctr">
              <a:lnSpc>
                <a:spcPts val="8050"/>
              </a:lnSpc>
            </a:pPr>
            <a:r>
              <a:rPr lang="en-US" sz="5750">
                <a:solidFill>
                  <a:srgbClr val="348BFF"/>
                </a:solidFill>
                <a:latin typeface="Roboto"/>
                <a:ea typeface="Roboto"/>
                <a:cs typeface="Roboto"/>
                <a:sym typeface="Roboto"/>
              </a:rPr>
              <a:t>ĐỀ TÀI:</a:t>
            </a:r>
          </a:p>
        </p:txBody>
      </p:sp>
      <p:sp>
        <p:nvSpPr>
          <p:cNvPr name="TextBox 11" id="11"/>
          <p:cNvSpPr txBox="true"/>
          <p:nvPr/>
        </p:nvSpPr>
        <p:spPr>
          <a:xfrm rot="0">
            <a:off x="1028700" y="7040456"/>
            <a:ext cx="11722698" cy="1780540"/>
          </a:xfrm>
          <a:prstGeom prst="rect">
            <a:avLst/>
          </a:prstGeom>
        </p:spPr>
        <p:txBody>
          <a:bodyPr anchor="t" rtlCol="false" tIns="0" lIns="0" bIns="0" rIns="0">
            <a:spAutoFit/>
          </a:bodyPr>
          <a:lstStyle/>
          <a:p>
            <a:pPr algn="ctr">
              <a:lnSpc>
                <a:spcPts val="4759"/>
              </a:lnSpc>
            </a:pPr>
            <a:r>
              <a:rPr lang="en-US" sz="3399">
                <a:solidFill>
                  <a:srgbClr val="348BFF"/>
                </a:solidFill>
                <a:latin typeface="Noto Serif Display"/>
                <a:ea typeface="Noto Serif Display"/>
                <a:cs typeface="Noto Serif Display"/>
                <a:sym typeface="Noto Serif Display"/>
              </a:rPr>
              <a:t>Sinh viên thực hiện:  Nguyễn Tấn Đạt</a:t>
            </a:r>
          </a:p>
          <a:p>
            <a:pPr algn="ctr">
              <a:lnSpc>
                <a:spcPts val="4759"/>
              </a:lnSpc>
            </a:pPr>
            <a:r>
              <a:rPr lang="en-US" sz="3399">
                <a:solidFill>
                  <a:srgbClr val="348BFF"/>
                </a:solidFill>
                <a:latin typeface="Noto Serif Display"/>
                <a:ea typeface="Noto Serif Display"/>
                <a:cs typeface="Noto Serif Display"/>
                <a:sym typeface="Noto Serif Display"/>
              </a:rPr>
              <a:t>                                     Lê Thị Chính</a:t>
            </a:r>
          </a:p>
          <a:p>
            <a:pPr algn="ctr">
              <a:lnSpc>
                <a:spcPts val="4759"/>
              </a:lnSpc>
            </a:pPr>
            <a:r>
              <a:rPr lang="en-US" sz="3399">
                <a:solidFill>
                  <a:srgbClr val="348BFF"/>
                </a:solidFill>
                <a:latin typeface="Noto Serif Display"/>
                <a:ea typeface="Noto Serif Display"/>
                <a:cs typeface="Noto Serif Display"/>
                <a:sym typeface="Noto Serif Display"/>
              </a:rPr>
              <a:t>                                       Trần Anh Đức</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true" flipV="true" rot="-10792239">
            <a:off x="-724606" y="8954135"/>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10792239">
            <a:off x="16612207" y="-936064"/>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028700" y="314559"/>
            <a:ext cx="560353" cy="652047"/>
            <a:chOff x="0" y="0"/>
            <a:chExt cx="698500" cy="812800"/>
          </a:xfrm>
        </p:grpSpPr>
        <p:sp>
          <p:nvSpPr>
            <p:cNvPr name="Freeform 6" id="6"/>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000000">
                <a:alpha val="0"/>
              </a:srgbClr>
            </a:solidFill>
            <a:ln w="95250" cap="sq">
              <a:solidFill>
                <a:srgbClr val="348BFF"/>
              </a:solidFill>
              <a:prstDash val="solid"/>
              <a:miter/>
            </a:ln>
          </p:spPr>
        </p:sp>
        <p:sp>
          <p:nvSpPr>
            <p:cNvPr name="TextBox 7" id="7"/>
            <p:cNvSpPr txBox="true"/>
            <p:nvPr/>
          </p:nvSpPr>
          <p:spPr>
            <a:xfrm>
              <a:off x="0" y="101600"/>
              <a:ext cx="698500" cy="571500"/>
            </a:xfrm>
            <a:prstGeom prst="rect">
              <a:avLst/>
            </a:prstGeom>
          </p:spPr>
          <p:txBody>
            <a:bodyPr anchor="ctr" rtlCol="false" tIns="27034" lIns="27034" bIns="27034" rIns="27034"/>
            <a:lstStyle/>
            <a:p>
              <a:pPr algn="ctr">
                <a:lnSpc>
                  <a:spcPts val="2659"/>
                </a:lnSpc>
              </a:pPr>
            </a:p>
          </p:txBody>
        </p:sp>
      </p:grpSp>
      <p:sp>
        <p:nvSpPr>
          <p:cNvPr name="Freeform 8" id="8"/>
          <p:cNvSpPr/>
          <p:nvPr/>
        </p:nvSpPr>
        <p:spPr>
          <a:xfrm flipH="false" flipV="false" rot="0">
            <a:off x="9596031" y="2456352"/>
            <a:ext cx="8367520" cy="6833475"/>
          </a:xfrm>
          <a:custGeom>
            <a:avLst/>
            <a:gdLst/>
            <a:ahLst/>
            <a:cxnLst/>
            <a:rect r="r" b="b" t="t" l="l"/>
            <a:pathLst>
              <a:path h="6833475" w="8367520">
                <a:moveTo>
                  <a:pt x="0" y="0"/>
                </a:moveTo>
                <a:lnTo>
                  <a:pt x="8367520" y="0"/>
                </a:lnTo>
                <a:lnTo>
                  <a:pt x="8367520" y="6833474"/>
                </a:lnTo>
                <a:lnTo>
                  <a:pt x="0" y="6833474"/>
                </a:lnTo>
                <a:lnTo>
                  <a:pt x="0" y="0"/>
                </a:lnTo>
                <a:close/>
              </a:path>
            </a:pathLst>
          </a:custGeom>
          <a:blipFill>
            <a:blip r:embed="rId5"/>
            <a:stretch>
              <a:fillRect l="0" t="0" r="0" b="0"/>
            </a:stretch>
          </a:blipFill>
        </p:spPr>
      </p:sp>
      <p:sp>
        <p:nvSpPr>
          <p:cNvPr name="TextBox 9" id="9"/>
          <p:cNvSpPr txBox="true"/>
          <p:nvPr/>
        </p:nvSpPr>
        <p:spPr>
          <a:xfrm rot="0">
            <a:off x="5435017" y="413985"/>
            <a:ext cx="7645781" cy="863600"/>
          </a:xfrm>
          <a:prstGeom prst="rect">
            <a:avLst/>
          </a:prstGeom>
        </p:spPr>
        <p:txBody>
          <a:bodyPr anchor="t" rtlCol="false" tIns="0" lIns="0" bIns="0" rIns="0">
            <a:spAutoFit/>
          </a:bodyPr>
          <a:lstStyle/>
          <a:p>
            <a:pPr algn="ctr">
              <a:lnSpc>
                <a:spcPts val="7000"/>
              </a:lnSpc>
            </a:pPr>
            <a:r>
              <a:rPr lang="en-US" sz="5000" spc="-50">
                <a:solidFill>
                  <a:srgbClr val="348BFF"/>
                </a:solidFill>
                <a:latin typeface="Roboto"/>
                <a:ea typeface="Roboto"/>
                <a:cs typeface="Roboto"/>
                <a:sym typeface="Roboto"/>
              </a:rPr>
              <a:t>PHÂN CÔNG NHIỆM VỤ</a:t>
            </a:r>
          </a:p>
        </p:txBody>
      </p:sp>
      <p:sp>
        <p:nvSpPr>
          <p:cNvPr name="TextBox 10" id="10"/>
          <p:cNvSpPr txBox="true"/>
          <p:nvPr/>
        </p:nvSpPr>
        <p:spPr>
          <a:xfrm rot="0">
            <a:off x="1028700" y="2912312"/>
            <a:ext cx="7746705" cy="4346900"/>
          </a:xfrm>
          <a:prstGeom prst="rect">
            <a:avLst/>
          </a:prstGeom>
        </p:spPr>
        <p:txBody>
          <a:bodyPr anchor="t" rtlCol="false" tIns="0" lIns="0" bIns="0" rIns="0">
            <a:spAutoFit/>
          </a:bodyPr>
          <a:lstStyle/>
          <a:p>
            <a:pPr algn="just">
              <a:lnSpc>
                <a:spcPts val="4347"/>
              </a:lnSpc>
              <a:spcBef>
                <a:spcPct val="0"/>
              </a:spcBef>
            </a:pPr>
            <a:r>
              <a:rPr lang="en-US" sz="3105">
                <a:solidFill>
                  <a:srgbClr val="FFFFFF"/>
                </a:solidFill>
                <a:latin typeface="Canva Sans"/>
                <a:ea typeface="Canva Sans"/>
                <a:cs typeface="Canva Sans"/>
                <a:sym typeface="Canva Sans"/>
              </a:rPr>
              <a:t>Tất cả các thành v</a:t>
            </a:r>
            <a:r>
              <a:rPr lang="en-US" sz="3105">
                <a:solidFill>
                  <a:srgbClr val="FFFFFF"/>
                </a:solidFill>
                <a:latin typeface="Canva Sans"/>
                <a:ea typeface="Canva Sans"/>
                <a:cs typeface="Canva Sans"/>
                <a:sym typeface="Canva Sans"/>
              </a:rPr>
              <a:t>iên trong nhóm đều cùng tham gia và đóng góp vào mọi giai đoạn của dự án, bao gồm việc tìm kiếm và xử lý dữ liệu, xây dựng ý tưởng, lập trình cũng như soạn thảo báo cáo. Quá trình làm việc được thực hiện theo tinh thần hợp tác và chia sẻ trách nhiệm giữa các thành viên.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18288000" cy="10109527"/>
            <a:chOff x="0" y="0"/>
            <a:chExt cx="4816593" cy="2662592"/>
          </a:xfrm>
        </p:grpSpPr>
        <p:sp>
          <p:nvSpPr>
            <p:cNvPr name="Freeform 4" id="4"/>
            <p:cNvSpPr/>
            <p:nvPr/>
          </p:nvSpPr>
          <p:spPr>
            <a:xfrm flipH="false" flipV="false" rot="0">
              <a:off x="0" y="0"/>
              <a:ext cx="4816592" cy="2662592"/>
            </a:xfrm>
            <a:custGeom>
              <a:avLst/>
              <a:gdLst/>
              <a:ahLst/>
              <a:cxnLst/>
              <a:rect r="r" b="b" t="t" l="l"/>
              <a:pathLst>
                <a:path h="2662592" w="4816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name="TextBox 5" id="5"/>
            <p:cNvSpPr txBox="true"/>
            <p:nvPr/>
          </p:nvSpPr>
          <p:spPr>
            <a:xfrm>
              <a:off x="0" y="-38100"/>
              <a:ext cx="4816593" cy="2700692"/>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772560" y="6830400"/>
            <a:ext cx="1480929" cy="1483627"/>
          </a:xfrm>
          <a:custGeom>
            <a:avLst/>
            <a:gdLst/>
            <a:ahLst/>
            <a:cxnLst/>
            <a:rect r="r" b="b" t="t" l="l"/>
            <a:pathLst>
              <a:path h="1483627" w="1480929">
                <a:moveTo>
                  <a:pt x="0" y="0"/>
                </a:moveTo>
                <a:lnTo>
                  <a:pt x="1480930" y="0"/>
                </a:lnTo>
                <a:lnTo>
                  <a:pt x="1480930" y="1483626"/>
                </a:lnTo>
                <a:lnTo>
                  <a:pt x="0" y="14836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0086837" y="3866008"/>
            <a:ext cx="1785518" cy="1743315"/>
          </a:xfrm>
          <a:custGeom>
            <a:avLst/>
            <a:gdLst/>
            <a:ahLst/>
            <a:cxnLst/>
            <a:rect r="r" b="b" t="t" l="l"/>
            <a:pathLst>
              <a:path h="1743315" w="1785518">
                <a:moveTo>
                  <a:pt x="0" y="0"/>
                </a:moveTo>
                <a:lnTo>
                  <a:pt x="1785518" y="0"/>
                </a:lnTo>
                <a:lnTo>
                  <a:pt x="1785518" y="1743315"/>
                </a:lnTo>
                <a:lnTo>
                  <a:pt x="0" y="174331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8" id="8"/>
          <p:cNvSpPr/>
          <p:nvPr/>
        </p:nvSpPr>
        <p:spPr>
          <a:xfrm>
            <a:off x="2071982" y="3312621"/>
            <a:ext cx="6492240" cy="0"/>
          </a:xfrm>
          <a:prstGeom prst="line">
            <a:avLst/>
          </a:prstGeom>
          <a:ln cap="flat" w="19050">
            <a:solidFill>
              <a:srgbClr val="40597C"/>
            </a:solidFill>
            <a:prstDash val="solid"/>
            <a:headEnd type="none" len="sm" w="sm"/>
            <a:tailEnd type="none" len="sm" w="sm"/>
          </a:ln>
        </p:spPr>
      </p:sp>
      <p:sp>
        <p:nvSpPr>
          <p:cNvPr name="Freeform 9" id="9"/>
          <p:cNvSpPr/>
          <p:nvPr/>
        </p:nvSpPr>
        <p:spPr>
          <a:xfrm flipH="true" flipV="true" rot="-10792239">
            <a:off x="-724606" y="8954135"/>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true" flipV="true" rot="-10792239">
            <a:off x="16612207" y="-936064"/>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1" id="11"/>
          <p:cNvGrpSpPr/>
          <p:nvPr/>
        </p:nvGrpSpPr>
        <p:grpSpPr>
          <a:xfrm rot="0">
            <a:off x="626738" y="550533"/>
            <a:ext cx="560353" cy="652047"/>
            <a:chOff x="0" y="0"/>
            <a:chExt cx="698500" cy="812800"/>
          </a:xfrm>
        </p:grpSpPr>
        <p:sp>
          <p:nvSpPr>
            <p:cNvPr name="Freeform 12" id="12"/>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000000">
                <a:alpha val="0"/>
              </a:srgbClr>
            </a:solidFill>
            <a:ln w="95250" cap="sq">
              <a:solidFill>
                <a:srgbClr val="348BFF"/>
              </a:solidFill>
              <a:prstDash val="solid"/>
              <a:miter/>
            </a:ln>
          </p:spPr>
        </p:sp>
        <p:sp>
          <p:nvSpPr>
            <p:cNvPr name="TextBox 13" id="13"/>
            <p:cNvSpPr txBox="true"/>
            <p:nvPr/>
          </p:nvSpPr>
          <p:spPr>
            <a:xfrm>
              <a:off x="0" y="101600"/>
              <a:ext cx="698500" cy="571500"/>
            </a:xfrm>
            <a:prstGeom prst="rect">
              <a:avLst/>
            </a:prstGeom>
          </p:spPr>
          <p:txBody>
            <a:bodyPr anchor="ctr" rtlCol="false" tIns="27034" lIns="27034" bIns="27034" rIns="27034"/>
            <a:lstStyle/>
            <a:p>
              <a:pPr algn="ctr">
                <a:lnSpc>
                  <a:spcPts val="2659"/>
                </a:lnSpc>
              </a:pPr>
            </a:p>
          </p:txBody>
        </p:sp>
      </p:grpSp>
      <p:sp>
        <p:nvSpPr>
          <p:cNvPr name="Freeform 14" id="14"/>
          <p:cNvSpPr/>
          <p:nvPr/>
        </p:nvSpPr>
        <p:spPr>
          <a:xfrm flipH="false" flipV="false" rot="0">
            <a:off x="1772560" y="3866008"/>
            <a:ext cx="1608064" cy="1441410"/>
          </a:xfrm>
          <a:custGeom>
            <a:avLst/>
            <a:gdLst/>
            <a:ahLst/>
            <a:cxnLst/>
            <a:rect r="r" b="b" t="t" l="l"/>
            <a:pathLst>
              <a:path h="1441410" w="1608064">
                <a:moveTo>
                  <a:pt x="0" y="0"/>
                </a:moveTo>
                <a:lnTo>
                  <a:pt x="1608065" y="0"/>
                </a:lnTo>
                <a:lnTo>
                  <a:pt x="1608065" y="1441411"/>
                </a:lnTo>
                <a:lnTo>
                  <a:pt x="0" y="144141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5" id="15"/>
          <p:cNvSpPr/>
          <p:nvPr/>
        </p:nvSpPr>
        <p:spPr>
          <a:xfrm flipH="false" flipV="false" rot="0">
            <a:off x="10186676" y="6728186"/>
            <a:ext cx="1585840" cy="1585840"/>
          </a:xfrm>
          <a:custGeom>
            <a:avLst/>
            <a:gdLst/>
            <a:ahLst/>
            <a:cxnLst/>
            <a:rect r="r" b="b" t="t" l="l"/>
            <a:pathLst>
              <a:path h="1585840" w="1585840">
                <a:moveTo>
                  <a:pt x="0" y="0"/>
                </a:moveTo>
                <a:lnTo>
                  <a:pt x="1585840" y="0"/>
                </a:lnTo>
                <a:lnTo>
                  <a:pt x="1585840" y="1585840"/>
                </a:lnTo>
                <a:lnTo>
                  <a:pt x="0" y="158584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6" id="16"/>
          <p:cNvSpPr txBox="true"/>
          <p:nvPr/>
        </p:nvSpPr>
        <p:spPr>
          <a:xfrm rot="0">
            <a:off x="3896839" y="4112388"/>
            <a:ext cx="4667383" cy="781050"/>
          </a:xfrm>
          <a:prstGeom prst="rect">
            <a:avLst/>
          </a:prstGeom>
        </p:spPr>
        <p:txBody>
          <a:bodyPr anchor="t" rtlCol="false" tIns="0" lIns="0" bIns="0" rIns="0">
            <a:spAutoFit/>
          </a:bodyPr>
          <a:lstStyle/>
          <a:p>
            <a:pPr algn="l">
              <a:lnSpc>
                <a:spcPts val="6299"/>
              </a:lnSpc>
            </a:pPr>
            <a:r>
              <a:rPr lang="en-US" sz="4500">
                <a:solidFill>
                  <a:srgbClr val="FFFFFF"/>
                </a:solidFill>
                <a:latin typeface="Roboto"/>
                <a:ea typeface="Roboto"/>
                <a:cs typeface="Roboto"/>
                <a:sym typeface="Roboto"/>
              </a:rPr>
              <a:t>Giới thiệu bài toán</a:t>
            </a:r>
          </a:p>
        </p:txBody>
      </p:sp>
      <p:sp>
        <p:nvSpPr>
          <p:cNvPr name="TextBox 17" id="17"/>
          <p:cNvSpPr txBox="true"/>
          <p:nvPr/>
        </p:nvSpPr>
        <p:spPr>
          <a:xfrm rot="0">
            <a:off x="12383421" y="4148563"/>
            <a:ext cx="4225877" cy="781050"/>
          </a:xfrm>
          <a:prstGeom prst="rect">
            <a:avLst/>
          </a:prstGeom>
        </p:spPr>
        <p:txBody>
          <a:bodyPr anchor="t" rtlCol="false" tIns="0" lIns="0" bIns="0" rIns="0">
            <a:spAutoFit/>
          </a:bodyPr>
          <a:lstStyle/>
          <a:p>
            <a:pPr algn="l">
              <a:lnSpc>
                <a:spcPts val="6299"/>
              </a:lnSpc>
            </a:pPr>
            <a:r>
              <a:rPr lang="en-US" sz="4500">
                <a:solidFill>
                  <a:srgbClr val="FFFFFF"/>
                </a:solidFill>
                <a:latin typeface="Roboto"/>
                <a:ea typeface="Roboto"/>
                <a:cs typeface="Roboto"/>
                <a:sym typeface="Roboto"/>
              </a:rPr>
              <a:t>Dữ liệu</a:t>
            </a:r>
          </a:p>
        </p:txBody>
      </p:sp>
      <p:sp>
        <p:nvSpPr>
          <p:cNvPr name="TextBox 18" id="18"/>
          <p:cNvSpPr txBox="true"/>
          <p:nvPr/>
        </p:nvSpPr>
        <p:spPr>
          <a:xfrm rot="0">
            <a:off x="3717922" y="7082956"/>
            <a:ext cx="5615734" cy="781050"/>
          </a:xfrm>
          <a:prstGeom prst="rect">
            <a:avLst/>
          </a:prstGeom>
        </p:spPr>
        <p:txBody>
          <a:bodyPr anchor="t" rtlCol="false" tIns="0" lIns="0" bIns="0" rIns="0">
            <a:spAutoFit/>
          </a:bodyPr>
          <a:lstStyle/>
          <a:p>
            <a:pPr algn="l">
              <a:lnSpc>
                <a:spcPts val="6299"/>
              </a:lnSpc>
            </a:pPr>
            <a:r>
              <a:rPr lang="en-US" sz="4500">
                <a:solidFill>
                  <a:srgbClr val="FFFFFF"/>
                </a:solidFill>
                <a:latin typeface="Roboto"/>
                <a:ea typeface="Roboto"/>
                <a:cs typeface="Roboto"/>
                <a:sym typeface="Roboto"/>
              </a:rPr>
              <a:t>Mô hình và thuật toán</a:t>
            </a:r>
          </a:p>
        </p:txBody>
      </p:sp>
      <p:sp>
        <p:nvSpPr>
          <p:cNvPr name="TextBox 19" id="19"/>
          <p:cNvSpPr txBox="true"/>
          <p:nvPr/>
        </p:nvSpPr>
        <p:spPr>
          <a:xfrm rot="0">
            <a:off x="12383421" y="7273120"/>
            <a:ext cx="5262529" cy="781050"/>
          </a:xfrm>
          <a:prstGeom prst="rect">
            <a:avLst/>
          </a:prstGeom>
        </p:spPr>
        <p:txBody>
          <a:bodyPr anchor="t" rtlCol="false" tIns="0" lIns="0" bIns="0" rIns="0">
            <a:spAutoFit/>
          </a:bodyPr>
          <a:lstStyle/>
          <a:p>
            <a:pPr algn="l">
              <a:lnSpc>
                <a:spcPts val="6299"/>
              </a:lnSpc>
            </a:pPr>
            <a:r>
              <a:rPr lang="en-US" sz="4500">
                <a:solidFill>
                  <a:srgbClr val="FFFFFF"/>
                </a:solidFill>
                <a:latin typeface="Roboto"/>
                <a:ea typeface="Roboto"/>
                <a:cs typeface="Roboto"/>
                <a:sym typeface="Roboto"/>
              </a:rPr>
              <a:t>Kết quả đạt được</a:t>
            </a:r>
          </a:p>
        </p:txBody>
      </p:sp>
      <p:sp>
        <p:nvSpPr>
          <p:cNvPr name="TextBox 20" id="20"/>
          <p:cNvSpPr txBox="true"/>
          <p:nvPr/>
        </p:nvSpPr>
        <p:spPr>
          <a:xfrm rot="0">
            <a:off x="2071982" y="2055460"/>
            <a:ext cx="8907614" cy="947031"/>
          </a:xfrm>
          <a:prstGeom prst="rect">
            <a:avLst/>
          </a:prstGeom>
        </p:spPr>
        <p:txBody>
          <a:bodyPr anchor="t" rtlCol="false" tIns="0" lIns="0" bIns="0" rIns="0">
            <a:spAutoFit/>
          </a:bodyPr>
          <a:lstStyle/>
          <a:p>
            <a:pPr algn="l">
              <a:lnSpc>
                <a:spcPts val="7651"/>
              </a:lnSpc>
            </a:pPr>
            <a:r>
              <a:rPr lang="en-US" sz="5465" spc="-54">
                <a:solidFill>
                  <a:srgbClr val="348BFF"/>
                </a:solidFill>
                <a:latin typeface="Roboto"/>
                <a:ea typeface="Roboto"/>
                <a:cs typeface="Roboto"/>
                <a:sym typeface="Roboto"/>
              </a:rPr>
              <a:t>NỘI DUNG CHÍNH</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18288000" cy="10109527"/>
            <a:chOff x="0" y="0"/>
            <a:chExt cx="4816593" cy="2662592"/>
          </a:xfrm>
        </p:grpSpPr>
        <p:sp>
          <p:nvSpPr>
            <p:cNvPr name="Freeform 4" id="4"/>
            <p:cNvSpPr/>
            <p:nvPr/>
          </p:nvSpPr>
          <p:spPr>
            <a:xfrm flipH="false" flipV="false" rot="0">
              <a:off x="0" y="0"/>
              <a:ext cx="4816592" cy="2662592"/>
            </a:xfrm>
            <a:custGeom>
              <a:avLst/>
              <a:gdLst/>
              <a:ahLst/>
              <a:cxnLst/>
              <a:rect r="r" b="b" t="t" l="l"/>
              <a:pathLst>
                <a:path h="2662592" w="4816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name="TextBox 5" id="5"/>
            <p:cNvSpPr txBox="true"/>
            <p:nvPr/>
          </p:nvSpPr>
          <p:spPr>
            <a:xfrm>
              <a:off x="0" y="-38100"/>
              <a:ext cx="4816593" cy="2700692"/>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true" flipV="false" rot="-2407264">
            <a:off x="13760017" y="6817824"/>
            <a:ext cx="4768277" cy="4551537"/>
          </a:xfrm>
          <a:custGeom>
            <a:avLst/>
            <a:gdLst/>
            <a:ahLst/>
            <a:cxnLst/>
            <a:rect r="r" b="b" t="t" l="l"/>
            <a:pathLst>
              <a:path h="4551537" w="4768277">
                <a:moveTo>
                  <a:pt x="4768277" y="0"/>
                </a:moveTo>
                <a:lnTo>
                  <a:pt x="0" y="0"/>
                </a:lnTo>
                <a:lnTo>
                  <a:pt x="0" y="4551537"/>
                </a:lnTo>
                <a:lnTo>
                  <a:pt x="4768277" y="4551537"/>
                </a:lnTo>
                <a:lnTo>
                  <a:pt x="4768277"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3275">
            <a:off x="12646576" y="-298239"/>
            <a:ext cx="6995160" cy="5246370"/>
            <a:chOff x="0" y="0"/>
            <a:chExt cx="812800" cy="609600"/>
          </a:xfrm>
        </p:grpSpPr>
        <p:sp>
          <p:nvSpPr>
            <p:cNvPr name="Freeform 8" id="8"/>
            <p:cNvSpPr/>
            <p:nvPr/>
          </p:nvSpPr>
          <p:spPr>
            <a:xfrm flipH="false" flipV="false" rot="0">
              <a:off x="0" y="0"/>
              <a:ext cx="812800" cy="609600"/>
            </a:xfrm>
            <a:custGeom>
              <a:avLst/>
              <a:gdLst/>
              <a:ahLst/>
              <a:cxnLst/>
              <a:rect r="r" b="b" t="t" l="l"/>
              <a:pathLst>
                <a:path h="609600" w="812800">
                  <a:moveTo>
                    <a:pt x="203200" y="0"/>
                  </a:moveTo>
                  <a:lnTo>
                    <a:pt x="812800" y="0"/>
                  </a:lnTo>
                  <a:lnTo>
                    <a:pt x="609600" y="609600"/>
                  </a:lnTo>
                  <a:lnTo>
                    <a:pt x="0" y="609600"/>
                  </a:lnTo>
                  <a:lnTo>
                    <a:pt x="203200" y="0"/>
                  </a:lnTo>
                  <a:close/>
                </a:path>
              </a:pathLst>
            </a:custGeom>
            <a:blipFill>
              <a:blip r:embed="rId5"/>
              <a:stretch>
                <a:fillRect l="0" t="0" r="-13324" b="0"/>
              </a:stretch>
            </a:blipFill>
          </p:spPr>
        </p:sp>
      </p:grpSp>
      <p:grpSp>
        <p:nvGrpSpPr>
          <p:cNvPr name="Group 9" id="9"/>
          <p:cNvGrpSpPr/>
          <p:nvPr/>
        </p:nvGrpSpPr>
        <p:grpSpPr>
          <a:xfrm rot="3275">
            <a:off x="9023612" y="5146831"/>
            <a:ext cx="6995160" cy="5246370"/>
            <a:chOff x="0" y="0"/>
            <a:chExt cx="812800" cy="609600"/>
          </a:xfrm>
        </p:grpSpPr>
        <p:sp>
          <p:nvSpPr>
            <p:cNvPr name="Freeform 10" id="10"/>
            <p:cNvSpPr/>
            <p:nvPr/>
          </p:nvSpPr>
          <p:spPr>
            <a:xfrm flipH="false" flipV="false" rot="0">
              <a:off x="0" y="0"/>
              <a:ext cx="812800" cy="609600"/>
            </a:xfrm>
            <a:custGeom>
              <a:avLst/>
              <a:gdLst/>
              <a:ahLst/>
              <a:cxnLst/>
              <a:rect r="r" b="b" t="t" l="l"/>
              <a:pathLst>
                <a:path h="609600" w="812800">
                  <a:moveTo>
                    <a:pt x="203200" y="0"/>
                  </a:moveTo>
                  <a:lnTo>
                    <a:pt x="812800" y="0"/>
                  </a:lnTo>
                  <a:lnTo>
                    <a:pt x="609600" y="609600"/>
                  </a:lnTo>
                  <a:lnTo>
                    <a:pt x="0" y="609600"/>
                  </a:lnTo>
                  <a:lnTo>
                    <a:pt x="203200" y="0"/>
                  </a:lnTo>
                  <a:close/>
                </a:path>
              </a:pathLst>
            </a:custGeom>
            <a:blipFill>
              <a:blip r:embed="rId6"/>
              <a:stretch>
                <a:fillRect l="-6739" t="0" r="-5619" b="0"/>
              </a:stretch>
            </a:blipFill>
          </p:spPr>
        </p:sp>
      </p:grpSp>
      <p:sp>
        <p:nvSpPr>
          <p:cNvPr name="AutoShape 11" id="11"/>
          <p:cNvSpPr/>
          <p:nvPr/>
        </p:nvSpPr>
        <p:spPr>
          <a:xfrm>
            <a:off x="1277271" y="7286174"/>
            <a:ext cx="6492240" cy="0"/>
          </a:xfrm>
          <a:prstGeom prst="line">
            <a:avLst/>
          </a:prstGeom>
          <a:ln cap="flat" w="19050">
            <a:solidFill>
              <a:srgbClr val="40597C"/>
            </a:solidFill>
            <a:prstDash val="solid"/>
            <a:headEnd type="none" len="sm" w="sm"/>
            <a:tailEnd type="none" len="sm" w="sm"/>
          </a:ln>
        </p:spPr>
      </p:sp>
      <p:sp>
        <p:nvSpPr>
          <p:cNvPr name="Freeform 12" id="12"/>
          <p:cNvSpPr/>
          <p:nvPr/>
        </p:nvSpPr>
        <p:spPr>
          <a:xfrm flipH="true" flipV="false" rot="-10792239">
            <a:off x="-724606" y="8954135"/>
            <a:ext cx="2702689" cy="2579840"/>
          </a:xfrm>
          <a:custGeom>
            <a:avLst/>
            <a:gdLst/>
            <a:ahLst/>
            <a:cxnLst/>
            <a:rect r="r" b="b" t="t" l="l"/>
            <a:pathLst>
              <a:path h="2579840" w="2702689">
                <a:moveTo>
                  <a:pt x="2702689" y="0"/>
                </a:moveTo>
                <a:lnTo>
                  <a:pt x="0" y="0"/>
                </a:lnTo>
                <a:lnTo>
                  <a:pt x="0" y="2579840"/>
                </a:lnTo>
                <a:lnTo>
                  <a:pt x="2702689" y="2579840"/>
                </a:lnTo>
                <a:lnTo>
                  <a:pt x="2702689"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626738" y="550533"/>
            <a:ext cx="560353" cy="652047"/>
            <a:chOff x="0" y="0"/>
            <a:chExt cx="698500" cy="812800"/>
          </a:xfrm>
        </p:grpSpPr>
        <p:sp>
          <p:nvSpPr>
            <p:cNvPr name="Freeform 14" id="14"/>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000000">
                <a:alpha val="0"/>
              </a:srgbClr>
            </a:solidFill>
            <a:ln w="95250" cap="sq">
              <a:solidFill>
                <a:srgbClr val="348BFF"/>
              </a:solidFill>
              <a:prstDash val="solid"/>
              <a:miter/>
            </a:ln>
          </p:spPr>
        </p:sp>
        <p:sp>
          <p:nvSpPr>
            <p:cNvPr name="TextBox 15" id="15"/>
            <p:cNvSpPr txBox="true"/>
            <p:nvPr/>
          </p:nvSpPr>
          <p:spPr>
            <a:xfrm>
              <a:off x="0" y="101600"/>
              <a:ext cx="698500" cy="571500"/>
            </a:xfrm>
            <a:prstGeom prst="rect">
              <a:avLst/>
            </a:prstGeom>
          </p:spPr>
          <p:txBody>
            <a:bodyPr anchor="ctr" rtlCol="false" tIns="27034" lIns="27034" bIns="27034" rIns="27034"/>
            <a:lstStyle/>
            <a:p>
              <a:pPr algn="ctr">
                <a:lnSpc>
                  <a:spcPts val="2659"/>
                </a:lnSpc>
              </a:pPr>
            </a:p>
          </p:txBody>
        </p:sp>
      </p:grpSp>
      <p:sp>
        <p:nvSpPr>
          <p:cNvPr name="TextBox 16" id="16"/>
          <p:cNvSpPr txBox="true"/>
          <p:nvPr/>
        </p:nvSpPr>
        <p:spPr>
          <a:xfrm rot="0">
            <a:off x="256065" y="4241349"/>
            <a:ext cx="9903211" cy="1377949"/>
          </a:xfrm>
          <a:prstGeom prst="rect">
            <a:avLst/>
          </a:prstGeom>
        </p:spPr>
        <p:txBody>
          <a:bodyPr anchor="t" rtlCol="false" tIns="0" lIns="0" bIns="0" rIns="0">
            <a:spAutoFit/>
          </a:bodyPr>
          <a:lstStyle/>
          <a:p>
            <a:pPr algn="l">
              <a:lnSpc>
                <a:spcPts val="11200"/>
              </a:lnSpc>
            </a:pPr>
            <a:r>
              <a:rPr lang="en-US" sz="8000" spc="-80">
                <a:solidFill>
                  <a:srgbClr val="348BFF"/>
                </a:solidFill>
                <a:latin typeface="Roboto"/>
                <a:ea typeface="Roboto"/>
                <a:cs typeface="Roboto"/>
                <a:sym typeface="Roboto"/>
              </a:rPr>
              <a:t>GIỚI THIỆU BÀI TOÁN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2594913">
            <a:off x="-2201586" y="4156675"/>
            <a:ext cx="5419988" cy="5173625"/>
          </a:xfrm>
          <a:custGeom>
            <a:avLst/>
            <a:gdLst/>
            <a:ahLst/>
            <a:cxnLst/>
            <a:rect r="r" b="b" t="t" l="l"/>
            <a:pathLst>
              <a:path h="5173625" w="5419988">
                <a:moveTo>
                  <a:pt x="0" y="0"/>
                </a:moveTo>
                <a:lnTo>
                  <a:pt x="5419988" y="0"/>
                </a:lnTo>
                <a:lnTo>
                  <a:pt x="5419988" y="5173625"/>
                </a:lnTo>
                <a:lnTo>
                  <a:pt x="0" y="51736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4" id="4"/>
          <p:cNvSpPr/>
          <p:nvPr/>
        </p:nvSpPr>
        <p:spPr>
          <a:xfrm>
            <a:off x="6163866" y="1507168"/>
            <a:ext cx="5960269" cy="0"/>
          </a:xfrm>
          <a:prstGeom prst="line">
            <a:avLst/>
          </a:prstGeom>
          <a:ln cap="flat" w="19050">
            <a:solidFill>
              <a:srgbClr val="40597C"/>
            </a:solidFill>
            <a:prstDash val="solid"/>
            <a:headEnd type="none" len="sm" w="sm"/>
            <a:tailEnd type="none" len="sm" w="sm"/>
          </a:ln>
        </p:spPr>
      </p:sp>
      <p:sp>
        <p:nvSpPr>
          <p:cNvPr name="Freeform 5" id="5"/>
          <p:cNvSpPr/>
          <p:nvPr/>
        </p:nvSpPr>
        <p:spPr>
          <a:xfrm flipH="true" flipV="false" rot="-10792239">
            <a:off x="16488102" y="-1066193"/>
            <a:ext cx="2702689" cy="2579840"/>
          </a:xfrm>
          <a:custGeom>
            <a:avLst/>
            <a:gdLst/>
            <a:ahLst/>
            <a:cxnLst/>
            <a:rect r="r" b="b" t="t" l="l"/>
            <a:pathLst>
              <a:path h="2579840" w="2702689">
                <a:moveTo>
                  <a:pt x="2702689" y="0"/>
                </a:moveTo>
                <a:lnTo>
                  <a:pt x="0" y="0"/>
                </a:lnTo>
                <a:lnTo>
                  <a:pt x="0" y="2579839"/>
                </a:lnTo>
                <a:lnTo>
                  <a:pt x="2702689" y="2579839"/>
                </a:lnTo>
                <a:lnTo>
                  <a:pt x="2702689"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626738" y="550533"/>
            <a:ext cx="560353" cy="652047"/>
            <a:chOff x="0" y="0"/>
            <a:chExt cx="698500" cy="812800"/>
          </a:xfrm>
        </p:grpSpPr>
        <p:sp>
          <p:nvSpPr>
            <p:cNvPr name="Freeform 7" id="7"/>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000000">
                <a:alpha val="0"/>
              </a:srgbClr>
            </a:solidFill>
            <a:ln w="95250" cap="sq">
              <a:solidFill>
                <a:srgbClr val="348BFF"/>
              </a:solidFill>
              <a:prstDash val="solid"/>
              <a:miter/>
            </a:ln>
          </p:spPr>
        </p:sp>
        <p:sp>
          <p:nvSpPr>
            <p:cNvPr name="TextBox 8" id="8"/>
            <p:cNvSpPr txBox="true"/>
            <p:nvPr/>
          </p:nvSpPr>
          <p:spPr>
            <a:xfrm>
              <a:off x="0" y="101600"/>
              <a:ext cx="698500" cy="571500"/>
            </a:xfrm>
            <a:prstGeom prst="rect">
              <a:avLst/>
            </a:prstGeom>
          </p:spPr>
          <p:txBody>
            <a:bodyPr anchor="ctr" rtlCol="false" tIns="27034" lIns="27034" bIns="27034" rIns="27034"/>
            <a:lstStyle/>
            <a:p>
              <a:pPr algn="ctr">
                <a:lnSpc>
                  <a:spcPts val="2659"/>
                </a:lnSpc>
              </a:pPr>
            </a:p>
          </p:txBody>
        </p:sp>
      </p:grpSp>
      <p:sp>
        <p:nvSpPr>
          <p:cNvPr name="Freeform 9" id="9"/>
          <p:cNvSpPr/>
          <p:nvPr/>
        </p:nvSpPr>
        <p:spPr>
          <a:xfrm flipH="false" flipV="false" rot="5400000">
            <a:off x="-1706138" y="4102493"/>
            <a:ext cx="8264937" cy="2737320"/>
          </a:xfrm>
          <a:custGeom>
            <a:avLst/>
            <a:gdLst/>
            <a:ahLst/>
            <a:cxnLst/>
            <a:rect r="r" b="b" t="t" l="l"/>
            <a:pathLst>
              <a:path h="2737320" w="8264937">
                <a:moveTo>
                  <a:pt x="0" y="0"/>
                </a:moveTo>
                <a:lnTo>
                  <a:pt x="8264937" y="0"/>
                </a:lnTo>
                <a:lnTo>
                  <a:pt x="8264937" y="2737319"/>
                </a:lnTo>
                <a:lnTo>
                  <a:pt x="0" y="2737319"/>
                </a:lnTo>
                <a:lnTo>
                  <a:pt x="0" y="0"/>
                </a:lnTo>
                <a:close/>
              </a:path>
            </a:pathLst>
          </a:custGeom>
          <a:blipFill>
            <a:blip r:embed="rId5"/>
            <a:stretch>
              <a:fillRect l="0" t="-632" r="0" b="-632"/>
            </a:stretch>
          </a:blipFill>
        </p:spPr>
      </p:sp>
      <p:sp>
        <p:nvSpPr>
          <p:cNvPr name="Freeform 10" id="10"/>
          <p:cNvSpPr/>
          <p:nvPr/>
        </p:nvSpPr>
        <p:spPr>
          <a:xfrm flipH="false" flipV="false" rot="0">
            <a:off x="12400455" y="3466634"/>
            <a:ext cx="5621715" cy="3740996"/>
          </a:xfrm>
          <a:custGeom>
            <a:avLst/>
            <a:gdLst/>
            <a:ahLst/>
            <a:cxnLst/>
            <a:rect r="r" b="b" t="t" l="l"/>
            <a:pathLst>
              <a:path h="3740996" w="5621715">
                <a:moveTo>
                  <a:pt x="0" y="0"/>
                </a:moveTo>
                <a:lnTo>
                  <a:pt x="5621715" y="0"/>
                </a:lnTo>
                <a:lnTo>
                  <a:pt x="5621715" y="3740996"/>
                </a:lnTo>
                <a:lnTo>
                  <a:pt x="0" y="3740996"/>
                </a:lnTo>
                <a:lnTo>
                  <a:pt x="0" y="0"/>
                </a:lnTo>
                <a:close/>
              </a:path>
            </a:pathLst>
          </a:custGeom>
          <a:blipFill>
            <a:blip r:embed="rId6"/>
            <a:stretch>
              <a:fillRect l="0" t="0" r="0" b="0"/>
            </a:stretch>
          </a:blipFill>
        </p:spPr>
      </p:sp>
      <p:sp>
        <p:nvSpPr>
          <p:cNvPr name="TextBox 11" id="11"/>
          <p:cNvSpPr txBox="true"/>
          <p:nvPr/>
        </p:nvSpPr>
        <p:spPr>
          <a:xfrm rot="0">
            <a:off x="3794991" y="345891"/>
            <a:ext cx="10698019" cy="947031"/>
          </a:xfrm>
          <a:prstGeom prst="rect">
            <a:avLst/>
          </a:prstGeom>
        </p:spPr>
        <p:txBody>
          <a:bodyPr anchor="t" rtlCol="false" tIns="0" lIns="0" bIns="0" rIns="0">
            <a:spAutoFit/>
          </a:bodyPr>
          <a:lstStyle/>
          <a:p>
            <a:pPr algn="l">
              <a:lnSpc>
                <a:spcPts val="7651"/>
              </a:lnSpc>
            </a:pPr>
            <a:r>
              <a:rPr lang="en-US" sz="5465" spc="-54">
                <a:solidFill>
                  <a:srgbClr val="348BFF"/>
                </a:solidFill>
                <a:latin typeface="Roboto"/>
                <a:ea typeface="Roboto"/>
                <a:cs typeface="Roboto"/>
                <a:sym typeface="Roboto"/>
              </a:rPr>
              <a:t> BỐI CẢNH &amp; TẦM QUAN TRỌNG</a:t>
            </a:r>
          </a:p>
        </p:txBody>
      </p:sp>
      <p:grpSp>
        <p:nvGrpSpPr>
          <p:cNvPr name="Group 12" id="12"/>
          <p:cNvGrpSpPr/>
          <p:nvPr/>
        </p:nvGrpSpPr>
        <p:grpSpPr>
          <a:xfrm rot="0">
            <a:off x="4287410" y="2064563"/>
            <a:ext cx="7620625" cy="6122499"/>
            <a:chOff x="0" y="0"/>
            <a:chExt cx="10160833" cy="8163332"/>
          </a:xfrm>
        </p:grpSpPr>
        <p:sp>
          <p:nvSpPr>
            <p:cNvPr name="TextBox 13" id="13"/>
            <p:cNvSpPr txBox="true"/>
            <p:nvPr/>
          </p:nvSpPr>
          <p:spPr>
            <a:xfrm rot="0">
              <a:off x="0" y="6282907"/>
              <a:ext cx="10160833" cy="1880424"/>
            </a:xfrm>
            <a:prstGeom prst="rect">
              <a:avLst/>
            </a:prstGeom>
          </p:spPr>
          <p:txBody>
            <a:bodyPr anchor="t" rtlCol="false" tIns="0" lIns="0" bIns="0" rIns="0">
              <a:spAutoFit/>
            </a:bodyPr>
            <a:lstStyle/>
            <a:p>
              <a:pPr algn="just" marL="581722" indent="-290861" lvl="1">
                <a:lnSpc>
                  <a:spcPts val="3772"/>
                </a:lnSpc>
                <a:buFont typeface="Arial"/>
                <a:buChar char="•"/>
              </a:pPr>
              <a:r>
                <a:rPr lang="en-US" sz="2694">
                  <a:solidFill>
                    <a:srgbClr val="FFFFFF"/>
                  </a:solidFill>
                  <a:latin typeface="Roboto"/>
                  <a:ea typeface="Roboto"/>
                  <a:cs typeface="Roboto"/>
                  <a:sym typeface="Roboto"/>
                </a:rPr>
                <a:t>X-ray (chụp X-quang công nghiệp) là phương pháp phổ biến để phát hiện khuyết tật bên trong mối hàn (rỗ khí, nứt, xỉ, thiếu ngấu…).</a:t>
              </a:r>
            </a:p>
          </p:txBody>
        </p:sp>
        <p:sp>
          <p:nvSpPr>
            <p:cNvPr name="TextBox 14" id="14"/>
            <p:cNvSpPr txBox="true"/>
            <p:nvPr/>
          </p:nvSpPr>
          <p:spPr>
            <a:xfrm rot="0">
              <a:off x="0" y="-66675"/>
              <a:ext cx="10160833" cy="3150424"/>
            </a:xfrm>
            <a:prstGeom prst="rect">
              <a:avLst/>
            </a:prstGeom>
          </p:spPr>
          <p:txBody>
            <a:bodyPr anchor="t" rtlCol="false" tIns="0" lIns="0" bIns="0" rIns="0">
              <a:spAutoFit/>
            </a:bodyPr>
            <a:lstStyle/>
            <a:p>
              <a:pPr algn="just" marL="581722" indent="-290861" lvl="1">
                <a:lnSpc>
                  <a:spcPts val="3772"/>
                </a:lnSpc>
                <a:buFont typeface="Arial"/>
                <a:buChar char="•"/>
              </a:pPr>
              <a:r>
                <a:rPr lang="en-US" sz="2694">
                  <a:solidFill>
                    <a:srgbClr val="FFFFFF"/>
                  </a:solidFill>
                  <a:latin typeface="Roboto"/>
                  <a:ea typeface="Roboto"/>
                  <a:cs typeface="Roboto"/>
                  <a:sym typeface="Roboto"/>
                </a:rPr>
                <a:t>Trong công nghiệp cơ khí (nhất là đóng tàu, xây dựng, chế tạo nồi hơi, đường ống dẫn dầu/khí…), mối hàn là vị trí dễ xuất hiện khuyết tật → có thể gây nứt gãy, rò rỉ, thậm chí tai nạn.</a:t>
              </a:r>
            </a:p>
          </p:txBody>
        </p:sp>
        <p:sp>
          <p:nvSpPr>
            <p:cNvPr name="TextBox 15" id="15"/>
            <p:cNvSpPr txBox="true"/>
            <p:nvPr/>
          </p:nvSpPr>
          <p:spPr>
            <a:xfrm rot="0">
              <a:off x="0" y="3753040"/>
              <a:ext cx="10160833" cy="1880424"/>
            </a:xfrm>
            <a:prstGeom prst="rect">
              <a:avLst/>
            </a:prstGeom>
          </p:spPr>
          <p:txBody>
            <a:bodyPr anchor="t" rtlCol="false" tIns="0" lIns="0" bIns="0" rIns="0">
              <a:spAutoFit/>
            </a:bodyPr>
            <a:lstStyle/>
            <a:p>
              <a:pPr algn="just" marL="581722" indent="-290861" lvl="1">
                <a:lnSpc>
                  <a:spcPts val="3772"/>
                </a:lnSpc>
                <a:buFont typeface="Arial"/>
                <a:buChar char="•"/>
              </a:pPr>
              <a:r>
                <a:rPr lang="en-US" sz="2694">
                  <a:solidFill>
                    <a:srgbClr val="FFFFFF"/>
                  </a:solidFill>
                  <a:latin typeface="Roboto"/>
                  <a:ea typeface="Roboto"/>
                  <a:cs typeface="Roboto"/>
                  <a:sym typeface="Roboto"/>
                </a:rPr>
                <a:t>Kiểm tra chất lượng mối hàn (NDT – Non-Destructive Testing) là yêu cầu bắt buộc trong nhiều tiêu chuẩn quốc tế (ISO, ASME, AWS…).</a:t>
              </a:r>
            </a:p>
          </p:txBody>
        </p:sp>
      </p:grpSp>
      <p:sp>
        <p:nvSpPr>
          <p:cNvPr name="TextBox 16" id="16"/>
          <p:cNvSpPr txBox="true"/>
          <p:nvPr/>
        </p:nvSpPr>
        <p:spPr>
          <a:xfrm rot="0">
            <a:off x="4287410" y="8503800"/>
            <a:ext cx="12724033" cy="1099821"/>
          </a:xfrm>
          <a:prstGeom prst="rect">
            <a:avLst/>
          </a:prstGeom>
        </p:spPr>
        <p:txBody>
          <a:bodyPr anchor="t" rtlCol="false" tIns="0" lIns="0" bIns="0" rIns="0">
            <a:spAutoFit/>
          </a:bodyPr>
          <a:lstStyle/>
          <a:p>
            <a:pPr algn="ctr">
              <a:lnSpc>
                <a:spcPts val="4479"/>
              </a:lnSpc>
              <a:spcBef>
                <a:spcPct val="0"/>
              </a:spcBef>
            </a:pPr>
            <a:r>
              <a:rPr lang="en-US" sz="3199">
                <a:solidFill>
                  <a:srgbClr val="6CE5E8"/>
                </a:solidFill>
                <a:latin typeface="Canva Sans"/>
                <a:ea typeface="Canva Sans"/>
                <a:cs typeface="Canva Sans"/>
                <a:sym typeface="Canva Sans"/>
              </a:rPr>
              <a:t>Nhưng số</a:t>
            </a:r>
            <a:r>
              <a:rPr lang="en-US" sz="3199">
                <a:solidFill>
                  <a:srgbClr val="6CE5E8"/>
                </a:solidFill>
                <a:latin typeface="Canva Sans"/>
                <a:ea typeface="Canva Sans"/>
                <a:cs typeface="Canva Sans"/>
                <a:sym typeface="Canva Sans"/>
              </a:rPr>
              <a:t> lượng ảnh X-ray trong sản xuất lớn → khó kiểm hết bằng thủ công → tốn thời gian, dễ bỏ sót, phụ thuộc kinh nghiệm.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18288000" cy="10109527"/>
            <a:chOff x="0" y="0"/>
            <a:chExt cx="4816593" cy="2662592"/>
          </a:xfrm>
        </p:grpSpPr>
        <p:sp>
          <p:nvSpPr>
            <p:cNvPr name="Freeform 4" id="4"/>
            <p:cNvSpPr/>
            <p:nvPr/>
          </p:nvSpPr>
          <p:spPr>
            <a:xfrm flipH="false" flipV="false" rot="0">
              <a:off x="0" y="0"/>
              <a:ext cx="4816592" cy="2662592"/>
            </a:xfrm>
            <a:custGeom>
              <a:avLst/>
              <a:gdLst/>
              <a:ahLst/>
              <a:cxnLst/>
              <a:rect r="r" b="b" t="t" l="l"/>
              <a:pathLst>
                <a:path h="2662592" w="4816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name="TextBox 5" id="5"/>
            <p:cNvSpPr txBox="true"/>
            <p:nvPr/>
          </p:nvSpPr>
          <p:spPr>
            <a:xfrm>
              <a:off x="0" y="-38100"/>
              <a:ext cx="4816593" cy="2700692"/>
            </a:xfrm>
            <a:prstGeom prst="rect">
              <a:avLst/>
            </a:prstGeom>
          </p:spPr>
          <p:txBody>
            <a:bodyPr anchor="ctr" rtlCol="false" tIns="50800" lIns="50800" bIns="50800" rIns="50800"/>
            <a:lstStyle/>
            <a:p>
              <a:pPr algn="ctr">
                <a:lnSpc>
                  <a:spcPts val="2659"/>
                </a:lnSpc>
                <a:spcBef>
                  <a:spcPct val="0"/>
                </a:spcBef>
              </a:pPr>
            </a:p>
          </p:txBody>
        </p:sp>
      </p:grpSp>
      <p:sp>
        <p:nvSpPr>
          <p:cNvPr name="AutoShape 6" id="6"/>
          <p:cNvSpPr/>
          <p:nvPr/>
        </p:nvSpPr>
        <p:spPr>
          <a:xfrm>
            <a:off x="5897880" y="3312621"/>
            <a:ext cx="6492240" cy="0"/>
          </a:xfrm>
          <a:prstGeom prst="line">
            <a:avLst/>
          </a:prstGeom>
          <a:ln cap="flat" w="19050">
            <a:solidFill>
              <a:srgbClr val="40597C"/>
            </a:solidFill>
            <a:prstDash val="solid"/>
            <a:headEnd type="none" len="sm" w="sm"/>
            <a:tailEnd type="none" len="sm" w="sm"/>
          </a:ln>
        </p:spPr>
      </p:sp>
      <p:sp>
        <p:nvSpPr>
          <p:cNvPr name="AutoShape 7" id="7"/>
          <p:cNvSpPr/>
          <p:nvPr/>
        </p:nvSpPr>
        <p:spPr>
          <a:xfrm flipV="true">
            <a:off x="1426805" y="4653225"/>
            <a:ext cx="15167680" cy="6823"/>
          </a:xfrm>
          <a:prstGeom prst="line">
            <a:avLst/>
          </a:prstGeom>
          <a:ln cap="flat" w="38100">
            <a:gradFill>
              <a:gsLst>
                <a:gs pos="0">
                  <a:srgbClr val="203149">
                    <a:alpha val="100000"/>
                  </a:srgbClr>
                </a:gs>
                <a:gs pos="100000">
                  <a:srgbClr val="348BFF">
                    <a:alpha val="100000"/>
                  </a:srgbClr>
                </a:gs>
              </a:gsLst>
              <a:lin ang="0"/>
            </a:gradFill>
            <a:prstDash val="solid"/>
            <a:headEnd type="none" len="sm" w="sm"/>
            <a:tailEnd type="arrow" len="sm" w="med"/>
          </a:ln>
        </p:spPr>
      </p:sp>
      <p:sp>
        <p:nvSpPr>
          <p:cNvPr name="TextBox 8" id="8"/>
          <p:cNvSpPr txBox="true"/>
          <p:nvPr/>
        </p:nvSpPr>
        <p:spPr>
          <a:xfrm rot="0">
            <a:off x="3954273" y="1673681"/>
            <a:ext cx="10650499" cy="1135867"/>
          </a:xfrm>
          <a:prstGeom prst="rect">
            <a:avLst/>
          </a:prstGeom>
        </p:spPr>
        <p:txBody>
          <a:bodyPr anchor="t" rtlCol="false" tIns="0" lIns="0" bIns="0" rIns="0">
            <a:spAutoFit/>
          </a:bodyPr>
          <a:lstStyle/>
          <a:p>
            <a:pPr algn="ctr">
              <a:lnSpc>
                <a:spcPts val="9123"/>
              </a:lnSpc>
            </a:pPr>
            <a:r>
              <a:rPr lang="en-US" sz="6517" spc="-65">
                <a:solidFill>
                  <a:srgbClr val="348BFF"/>
                </a:solidFill>
                <a:latin typeface="Roboto"/>
                <a:ea typeface="Roboto"/>
                <a:cs typeface="Roboto"/>
                <a:sym typeface="Roboto"/>
              </a:rPr>
              <a:t>PHẠM VI ĐỀ TÀI</a:t>
            </a:r>
          </a:p>
        </p:txBody>
      </p:sp>
      <p:grpSp>
        <p:nvGrpSpPr>
          <p:cNvPr name="Group 9" id="9"/>
          <p:cNvGrpSpPr/>
          <p:nvPr/>
        </p:nvGrpSpPr>
        <p:grpSpPr>
          <a:xfrm rot="0">
            <a:off x="2582399" y="4525609"/>
            <a:ext cx="268877" cy="26887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8BFF"/>
            </a:solidFill>
            <a:ln w="38100" cap="sq">
              <a:gradFill>
                <a:gsLst>
                  <a:gs pos="0">
                    <a:srgbClr val="203149">
                      <a:alpha val="100000"/>
                    </a:srgbClr>
                  </a:gs>
                  <a:gs pos="100000">
                    <a:srgbClr val="348BFF">
                      <a:alpha val="100000"/>
                    </a:srgbClr>
                  </a:gs>
                </a:gsLst>
                <a:lin ang="0"/>
              </a:gra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5897880" y="4525609"/>
            <a:ext cx="268877" cy="268877"/>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4AEEB"/>
            </a:solidFill>
            <a:ln w="38100" cap="sq">
              <a:gradFill>
                <a:gsLst>
                  <a:gs pos="0">
                    <a:srgbClr val="203149">
                      <a:alpha val="100000"/>
                    </a:srgbClr>
                  </a:gs>
                  <a:gs pos="100000">
                    <a:srgbClr val="348BFF">
                      <a:alpha val="100000"/>
                    </a:srgbClr>
                  </a:gs>
                </a:gsLst>
                <a:lin ang="0"/>
              </a:gradFill>
              <a:prstDash val="solid"/>
              <a:miter/>
            </a:ln>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8876206" y="4518786"/>
            <a:ext cx="268877" cy="268877"/>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8BFF"/>
            </a:solidFill>
            <a:ln w="38100" cap="sq">
              <a:gradFill>
                <a:gsLst>
                  <a:gs pos="0">
                    <a:srgbClr val="203149">
                      <a:alpha val="100000"/>
                    </a:srgbClr>
                  </a:gs>
                  <a:gs pos="100000">
                    <a:srgbClr val="348BFF">
                      <a:alpha val="100000"/>
                    </a:srgbClr>
                  </a:gs>
                </a:gsLst>
                <a:lin ang="0"/>
              </a:gradFill>
              <a:prstDash val="solid"/>
              <a:miter/>
            </a:ln>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1929372" y="4518786"/>
            <a:ext cx="268877" cy="268877"/>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4AEEB"/>
            </a:solidFill>
            <a:ln w="38100" cap="sq">
              <a:gradFill>
                <a:gsLst>
                  <a:gs pos="0">
                    <a:srgbClr val="203149">
                      <a:alpha val="100000"/>
                    </a:srgbClr>
                  </a:gs>
                  <a:gs pos="100000">
                    <a:srgbClr val="348BFF">
                      <a:alpha val="100000"/>
                    </a:srgbClr>
                  </a:gs>
                </a:gsLst>
                <a:lin ang="0"/>
              </a:gradFill>
              <a:prstDash val="solid"/>
              <a:miter/>
            </a:ln>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14979549" y="4525609"/>
            <a:ext cx="268877" cy="268877"/>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8BFF"/>
            </a:solidFill>
            <a:ln w="38100" cap="sq">
              <a:gradFill>
                <a:gsLst>
                  <a:gs pos="0">
                    <a:srgbClr val="203149">
                      <a:alpha val="100000"/>
                    </a:srgbClr>
                  </a:gs>
                  <a:gs pos="100000">
                    <a:srgbClr val="348BFF">
                      <a:alpha val="100000"/>
                    </a:srgbClr>
                  </a:gs>
                </a:gsLst>
                <a:lin ang="0"/>
              </a:gradFill>
              <a:prstDash val="solid"/>
              <a:miter/>
            </a:ln>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1628405" y="3855755"/>
            <a:ext cx="2176865" cy="504825"/>
          </a:xfrm>
          <a:prstGeom prst="rect">
            <a:avLst/>
          </a:prstGeom>
        </p:spPr>
        <p:txBody>
          <a:bodyPr anchor="t" rtlCol="false" tIns="0" lIns="0" bIns="0" rIns="0">
            <a:spAutoFit/>
          </a:bodyPr>
          <a:lstStyle/>
          <a:p>
            <a:pPr algn="ctr">
              <a:lnSpc>
                <a:spcPts val="4199"/>
              </a:lnSpc>
            </a:pPr>
            <a:r>
              <a:rPr lang="en-US" sz="2999">
                <a:solidFill>
                  <a:srgbClr val="348BFF"/>
                </a:solidFill>
                <a:latin typeface="Mokoto"/>
                <a:ea typeface="Mokoto"/>
                <a:cs typeface="Mokoto"/>
                <a:sym typeface="Mokoto"/>
              </a:rPr>
              <a:t>1</a:t>
            </a:r>
          </a:p>
        </p:txBody>
      </p:sp>
      <p:sp>
        <p:nvSpPr>
          <p:cNvPr name="TextBox 25" id="25"/>
          <p:cNvSpPr txBox="true"/>
          <p:nvPr/>
        </p:nvSpPr>
        <p:spPr>
          <a:xfrm rot="0">
            <a:off x="5032061" y="3855755"/>
            <a:ext cx="2176865" cy="504825"/>
          </a:xfrm>
          <a:prstGeom prst="rect">
            <a:avLst/>
          </a:prstGeom>
        </p:spPr>
        <p:txBody>
          <a:bodyPr anchor="t" rtlCol="false" tIns="0" lIns="0" bIns="0" rIns="0">
            <a:spAutoFit/>
          </a:bodyPr>
          <a:lstStyle/>
          <a:p>
            <a:pPr algn="ctr">
              <a:lnSpc>
                <a:spcPts val="4199"/>
              </a:lnSpc>
            </a:pPr>
            <a:r>
              <a:rPr lang="en-US" sz="2999">
                <a:solidFill>
                  <a:srgbClr val="84AEEB"/>
                </a:solidFill>
                <a:latin typeface="Mokoto"/>
                <a:ea typeface="Mokoto"/>
                <a:cs typeface="Mokoto"/>
                <a:sym typeface="Mokoto"/>
              </a:rPr>
              <a:t>2</a:t>
            </a:r>
          </a:p>
        </p:txBody>
      </p:sp>
      <p:sp>
        <p:nvSpPr>
          <p:cNvPr name="TextBox 26" id="26"/>
          <p:cNvSpPr txBox="true"/>
          <p:nvPr/>
        </p:nvSpPr>
        <p:spPr>
          <a:xfrm rot="0">
            <a:off x="7922212" y="3855755"/>
            <a:ext cx="2176865" cy="504825"/>
          </a:xfrm>
          <a:prstGeom prst="rect">
            <a:avLst/>
          </a:prstGeom>
        </p:spPr>
        <p:txBody>
          <a:bodyPr anchor="t" rtlCol="false" tIns="0" lIns="0" bIns="0" rIns="0">
            <a:spAutoFit/>
          </a:bodyPr>
          <a:lstStyle/>
          <a:p>
            <a:pPr algn="ctr">
              <a:lnSpc>
                <a:spcPts val="4199"/>
              </a:lnSpc>
            </a:pPr>
            <a:r>
              <a:rPr lang="en-US" sz="2999">
                <a:solidFill>
                  <a:srgbClr val="348BFF"/>
                </a:solidFill>
                <a:latin typeface="Mokoto"/>
                <a:ea typeface="Mokoto"/>
                <a:cs typeface="Mokoto"/>
                <a:sym typeface="Mokoto"/>
              </a:rPr>
              <a:t>3</a:t>
            </a:r>
          </a:p>
        </p:txBody>
      </p:sp>
      <p:sp>
        <p:nvSpPr>
          <p:cNvPr name="TextBox 27" id="27"/>
          <p:cNvSpPr txBox="true"/>
          <p:nvPr/>
        </p:nvSpPr>
        <p:spPr>
          <a:xfrm rot="0">
            <a:off x="10975378" y="3855755"/>
            <a:ext cx="2176865" cy="504825"/>
          </a:xfrm>
          <a:prstGeom prst="rect">
            <a:avLst/>
          </a:prstGeom>
        </p:spPr>
        <p:txBody>
          <a:bodyPr anchor="t" rtlCol="false" tIns="0" lIns="0" bIns="0" rIns="0">
            <a:spAutoFit/>
          </a:bodyPr>
          <a:lstStyle/>
          <a:p>
            <a:pPr algn="ctr">
              <a:lnSpc>
                <a:spcPts val="4199"/>
              </a:lnSpc>
            </a:pPr>
            <a:r>
              <a:rPr lang="en-US" sz="2999">
                <a:solidFill>
                  <a:srgbClr val="84AEEB"/>
                </a:solidFill>
                <a:latin typeface="Mokoto"/>
                <a:ea typeface="Mokoto"/>
                <a:cs typeface="Mokoto"/>
                <a:sym typeface="Mokoto"/>
              </a:rPr>
              <a:t>4</a:t>
            </a:r>
          </a:p>
        </p:txBody>
      </p:sp>
      <p:sp>
        <p:nvSpPr>
          <p:cNvPr name="TextBox 28" id="28"/>
          <p:cNvSpPr txBox="true"/>
          <p:nvPr/>
        </p:nvSpPr>
        <p:spPr>
          <a:xfrm rot="0">
            <a:off x="13971393" y="3855755"/>
            <a:ext cx="2176865" cy="504825"/>
          </a:xfrm>
          <a:prstGeom prst="rect">
            <a:avLst/>
          </a:prstGeom>
        </p:spPr>
        <p:txBody>
          <a:bodyPr anchor="t" rtlCol="false" tIns="0" lIns="0" bIns="0" rIns="0">
            <a:spAutoFit/>
          </a:bodyPr>
          <a:lstStyle/>
          <a:p>
            <a:pPr algn="ctr">
              <a:lnSpc>
                <a:spcPts val="4199"/>
              </a:lnSpc>
            </a:pPr>
            <a:r>
              <a:rPr lang="en-US" sz="2999">
                <a:solidFill>
                  <a:srgbClr val="348BFF"/>
                </a:solidFill>
                <a:latin typeface="Mokoto"/>
                <a:ea typeface="Mokoto"/>
                <a:cs typeface="Mokoto"/>
                <a:sym typeface="Mokoto"/>
              </a:rPr>
              <a:t>5</a:t>
            </a:r>
          </a:p>
        </p:txBody>
      </p:sp>
      <p:sp>
        <p:nvSpPr>
          <p:cNvPr name="TextBox 29" id="29"/>
          <p:cNvSpPr txBox="true"/>
          <p:nvPr/>
        </p:nvSpPr>
        <p:spPr>
          <a:xfrm rot="0">
            <a:off x="7806674" y="5086350"/>
            <a:ext cx="2587235" cy="4274820"/>
          </a:xfrm>
          <a:prstGeom prst="rect">
            <a:avLst/>
          </a:prstGeom>
        </p:spPr>
        <p:txBody>
          <a:bodyPr anchor="t" rtlCol="false" tIns="0" lIns="0" bIns="0" rIns="0">
            <a:spAutoFit/>
          </a:bodyPr>
          <a:lstStyle/>
          <a:p>
            <a:pPr algn="ctr">
              <a:lnSpc>
                <a:spcPts val="3779"/>
              </a:lnSpc>
            </a:pPr>
            <a:r>
              <a:rPr lang="en-US" sz="2700">
                <a:solidFill>
                  <a:srgbClr val="FFFFFF"/>
                </a:solidFill>
                <a:latin typeface="Roboto"/>
                <a:ea typeface="Roboto"/>
                <a:cs typeface="Roboto"/>
                <a:sym typeface="Roboto"/>
              </a:rPr>
              <a:t>Ứng dụng mô hình được chọn vào phát hiện, phân loại và khoanh vùng các khuyết tật trong mối hàn trên ảnh X-ray một cách tự động.</a:t>
            </a:r>
          </a:p>
        </p:txBody>
      </p:sp>
      <p:sp>
        <p:nvSpPr>
          <p:cNvPr name="TextBox 30" id="30"/>
          <p:cNvSpPr txBox="true"/>
          <p:nvPr/>
        </p:nvSpPr>
        <p:spPr>
          <a:xfrm rot="0">
            <a:off x="10975378" y="5086350"/>
            <a:ext cx="2176865" cy="3798570"/>
          </a:xfrm>
          <a:prstGeom prst="rect">
            <a:avLst/>
          </a:prstGeom>
        </p:spPr>
        <p:txBody>
          <a:bodyPr anchor="t" rtlCol="false" tIns="0" lIns="0" bIns="0" rIns="0">
            <a:spAutoFit/>
          </a:bodyPr>
          <a:lstStyle/>
          <a:p>
            <a:pPr algn="ctr">
              <a:lnSpc>
                <a:spcPts val="3779"/>
              </a:lnSpc>
            </a:pPr>
            <a:r>
              <a:rPr lang="en-US" sz="2700">
                <a:solidFill>
                  <a:srgbClr val="FFFFFF"/>
                </a:solidFill>
                <a:latin typeface="Roboto"/>
                <a:ea typeface="Roboto"/>
                <a:cs typeface="Roboto"/>
                <a:sym typeface="Roboto"/>
              </a:rPr>
              <a:t>Hỗ trợ kỹ sư kiểm định bằng cách trực quan hóa kết quả (ảnh X-ray kèm khung và nhãn lỗi).</a:t>
            </a:r>
          </a:p>
        </p:txBody>
      </p:sp>
      <p:sp>
        <p:nvSpPr>
          <p:cNvPr name="TextBox 31" id="31"/>
          <p:cNvSpPr txBox="true"/>
          <p:nvPr/>
        </p:nvSpPr>
        <p:spPr>
          <a:xfrm rot="0">
            <a:off x="14025555" y="5086350"/>
            <a:ext cx="2176865" cy="4274820"/>
          </a:xfrm>
          <a:prstGeom prst="rect">
            <a:avLst/>
          </a:prstGeom>
        </p:spPr>
        <p:txBody>
          <a:bodyPr anchor="t" rtlCol="false" tIns="0" lIns="0" bIns="0" rIns="0">
            <a:spAutoFit/>
          </a:bodyPr>
          <a:lstStyle/>
          <a:p>
            <a:pPr algn="ctr">
              <a:lnSpc>
                <a:spcPts val="3779"/>
              </a:lnSpc>
            </a:pPr>
            <a:r>
              <a:rPr lang="en-US" sz="2700">
                <a:solidFill>
                  <a:srgbClr val="FFFFFF"/>
                </a:solidFill>
                <a:latin typeface="Roboto"/>
                <a:ea typeface="Roboto"/>
                <a:cs typeface="Roboto"/>
                <a:sym typeface="Roboto"/>
              </a:rPr>
              <a:t>Đề xuất khả năng tích hợp vào quy trình NDT công nghiệp, làm nền tảng cho hệ thống kiểm định tự động.</a:t>
            </a:r>
          </a:p>
          <a:p>
            <a:pPr algn="ctr">
              <a:lnSpc>
                <a:spcPts val="3779"/>
              </a:lnSpc>
            </a:pPr>
          </a:p>
        </p:txBody>
      </p:sp>
      <p:sp>
        <p:nvSpPr>
          <p:cNvPr name="Freeform 32" id="32"/>
          <p:cNvSpPr/>
          <p:nvPr/>
        </p:nvSpPr>
        <p:spPr>
          <a:xfrm flipH="true" flipV="true" rot="0">
            <a:off x="-719344" y="8954135"/>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3" id="33"/>
          <p:cNvSpPr/>
          <p:nvPr/>
        </p:nvSpPr>
        <p:spPr>
          <a:xfrm flipH="true" flipV="false" rot="-5400000">
            <a:off x="16666806" y="-1097009"/>
            <a:ext cx="2685507" cy="2563439"/>
          </a:xfrm>
          <a:custGeom>
            <a:avLst/>
            <a:gdLst/>
            <a:ahLst/>
            <a:cxnLst/>
            <a:rect r="r" b="b" t="t" l="l"/>
            <a:pathLst>
              <a:path h="2563439" w="2685507">
                <a:moveTo>
                  <a:pt x="2685507" y="0"/>
                </a:moveTo>
                <a:lnTo>
                  <a:pt x="0" y="0"/>
                </a:lnTo>
                <a:lnTo>
                  <a:pt x="0" y="2563439"/>
                </a:lnTo>
                <a:lnTo>
                  <a:pt x="2685507" y="2563439"/>
                </a:lnTo>
                <a:lnTo>
                  <a:pt x="2685507"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4" id="34"/>
          <p:cNvGrpSpPr/>
          <p:nvPr/>
        </p:nvGrpSpPr>
        <p:grpSpPr>
          <a:xfrm rot="0">
            <a:off x="626738" y="550533"/>
            <a:ext cx="2291645" cy="652047"/>
            <a:chOff x="0" y="0"/>
            <a:chExt cx="3055526" cy="869397"/>
          </a:xfrm>
        </p:grpSpPr>
        <p:grpSp>
          <p:nvGrpSpPr>
            <p:cNvPr name="Group 35" id="35"/>
            <p:cNvGrpSpPr/>
            <p:nvPr/>
          </p:nvGrpSpPr>
          <p:grpSpPr>
            <a:xfrm rot="0">
              <a:off x="0" y="0"/>
              <a:ext cx="747138" cy="869397"/>
              <a:chOff x="0" y="0"/>
              <a:chExt cx="698500" cy="812800"/>
            </a:xfrm>
          </p:grpSpPr>
          <p:sp>
            <p:nvSpPr>
              <p:cNvPr name="Freeform 36" id="36"/>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000000">
                  <a:alpha val="0"/>
                </a:srgbClr>
              </a:solidFill>
              <a:ln w="95250" cap="sq">
                <a:solidFill>
                  <a:srgbClr val="348BFF"/>
                </a:solidFill>
                <a:prstDash val="solid"/>
                <a:miter/>
              </a:ln>
            </p:spPr>
          </p:sp>
          <p:sp>
            <p:nvSpPr>
              <p:cNvPr name="TextBox 37" id="37"/>
              <p:cNvSpPr txBox="true"/>
              <p:nvPr/>
            </p:nvSpPr>
            <p:spPr>
              <a:xfrm>
                <a:off x="0" y="101600"/>
                <a:ext cx="698500" cy="571500"/>
              </a:xfrm>
              <a:prstGeom prst="rect">
                <a:avLst/>
              </a:prstGeom>
            </p:spPr>
            <p:txBody>
              <a:bodyPr anchor="ctr" rtlCol="false" tIns="27034" lIns="27034" bIns="27034" rIns="27034"/>
              <a:lstStyle/>
              <a:p>
                <a:pPr algn="ctr">
                  <a:lnSpc>
                    <a:spcPts val="2659"/>
                  </a:lnSpc>
                </a:pPr>
              </a:p>
            </p:txBody>
          </p:sp>
        </p:grpSp>
        <p:sp>
          <p:nvSpPr>
            <p:cNvPr name="TextBox 38" id="38"/>
            <p:cNvSpPr txBox="true"/>
            <p:nvPr/>
          </p:nvSpPr>
          <p:spPr>
            <a:xfrm rot="0">
              <a:off x="954234" y="93383"/>
              <a:ext cx="2101293" cy="776014"/>
            </a:xfrm>
            <a:prstGeom prst="rect">
              <a:avLst/>
            </a:prstGeom>
          </p:spPr>
          <p:txBody>
            <a:bodyPr anchor="t" rtlCol="false" tIns="0" lIns="0" bIns="0" rIns="0">
              <a:spAutoFit/>
            </a:bodyPr>
            <a:lstStyle/>
            <a:p>
              <a:pPr algn="l">
                <a:lnSpc>
                  <a:spcPts val="2235"/>
                </a:lnSpc>
              </a:pPr>
              <a:r>
                <a:rPr lang="en-US" sz="1862">
                  <a:solidFill>
                    <a:srgbClr val="FFFFFF"/>
                  </a:solidFill>
                  <a:latin typeface="Mokoto"/>
                  <a:ea typeface="Mokoto"/>
                  <a:cs typeface="Mokoto"/>
                  <a:sym typeface="Mokoto"/>
                </a:rPr>
                <a:t>Company</a:t>
              </a:r>
            </a:p>
            <a:p>
              <a:pPr algn="l">
                <a:lnSpc>
                  <a:spcPts val="2235"/>
                </a:lnSpc>
              </a:pPr>
              <a:r>
                <a:rPr lang="en-US" sz="1862">
                  <a:solidFill>
                    <a:srgbClr val="FFFFFF"/>
                  </a:solidFill>
                  <a:latin typeface="Mokoto"/>
                  <a:ea typeface="Mokoto"/>
                  <a:cs typeface="Mokoto"/>
                  <a:sym typeface="Mokoto"/>
                </a:rPr>
                <a:t>Logo</a:t>
              </a:r>
            </a:p>
          </p:txBody>
        </p:sp>
      </p:grpSp>
      <p:sp>
        <p:nvSpPr>
          <p:cNvPr name="TextBox 39" id="39"/>
          <p:cNvSpPr txBox="true"/>
          <p:nvPr/>
        </p:nvSpPr>
        <p:spPr>
          <a:xfrm rot="0">
            <a:off x="1426805" y="5013562"/>
            <a:ext cx="2848943" cy="3798570"/>
          </a:xfrm>
          <a:prstGeom prst="rect">
            <a:avLst/>
          </a:prstGeom>
        </p:spPr>
        <p:txBody>
          <a:bodyPr anchor="t" rtlCol="false" tIns="0" lIns="0" bIns="0" rIns="0">
            <a:spAutoFit/>
          </a:bodyPr>
          <a:lstStyle/>
          <a:p>
            <a:pPr algn="ctr">
              <a:lnSpc>
                <a:spcPts val="3779"/>
              </a:lnSpc>
            </a:pPr>
            <a:r>
              <a:rPr lang="en-US" sz="2700">
                <a:solidFill>
                  <a:srgbClr val="FFFFFF"/>
                </a:solidFill>
                <a:latin typeface="Roboto"/>
                <a:ea typeface="Roboto"/>
                <a:cs typeface="Roboto"/>
                <a:sym typeface="Roboto"/>
              </a:rPr>
              <a:t>Nghiên cứu đặc điểm khuyết tật mối hàn trên ảnh X-ray, từ đó xây dựng và chuẩn hóa dữ liệu phục vụ huấn luyện mô hình.</a:t>
            </a:r>
          </a:p>
        </p:txBody>
      </p:sp>
      <p:sp>
        <p:nvSpPr>
          <p:cNvPr name="TextBox 40" id="40"/>
          <p:cNvSpPr txBox="true"/>
          <p:nvPr/>
        </p:nvSpPr>
        <p:spPr>
          <a:xfrm rot="0">
            <a:off x="4800985" y="5013562"/>
            <a:ext cx="2407941" cy="4274820"/>
          </a:xfrm>
          <a:prstGeom prst="rect">
            <a:avLst/>
          </a:prstGeom>
        </p:spPr>
        <p:txBody>
          <a:bodyPr anchor="t" rtlCol="false" tIns="0" lIns="0" bIns="0" rIns="0">
            <a:spAutoFit/>
          </a:bodyPr>
          <a:lstStyle/>
          <a:p>
            <a:pPr algn="ctr">
              <a:lnSpc>
                <a:spcPts val="3779"/>
              </a:lnSpc>
            </a:pPr>
            <a:r>
              <a:rPr lang="en-US" sz="2700">
                <a:solidFill>
                  <a:srgbClr val="FFFFFF"/>
                </a:solidFill>
                <a:latin typeface="Roboto"/>
                <a:ea typeface="Roboto"/>
                <a:cs typeface="Roboto"/>
                <a:sym typeface="Roboto"/>
              </a:rPr>
              <a:t>Huấn luyện và so sánh các mô hình học sâu YOLOv8, YOLOv11x và RT-DETR từ đó chọn mô hình tối ưu phát triển thành ứng dụng</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18288000" cy="10109527"/>
            <a:chOff x="0" y="0"/>
            <a:chExt cx="4816593" cy="2662592"/>
          </a:xfrm>
        </p:grpSpPr>
        <p:sp>
          <p:nvSpPr>
            <p:cNvPr name="Freeform 4" id="4"/>
            <p:cNvSpPr/>
            <p:nvPr/>
          </p:nvSpPr>
          <p:spPr>
            <a:xfrm flipH="false" flipV="false" rot="0">
              <a:off x="0" y="0"/>
              <a:ext cx="4816592" cy="2662592"/>
            </a:xfrm>
            <a:custGeom>
              <a:avLst/>
              <a:gdLst/>
              <a:ahLst/>
              <a:cxnLst/>
              <a:rect r="r" b="b" t="t" l="l"/>
              <a:pathLst>
                <a:path h="2662592" w="4816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name="TextBox 5" id="5"/>
            <p:cNvSpPr txBox="true"/>
            <p:nvPr/>
          </p:nvSpPr>
          <p:spPr>
            <a:xfrm>
              <a:off x="0" y="-38100"/>
              <a:ext cx="4816593" cy="2700692"/>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true" flipV="false" rot="-2407264">
            <a:off x="13760017" y="6817824"/>
            <a:ext cx="4768277" cy="4551537"/>
          </a:xfrm>
          <a:custGeom>
            <a:avLst/>
            <a:gdLst/>
            <a:ahLst/>
            <a:cxnLst/>
            <a:rect r="r" b="b" t="t" l="l"/>
            <a:pathLst>
              <a:path h="4551537" w="4768277">
                <a:moveTo>
                  <a:pt x="4768277" y="0"/>
                </a:moveTo>
                <a:lnTo>
                  <a:pt x="0" y="0"/>
                </a:lnTo>
                <a:lnTo>
                  <a:pt x="0" y="4551537"/>
                </a:lnTo>
                <a:lnTo>
                  <a:pt x="4768277" y="4551537"/>
                </a:lnTo>
                <a:lnTo>
                  <a:pt x="4768277"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3275">
            <a:off x="12646576" y="-298239"/>
            <a:ext cx="6995160" cy="5246370"/>
            <a:chOff x="0" y="0"/>
            <a:chExt cx="812800" cy="609600"/>
          </a:xfrm>
        </p:grpSpPr>
        <p:sp>
          <p:nvSpPr>
            <p:cNvPr name="Freeform 8" id="8"/>
            <p:cNvSpPr/>
            <p:nvPr/>
          </p:nvSpPr>
          <p:spPr>
            <a:xfrm flipH="false" flipV="false" rot="0">
              <a:off x="0" y="0"/>
              <a:ext cx="812800" cy="609600"/>
            </a:xfrm>
            <a:custGeom>
              <a:avLst/>
              <a:gdLst/>
              <a:ahLst/>
              <a:cxnLst/>
              <a:rect r="r" b="b" t="t" l="l"/>
              <a:pathLst>
                <a:path h="609600" w="812800">
                  <a:moveTo>
                    <a:pt x="203200" y="0"/>
                  </a:moveTo>
                  <a:lnTo>
                    <a:pt x="812800" y="0"/>
                  </a:lnTo>
                  <a:lnTo>
                    <a:pt x="609600" y="609600"/>
                  </a:lnTo>
                  <a:lnTo>
                    <a:pt x="0" y="609600"/>
                  </a:lnTo>
                  <a:lnTo>
                    <a:pt x="203200" y="0"/>
                  </a:lnTo>
                  <a:close/>
                </a:path>
              </a:pathLst>
            </a:custGeom>
            <a:blipFill>
              <a:blip r:embed="rId5"/>
              <a:stretch>
                <a:fillRect l="0" t="0" r="-13324" b="0"/>
              </a:stretch>
            </a:blipFill>
          </p:spPr>
        </p:sp>
      </p:grpSp>
      <p:grpSp>
        <p:nvGrpSpPr>
          <p:cNvPr name="Group 9" id="9"/>
          <p:cNvGrpSpPr/>
          <p:nvPr/>
        </p:nvGrpSpPr>
        <p:grpSpPr>
          <a:xfrm rot="3275">
            <a:off x="9023612" y="5146831"/>
            <a:ext cx="6995160" cy="5246370"/>
            <a:chOff x="0" y="0"/>
            <a:chExt cx="812800" cy="609600"/>
          </a:xfrm>
        </p:grpSpPr>
        <p:sp>
          <p:nvSpPr>
            <p:cNvPr name="Freeform 10" id="10"/>
            <p:cNvSpPr/>
            <p:nvPr/>
          </p:nvSpPr>
          <p:spPr>
            <a:xfrm flipH="false" flipV="false" rot="0">
              <a:off x="0" y="0"/>
              <a:ext cx="812800" cy="609600"/>
            </a:xfrm>
            <a:custGeom>
              <a:avLst/>
              <a:gdLst/>
              <a:ahLst/>
              <a:cxnLst/>
              <a:rect r="r" b="b" t="t" l="l"/>
              <a:pathLst>
                <a:path h="609600" w="812800">
                  <a:moveTo>
                    <a:pt x="203200" y="0"/>
                  </a:moveTo>
                  <a:lnTo>
                    <a:pt x="812800" y="0"/>
                  </a:lnTo>
                  <a:lnTo>
                    <a:pt x="609600" y="609600"/>
                  </a:lnTo>
                  <a:lnTo>
                    <a:pt x="0" y="609600"/>
                  </a:lnTo>
                  <a:lnTo>
                    <a:pt x="203200" y="0"/>
                  </a:lnTo>
                  <a:close/>
                </a:path>
              </a:pathLst>
            </a:custGeom>
            <a:blipFill>
              <a:blip r:embed="rId6"/>
              <a:stretch>
                <a:fillRect l="-6739" t="0" r="-5619" b="0"/>
              </a:stretch>
            </a:blipFill>
          </p:spPr>
        </p:sp>
      </p:grpSp>
      <p:sp>
        <p:nvSpPr>
          <p:cNvPr name="AutoShape 11" id="11"/>
          <p:cNvSpPr/>
          <p:nvPr/>
        </p:nvSpPr>
        <p:spPr>
          <a:xfrm>
            <a:off x="1277271" y="7286174"/>
            <a:ext cx="6492240" cy="0"/>
          </a:xfrm>
          <a:prstGeom prst="line">
            <a:avLst/>
          </a:prstGeom>
          <a:ln cap="flat" w="19050">
            <a:solidFill>
              <a:srgbClr val="40597C"/>
            </a:solidFill>
            <a:prstDash val="solid"/>
            <a:headEnd type="none" len="sm" w="sm"/>
            <a:tailEnd type="none" len="sm" w="sm"/>
          </a:ln>
        </p:spPr>
      </p:sp>
      <p:sp>
        <p:nvSpPr>
          <p:cNvPr name="Freeform 12" id="12"/>
          <p:cNvSpPr/>
          <p:nvPr/>
        </p:nvSpPr>
        <p:spPr>
          <a:xfrm flipH="true" flipV="false" rot="-10792239">
            <a:off x="-724606" y="8954135"/>
            <a:ext cx="2702689" cy="2579840"/>
          </a:xfrm>
          <a:custGeom>
            <a:avLst/>
            <a:gdLst/>
            <a:ahLst/>
            <a:cxnLst/>
            <a:rect r="r" b="b" t="t" l="l"/>
            <a:pathLst>
              <a:path h="2579840" w="2702689">
                <a:moveTo>
                  <a:pt x="2702689" y="0"/>
                </a:moveTo>
                <a:lnTo>
                  <a:pt x="0" y="0"/>
                </a:lnTo>
                <a:lnTo>
                  <a:pt x="0" y="2579840"/>
                </a:lnTo>
                <a:lnTo>
                  <a:pt x="2702689" y="2579840"/>
                </a:lnTo>
                <a:lnTo>
                  <a:pt x="2702689"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626738" y="550533"/>
            <a:ext cx="560353" cy="652047"/>
            <a:chOff x="0" y="0"/>
            <a:chExt cx="698500" cy="812800"/>
          </a:xfrm>
        </p:grpSpPr>
        <p:sp>
          <p:nvSpPr>
            <p:cNvPr name="Freeform 14" id="14"/>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000000">
                <a:alpha val="0"/>
              </a:srgbClr>
            </a:solidFill>
            <a:ln w="95250" cap="sq">
              <a:solidFill>
                <a:srgbClr val="348BFF"/>
              </a:solidFill>
              <a:prstDash val="solid"/>
              <a:miter/>
            </a:ln>
          </p:spPr>
        </p:sp>
        <p:sp>
          <p:nvSpPr>
            <p:cNvPr name="TextBox 15" id="15"/>
            <p:cNvSpPr txBox="true"/>
            <p:nvPr/>
          </p:nvSpPr>
          <p:spPr>
            <a:xfrm>
              <a:off x="0" y="101600"/>
              <a:ext cx="698500" cy="571500"/>
            </a:xfrm>
            <a:prstGeom prst="rect">
              <a:avLst/>
            </a:prstGeom>
          </p:spPr>
          <p:txBody>
            <a:bodyPr anchor="ctr" rtlCol="false" tIns="27034" lIns="27034" bIns="27034" rIns="27034"/>
            <a:lstStyle/>
            <a:p>
              <a:pPr algn="ctr">
                <a:lnSpc>
                  <a:spcPts val="2659"/>
                </a:lnSpc>
              </a:pPr>
            </a:p>
          </p:txBody>
        </p:sp>
      </p:grpSp>
      <p:sp>
        <p:nvSpPr>
          <p:cNvPr name="TextBox 16" id="16"/>
          <p:cNvSpPr txBox="true"/>
          <p:nvPr/>
        </p:nvSpPr>
        <p:spPr>
          <a:xfrm rot="0">
            <a:off x="256065" y="4241349"/>
            <a:ext cx="9903211" cy="1377949"/>
          </a:xfrm>
          <a:prstGeom prst="rect">
            <a:avLst/>
          </a:prstGeom>
        </p:spPr>
        <p:txBody>
          <a:bodyPr anchor="t" rtlCol="false" tIns="0" lIns="0" bIns="0" rIns="0">
            <a:spAutoFit/>
          </a:bodyPr>
          <a:lstStyle/>
          <a:p>
            <a:pPr algn="ctr">
              <a:lnSpc>
                <a:spcPts val="11200"/>
              </a:lnSpc>
            </a:pPr>
            <a:r>
              <a:rPr lang="en-US" sz="8000" spc="-80">
                <a:solidFill>
                  <a:srgbClr val="348BFF"/>
                </a:solidFill>
                <a:latin typeface="Roboto"/>
                <a:ea typeface="Roboto"/>
                <a:cs typeface="Roboto"/>
                <a:sym typeface="Roboto"/>
              </a:rPr>
              <a:t>DỮ LIỆU</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255553" y="0"/>
            <a:ext cx="18288000" cy="10109527"/>
            <a:chOff x="0" y="0"/>
            <a:chExt cx="4816593" cy="2662592"/>
          </a:xfrm>
        </p:grpSpPr>
        <p:sp>
          <p:nvSpPr>
            <p:cNvPr name="Freeform 4" id="4"/>
            <p:cNvSpPr/>
            <p:nvPr/>
          </p:nvSpPr>
          <p:spPr>
            <a:xfrm flipH="false" flipV="false" rot="0">
              <a:off x="0" y="0"/>
              <a:ext cx="4816592" cy="2662592"/>
            </a:xfrm>
            <a:custGeom>
              <a:avLst/>
              <a:gdLst/>
              <a:ahLst/>
              <a:cxnLst/>
              <a:rect r="r" b="b" t="t" l="l"/>
              <a:pathLst>
                <a:path h="2662592" w="4816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name="TextBox 5" id="5"/>
            <p:cNvSpPr txBox="true"/>
            <p:nvPr/>
          </p:nvSpPr>
          <p:spPr>
            <a:xfrm>
              <a:off x="0" y="-104775"/>
              <a:ext cx="4816593" cy="2767367"/>
            </a:xfrm>
            <a:prstGeom prst="rect">
              <a:avLst/>
            </a:prstGeom>
          </p:spPr>
          <p:txBody>
            <a:bodyPr anchor="ctr" rtlCol="false" tIns="50800" lIns="50800" bIns="50800" rIns="50800"/>
            <a:lstStyle/>
            <a:p>
              <a:pPr algn="ctr">
                <a:lnSpc>
                  <a:spcPts val="7559"/>
                </a:lnSpc>
                <a:spcBef>
                  <a:spcPct val="0"/>
                </a:spcBef>
              </a:pPr>
            </a:p>
          </p:txBody>
        </p:sp>
      </p:grpSp>
      <p:sp>
        <p:nvSpPr>
          <p:cNvPr name="Freeform 6" id="6"/>
          <p:cNvSpPr/>
          <p:nvPr/>
        </p:nvSpPr>
        <p:spPr>
          <a:xfrm flipH="true" flipV="true" rot="-10792239">
            <a:off x="-724606" y="8954135"/>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true" flipV="true" rot="-10792239">
            <a:off x="16612207" y="-936064"/>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a:grpSpLocks noChangeAspect="true"/>
          </p:cNvGrpSpPr>
          <p:nvPr/>
        </p:nvGrpSpPr>
        <p:grpSpPr>
          <a:xfrm rot="0">
            <a:off x="1030919" y="2921068"/>
            <a:ext cx="3143198" cy="3143198"/>
            <a:chOff x="63500" y="63500"/>
            <a:chExt cx="1130300" cy="1130300"/>
          </a:xfrm>
        </p:grpSpPr>
        <p:sp>
          <p:nvSpPr>
            <p:cNvPr name="Freeform 9" id="9"/>
            <p:cNvSpPr/>
            <p:nvPr/>
          </p:nvSpPr>
          <p:spPr>
            <a:xfrm flipH="false" flipV="false" rot="0">
              <a:off x="63500" y="63500"/>
              <a:ext cx="1130300" cy="1130300"/>
            </a:xfrm>
            <a:custGeom>
              <a:avLst/>
              <a:gdLst/>
              <a:ahLst/>
              <a:cxnLst/>
              <a:rect r="r" b="b" t="t" l="l"/>
              <a:pathLst>
                <a:path h="1130300" w="1130300">
                  <a:moveTo>
                    <a:pt x="215900" y="0"/>
                  </a:moveTo>
                  <a:lnTo>
                    <a:pt x="1130300" y="0"/>
                  </a:lnTo>
                  <a:lnTo>
                    <a:pt x="1130300" y="1130300"/>
                  </a:lnTo>
                  <a:lnTo>
                    <a:pt x="0" y="1130300"/>
                  </a:lnTo>
                  <a:lnTo>
                    <a:pt x="0" y="215900"/>
                  </a:lnTo>
                  <a:close/>
                </a:path>
              </a:pathLst>
            </a:custGeom>
            <a:blipFill>
              <a:blip r:embed="rId5"/>
              <a:stretch>
                <a:fillRect l="-22028" t="-5617" r="-10792" b="5617"/>
              </a:stretch>
            </a:blipFill>
          </p:spPr>
        </p:sp>
      </p:grpSp>
      <p:grpSp>
        <p:nvGrpSpPr>
          <p:cNvPr name="Group 10" id="10"/>
          <p:cNvGrpSpPr>
            <a:grpSpLocks noChangeAspect="true"/>
          </p:cNvGrpSpPr>
          <p:nvPr/>
        </p:nvGrpSpPr>
        <p:grpSpPr>
          <a:xfrm rot="0">
            <a:off x="5430159" y="2921068"/>
            <a:ext cx="3143198" cy="3143198"/>
            <a:chOff x="63500" y="63500"/>
            <a:chExt cx="1130300" cy="1130300"/>
          </a:xfrm>
        </p:grpSpPr>
        <p:sp>
          <p:nvSpPr>
            <p:cNvPr name="Freeform 11" id="11"/>
            <p:cNvSpPr/>
            <p:nvPr/>
          </p:nvSpPr>
          <p:spPr>
            <a:xfrm flipH="false" flipV="false" rot="0">
              <a:off x="63500" y="63500"/>
              <a:ext cx="1130300" cy="1130300"/>
            </a:xfrm>
            <a:custGeom>
              <a:avLst/>
              <a:gdLst/>
              <a:ahLst/>
              <a:cxnLst/>
              <a:rect r="r" b="b" t="t" l="l"/>
              <a:pathLst>
                <a:path h="1130300" w="1130300">
                  <a:moveTo>
                    <a:pt x="215900" y="0"/>
                  </a:moveTo>
                  <a:lnTo>
                    <a:pt x="1130300" y="0"/>
                  </a:lnTo>
                  <a:lnTo>
                    <a:pt x="1130300" y="1130300"/>
                  </a:lnTo>
                  <a:lnTo>
                    <a:pt x="0" y="1130300"/>
                  </a:lnTo>
                  <a:lnTo>
                    <a:pt x="0" y="215900"/>
                  </a:lnTo>
                  <a:close/>
                </a:path>
              </a:pathLst>
            </a:custGeom>
            <a:blipFill>
              <a:blip r:embed="rId6"/>
              <a:stretch>
                <a:fillRect l="-29131" t="-5617" r="-17895" b="5617"/>
              </a:stretch>
            </a:blipFill>
          </p:spPr>
        </p:sp>
      </p:grpSp>
      <p:grpSp>
        <p:nvGrpSpPr>
          <p:cNvPr name="Group 12" id="12"/>
          <p:cNvGrpSpPr>
            <a:grpSpLocks noChangeAspect="true"/>
          </p:cNvGrpSpPr>
          <p:nvPr/>
        </p:nvGrpSpPr>
        <p:grpSpPr>
          <a:xfrm rot="0">
            <a:off x="9744932" y="2935103"/>
            <a:ext cx="3129163" cy="3129163"/>
            <a:chOff x="63500" y="63500"/>
            <a:chExt cx="1130300" cy="1130300"/>
          </a:xfrm>
        </p:grpSpPr>
        <p:sp>
          <p:nvSpPr>
            <p:cNvPr name="Freeform 13" id="13"/>
            <p:cNvSpPr/>
            <p:nvPr/>
          </p:nvSpPr>
          <p:spPr>
            <a:xfrm flipH="false" flipV="false" rot="0">
              <a:off x="63500" y="63500"/>
              <a:ext cx="1130300" cy="1130300"/>
            </a:xfrm>
            <a:custGeom>
              <a:avLst/>
              <a:gdLst/>
              <a:ahLst/>
              <a:cxnLst/>
              <a:rect r="r" b="b" t="t" l="l"/>
              <a:pathLst>
                <a:path h="1130300" w="1130300">
                  <a:moveTo>
                    <a:pt x="215900" y="0"/>
                  </a:moveTo>
                  <a:lnTo>
                    <a:pt x="1130300" y="0"/>
                  </a:lnTo>
                  <a:lnTo>
                    <a:pt x="1130300" y="1130300"/>
                  </a:lnTo>
                  <a:lnTo>
                    <a:pt x="0" y="1130300"/>
                  </a:lnTo>
                  <a:lnTo>
                    <a:pt x="0" y="215900"/>
                  </a:lnTo>
                  <a:close/>
                </a:path>
              </a:pathLst>
            </a:custGeom>
            <a:blipFill>
              <a:blip r:embed="rId7"/>
              <a:stretch>
                <a:fillRect l="-58165" t="-5617" r="-46929" b="5617"/>
              </a:stretch>
            </a:blipFill>
          </p:spPr>
        </p:sp>
      </p:grpSp>
      <p:grpSp>
        <p:nvGrpSpPr>
          <p:cNvPr name="Group 14" id="14"/>
          <p:cNvGrpSpPr>
            <a:grpSpLocks noChangeAspect="true"/>
          </p:cNvGrpSpPr>
          <p:nvPr/>
        </p:nvGrpSpPr>
        <p:grpSpPr>
          <a:xfrm rot="0">
            <a:off x="13978616" y="2921068"/>
            <a:ext cx="3129163" cy="3129163"/>
            <a:chOff x="63500" y="63500"/>
            <a:chExt cx="1130300" cy="1130300"/>
          </a:xfrm>
        </p:grpSpPr>
        <p:sp>
          <p:nvSpPr>
            <p:cNvPr name="Freeform 15" id="15"/>
            <p:cNvSpPr/>
            <p:nvPr/>
          </p:nvSpPr>
          <p:spPr>
            <a:xfrm flipH="false" flipV="false" rot="0">
              <a:off x="63500" y="63500"/>
              <a:ext cx="1130300" cy="1130300"/>
            </a:xfrm>
            <a:custGeom>
              <a:avLst/>
              <a:gdLst/>
              <a:ahLst/>
              <a:cxnLst/>
              <a:rect r="r" b="b" t="t" l="l"/>
              <a:pathLst>
                <a:path h="1130300" w="1130300">
                  <a:moveTo>
                    <a:pt x="215900" y="0"/>
                  </a:moveTo>
                  <a:lnTo>
                    <a:pt x="1130300" y="0"/>
                  </a:lnTo>
                  <a:lnTo>
                    <a:pt x="1130300" y="1130300"/>
                  </a:lnTo>
                  <a:lnTo>
                    <a:pt x="0" y="1130300"/>
                  </a:lnTo>
                  <a:lnTo>
                    <a:pt x="0" y="215900"/>
                  </a:lnTo>
                  <a:close/>
                </a:path>
              </a:pathLst>
            </a:custGeom>
            <a:blipFill>
              <a:blip r:embed="rId8"/>
              <a:stretch>
                <a:fillRect l="-22370" t="-5617" r="-11134" b="5617"/>
              </a:stretch>
            </a:blipFill>
          </p:spPr>
        </p:sp>
      </p:grpSp>
      <p:sp>
        <p:nvSpPr>
          <p:cNvPr name="TextBox 16" id="16"/>
          <p:cNvSpPr txBox="true"/>
          <p:nvPr/>
        </p:nvSpPr>
        <p:spPr>
          <a:xfrm rot="0">
            <a:off x="2728289" y="626590"/>
            <a:ext cx="13342528" cy="920115"/>
          </a:xfrm>
          <a:prstGeom prst="rect">
            <a:avLst/>
          </a:prstGeom>
        </p:spPr>
        <p:txBody>
          <a:bodyPr anchor="t" rtlCol="false" tIns="0" lIns="0" bIns="0" rIns="0">
            <a:spAutoFit/>
          </a:bodyPr>
          <a:lstStyle/>
          <a:p>
            <a:pPr algn="ctr">
              <a:lnSpc>
                <a:spcPts val="7559"/>
              </a:lnSpc>
            </a:pPr>
            <a:r>
              <a:rPr lang="en-US" sz="5400" spc="-54">
                <a:solidFill>
                  <a:srgbClr val="348BFF"/>
                </a:solidFill>
                <a:latin typeface="Roboto"/>
                <a:ea typeface="Roboto"/>
                <a:cs typeface="Roboto"/>
                <a:sym typeface="Roboto"/>
              </a:rPr>
              <a:t>DỮ LIỆU X-RAY MỐI HÀN</a:t>
            </a:r>
          </a:p>
        </p:txBody>
      </p:sp>
      <p:sp>
        <p:nvSpPr>
          <p:cNvPr name="TextBox 17" id="17"/>
          <p:cNvSpPr txBox="true"/>
          <p:nvPr/>
        </p:nvSpPr>
        <p:spPr>
          <a:xfrm rot="0">
            <a:off x="2035900" y="2040021"/>
            <a:ext cx="13745680" cy="537845"/>
          </a:xfrm>
          <a:prstGeom prst="rect">
            <a:avLst/>
          </a:prstGeom>
        </p:spPr>
        <p:txBody>
          <a:bodyPr anchor="t" rtlCol="false" tIns="0" lIns="0" bIns="0" rIns="0">
            <a:spAutoFit/>
          </a:bodyPr>
          <a:lstStyle/>
          <a:p>
            <a:pPr algn="l">
              <a:lnSpc>
                <a:spcPts val="4480"/>
              </a:lnSpc>
              <a:spcBef>
                <a:spcPct val="0"/>
              </a:spcBef>
            </a:pPr>
            <a:r>
              <a:rPr lang="en-US" sz="3200">
                <a:solidFill>
                  <a:srgbClr val="FFFFFF"/>
                </a:solidFill>
                <a:latin typeface="Canva Sans"/>
                <a:ea typeface="Canva Sans"/>
                <a:cs typeface="Canva Sans"/>
                <a:sym typeface="Canva Sans"/>
              </a:rPr>
              <a:t>Quá</a:t>
            </a:r>
            <a:r>
              <a:rPr lang="en-US" sz="3200">
                <a:solidFill>
                  <a:srgbClr val="FFFFFF"/>
                </a:solidFill>
                <a:latin typeface="Canva Sans"/>
                <a:ea typeface="Canva Sans"/>
                <a:cs typeface="Canva Sans"/>
                <a:sym typeface="Canva Sans"/>
              </a:rPr>
              <a:t> trình huấn luyện tập trung nhận diện 4 loại khuyết tật chính:</a:t>
            </a:r>
          </a:p>
        </p:txBody>
      </p:sp>
      <p:sp>
        <p:nvSpPr>
          <p:cNvPr name="TextBox 18" id="18"/>
          <p:cNvSpPr txBox="true"/>
          <p:nvPr/>
        </p:nvSpPr>
        <p:spPr>
          <a:xfrm rot="0">
            <a:off x="2226161" y="6350016"/>
            <a:ext cx="752713" cy="514350"/>
          </a:xfrm>
          <a:prstGeom prst="rect">
            <a:avLst/>
          </a:prstGeom>
        </p:spPr>
        <p:txBody>
          <a:bodyPr anchor="t" rtlCol="false" tIns="0" lIns="0" bIns="0" rIns="0">
            <a:spAutoFit/>
          </a:bodyPr>
          <a:lstStyle/>
          <a:p>
            <a:pPr algn="ctr">
              <a:lnSpc>
                <a:spcPts val="4200"/>
              </a:lnSpc>
              <a:spcBef>
                <a:spcPct val="0"/>
              </a:spcBef>
            </a:pPr>
            <a:r>
              <a:rPr lang="en-US" sz="3000">
                <a:solidFill>
                  <a:srgbClr val="428DFF"/>
                </a:solidFill>
                <a:latin typeface="Canva Sans"/>
                <a:ea typeface="Canva Sans"/>
                <a:cs typeface="Canva Sans"/>
                <a:sym typeface="Canva Sans"/>
              </a:rPr>
              <a:t>LOP</a:t>
            </a:r>
          </a:p>
        </p:txBody>
      </p:sp>
      <p:sp>
        <p:nvSpPr>
          <p:cNvPr name="TextBox 19" id="19"/>
          <p:cNvSpPr txBox="true"/>
          <p:nvPr/>
        </p:nvSpPr>
        <p:spPr>
          <a:xfrm rot="0">
            <a:off x="6483717" y="6350016"/>
            <a:ext cx="1036082" cy="514350"/>
          </a:xfrm>
          <a:prstGeom prst="rect">
            <a:avLst/>
          </a:prstGeom>
        </p:spPr>
        <p:txBody>
          <a:bodyPr anchor="t" rtlCol="false" tIns="0" lIns="0" bIns="0" rIns="0">
            <a:spAutoFit/>
          </a:bodyPr>
          <a:lstStyle/>
          <a:p>
            <a:pPr algn="ctr">
              <a:lnSpc>
                <a:spcPts val="4200"/>
              </a:lnSpc>
              <a:spcBef>
                <a:spcPct val="0"/>
              </a:spcBef>
            </a:pPr>
            <a:r>
              <a:rPr lang="en-US" sz="3000">
                <a:solidFill>
                  <a:srgbClr val="428DFF"/>
                </a:solidFill>
                <a:latin typeface="Canva Sans"/>
                <a:ea typeface="Canva Sans"/>
                <a:cs typeface="Canva Sans"/>
                <a:sym typeface="Canva Sans"/>
              </a:rPr>
              <a:t>Crack</a:t>
            </a:r>
          </a:p>
        </p:txBody>
      </p:sp>
      <p:sp>
        <p:nvSpPr>
          <p:cNvPr name="TextBox 20" id="20"/>
          <p:cNvSpPr txBox="true"/>
          <p:nvPr/>
        </p:nvSpPr>
        <p:spPr>
          <a:xfrm rot="0">
            <a:off x="10542930" y="6390879"/>
            <a:ext cx="1533168" cy="1047750"/>
          </a:xfrm>
          <a:prstGeom prst="rect">
            <a:avLst/>
          </a:prstGeom>
        </p:spPr>
        <p:txBody>
          <a:bodyPr anchor="t" rtlCol="false" tIns="0" lIns="0" bIns="0" rIns="0">
            <a:spAutoFit/>
          </a:bodyPr>
          <a:lstStyle/>
          <a:p>
            <a:pPr algn="ctr">
              <a:lnSpc>
                <a:spcPts val="4200"/>
              </a:lnSpc>
            </a:pPr>
            <a:r>
              <a:rPr lang="en-US" sz="3000">
                <a:solidFill>
                  <a:srgbClr val="428DFF"/>
                </a:solidFill>
                <a:latin typeface="Canva Sans"/>
                <a:ea typeface="Canva Sans"/>
                <a:cs typeface="Canva Sans"/>
                <a:sym typeface="Canva Sans"/>
              </a:rPr>
              <a:t>porosity</a:t>
            </a:r>
          </a:p>
          <a:p>
            <a:pPr algn="ctr">
              <a:lnSpc>
                <a:spcPts val="4200"/>
              </a:lnSpc>
              <a:spcBef>
                <a:spcPct val="0"/>
              </a:spcBef>
            </a:pPr>
          </a:p>
        </p:txBody>
      </p:sp>
      <p:sp>
        <p:nvSpPr>
          <p:cNvPr name="TextBox 21" id="21"/>
          <p:cNvSpPr txBox="true"/>
          <p:nvPr/>
        </p:nvSpPr>
        <p:spPr>
          <a:xfrm rot="0">
            <a:off x="15346917" y="6350016"/>
            <a:ext cx="723900" cy="1047750"/>
          </a:xfrm>
          <a:prstGeom prst="rect">
            <a:avLst/>
          </a:prstGeom>
        </p:spPr>
        <p:txBody>
          <a:bodyPr anchor="t" rtlCol="false" tIns="0" lIns="0" bIns="0" rIns="0">
            <a:spAutoFit/>
          </a:bodyPr>
          <a:lstStyle/>
          <a:p>
            <a:pPr algn="ctr">
              <a:lnSpc>
                <a:spcPts val="4200"/>
              </a:lnSpc>
            </a:pPr>
            <a:r>
              <a:rPr lang="en-US" sz="3000">
                <a:solidFill>
                  <a:srgbClr val="428DFF"/>
                </a:solidFill>
                <a:latin typeface="Canva Sans"/>
                <a:ea typeface="Canva Sans"/>
                <a:cs typeface="Canva Sans"/>
                <a:sym typeface="Canva Sans"/>
              </a:rPr>
              <a:t>slag</a:t>
            </a:r>
          </a:p>
          <a:p>
            <a:pPr algn="ctr">
              <a:lnSpc>
                <a:spcPts val="4200"/>
              </a:lnSpc>
              <a:spcBef>
                <a:spcPct val="0"/>
              </a:spcBef>
            </a:pPr>
          </a:p>
        </p:txBody>
      </p:sp>
      <p:sp>
        <p:nvSpPr>
          <p:cNvPr name="Freeform 22" id="22"/>
          <p:cNvSpPr/>
          <p:nvPr/>
        </p:nvSpPr>
        <p:spPr>
          <a:xfrm flipH="false" flipV="false" rot="0">
            <a:off x="626738" y="353856"/>
            <a:ext cx="1785518" cy="1743315"/>
          </a:xfrm>
          <a:custGeom>
            <a:avLst/>
            <a:gdLst/>
            <a:ahLst/>
            <a:cxnLst/>
            <a:rect r="r" b="b" t="t" l="l"/>
            <a:pathLst>
              <a:path h="1743315" w="1785518">
                <a:moveTo>
                  <a:pt x="0" y="0"/>
                </a:moveTo>
                <a:lnTo>
                  <a:pt x="1785518" y="0"/>
                </a:lnTo>
                <a:lnTo>
                  <a:pt x="1785518" y="1743315"/>
                </a:lnTo>
                <a:lnTo>
                  <a:pt x="0" y="174331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3" id="23"/>
          <p:cNvSpPr txBox="true"/>
          <p:nvPr/>
        </p:nvSpPr>
        <p:spPr>
          <a:xfrm rot="0">
            <a:off x="1030919" y="7126143"/>
            <a:ext cx="3064958" cy="1589405"/>
          </a:xfrm>
          <a:prstGeom prst="rect">
            <a:avLst/>
          </a:prstGeom>
        </p:spPr>
        <p:txBody>
          <a:bodyPr anchor="t" rtlCol="false" tIns="0" lIns="0" bIns="0" rIns="0">
            <a:spAutoFit/>
          </a:bodyPr>
          <a:lstStyle/>
          <a:p>
            <a:pPr algn="ctr">
              <a:lnSpc>
                <a:spcPts val="3220"/>
              </a:lnSpc>
              <a:spcBef>
                <a:spcPct val="0"/>
              </a:spcBef>
            </a:pPr>
            <a:r>
              <a:rPr lang="en-US" sz="2300">
                <a:solidFill>
                  <a:srgbClr val="FFFFFF"/>
                </a:solidFill>
                <a:latin typeface="Canva Sans"/>
                <a:ea typeface="Canva Sans"/>
                <a:cs typeface="Canva Sans"/>
                <a:sym typeface="Canva Sans"/>
              </a:rPr>
              <a:t>Mố</a:t>
            </a:r>
            <a:r>
              <a:rPr lang="en-US" sz="2300">
                <a:solidFill>
                  <a:srgbClr val="FFFFFF"/>
                </a:solidFill>
                <a:latin typeface="Canva Sans"/>
                <a:ea typeface="Canva Sans"/>
                <a:cs typeface="Canva Sans"/>
                <a:sym typeface="Canva Sans"/>
              </a:rPr>
              <a:t>i hàn không thâm nhập hết chiều dày, để lại khe hở dọc theo chân hàn (root). </a:t>
            </a:r>
          </a:p>
        </p:txBody>
      </p:sp>
      <p:sp>
        <p:nvSpPr>
          <p:cNvPr name="TextBox 24" id="24"/>
          <p:cNvSpPr txBox="true"/>
          <p:nvPr/>
        </p:nvSpPr>
        <p:spPr>
          <a:xfrm rot="0">
            <a:off x="5508399" y="7126143"/>
            <a:ext cx="3064958" cy="1989455"/>
          </a:xfrm>
          <a:prstGeom prst="rect">
            <a:avLst/>
          </a:prstGeom>
        </p:spPr>
        <p:txBody>
          <a:bodyPr anchor="t" rtlCol="false" tIns="0" lIns="0" bIns="0" rIns="0">
            <a:spAutoFit/>
          </a:bodyPr>
          <a:lstStyle/>
          <a:p>
            <a:pPr algn="ctr">
              <a:lnSpc>
                <a:spcPts val="3220"/>
              </a:lnSpc>
              <a:spcBef>
                <a:spcPct val="0"/>
              </a:spcBef>
            </a:pPr>
            <a:r>
              <a:rPr lang="en-US" sz="2300">
                <a:solidFill>
                  <a:srgbClr val="FFFFFF"/>
                </a:solidFill>
                <a:latin typeface="Canva Sans"/>
                <a:ea typeface="Canva Sans"/>
                <a:cs typeface="Canva Sans"/>
                <a:sym typeface="Canva Sans"/>
              </a:rPr>
              <a:t>Mố</a:t>
            </a:r>
            <a:r>
              <a:rPr lang="en-US" sz="2300">
                <a:solidFill>
                  <a:srgbClr val="FFFFFF"/>
                </a:solidFill>
                <a:latin typeface="Canva Sans"/>
                <a:ea typeface="Canva Sans"/>
                <a:cs typeface="Canva Sans"/>
                <a:sym typeface="Canva Sans"/>
              </a:rPr>
              <a:t>i hàn phát triển khe hở vi mô đến vĩ mô trong vùng hàn/HAZ, có thể bề mặt hoặc ngầm.  </a:t>
            </a:r>
          </a:p>
        </p:txBody>
      </p:sp>
      <p:sp>
        <p:nvSpPr>
          <p:cNvPr name="TextBox 25" id="25"/>
          <p:cNvSpPr txBox="true"/>
          <p:nvPr/>
        </p:nvSpPr>
        <p:spPr>
          <a:xfrm rot="0">
            <a:off x="9985880" y="7126143"/>
            <a:ext cx="3064958" cy="1589405"/>
          </a:xfrm>
          <a:prstGeom prst="rect">
            <a:avLst/>
          </a:prstGeom>
        </p:spPr>
        <p:txBody>
          <a:bodyPr anchor="t" rtlCol="false" tIns="0" lIns="0" bIns="0" rIns="0">
            <a:spAutoFit/>
          </a:bodyPr>
          <a:lstStyle/>
          <a:p>
            <a:pPr algn="ctr">
              <a:lnSpc>
                <a:spcPts val="3220"/>
              </a:lnSpc>
              <a:spcBef>
                <a:spcPct val="0"/>
              </a:spcBef>
            </a:pPr>
            <a:r>
              <a:rPr lang="en-US" sz="2300">
                <a:solidFill>
                  <a:srgbClr val="FFFFFF"/>
                </a:solidFill>
                <a:latin typeface="Canva Sans"/>
                <a:ea typeface="Canva Sans"/>
                <a:cs typeface="Canva Sans"/>
                <a:sym typeface="Canva Sans"/>
              </a:rPr>
              <a:t>Mố</a:t>
            </a:r>
            <a:r>
              <a:rPr lang="en-US" sz="2300">
                <a:solidFill>
                  <a:srgbClr val="FFFFFF"/>
                </a:solidFill>
                <a:latin typeface="Canva Sans"/>
                <a:ea typeface="Canva Sans"/>
                <a:cs typeface="Canva Sans"/>
                <a:sym typeface="Canva Sans"/>
              </a:rPr>
              <a:t>i hàn có các bọt khí bị “đóng băng” trong kim loại hàn, tạo lỗ rỗng. </a:t>
            </a:r>
          </a:p>
        </p:txBody>
      </p:sp>
      <p:sp>
        <p:nvSpPr>
          <p:cNvPr name="TextBox 26" id="26"/>
          <p:cNvSpPr txBox="true"/>
          <p:nvPr/>
        </p:nvSpPr>
        <p:spPr>
          <a:xfrm rot="0">
            <a:off x="14463361" y="7126143"/>
            <a:ext cx="3064958" cy="1589405"/>
          </a:xfrm>
          <a:prstGeom prst="rect">
            <a:avLst/>
          </a:prstGeom>
        </p:spPr>
        <p:txBody>
          <a:bodyPr anchor="t" rtlCol="false" tIns="0" lIns="0" bIns="0" rIns="0">
            <a:spAutoFit/>
          </a:bodyPr>
          <a:lstStyle/>
          <a:p>
            <a:pPr algn="ctr">
              <a:lnSpc>
                <a:spcPts val="3220"/>
              </a:lnSpc>
              <a:spcBef>
                <a:spcPct val="0"/>
              </a:spcBef>
            </a:pPr>
            <a:r>
              <a:rPr lang="en-US" sz="2300">
                <a:solidFill>
                  <a:srgbClr val="FFFFFF"/>
                </a:solidFill>
                <a:latin typeface="Canva Sans"/>
                <a:ea typeface="Canva Sans"/>
                <a:cs typeface="Canva Sans"/>
                <a:sym typeface="Canva Sans"/>
              </a:rPr>
              <a:t>Là</a:t>
            </a:r>
            <a:r>
              <a:rPr lang="en-US" sz="2300">
                <a:solidFill>
                  <a:srgbClr val="FFFFFF"/>
                </a:solidFill>
                <a:latin typeface="Canva Sans"/>
                <a:ea typeface="Canva Sans"/>
                <a:cs typeface="Canva Sans"/>
                <a:sym typeface="Canva Sans"/>
              </a:rPr>
              <a:t> phần xỉ hàn bị mắc kẹt giữa các lớp hàn hoặc giữa lớp hàn và kim loại cơ bản.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255553" y="0"/>
            <a:ext cx="18288000" cy="10109527"/>
            <a:chOff x="0" y="0"/>
            <a:chExt cx="4816593" cy="2662592"/>
          </a:xfrm>
        </p:grpSpPr>
        <p:sp>
          <p:nvSpPr>
            <p:cNvPr name="Freeform 4" id="4"/>
            <p:cNvSpPr/>
            <p:nvPr/>
          </p:nvSpPr>
          <p:spPr>
            <a:xfrm flipH="false" flipV="false" rot="0">
              <a:off x="0" y="0"/>
              <a:ext cx="4816592" cy="2662592"/>
            </a:xfrm>
            <a:custGeom>
              <a:avLst/>
              <a:gdLst/>
              <a:ahLst/>
              <a:cxnLst/>
              <a:rect r="r" b="b" t="t" l="l"/>
              <a:pathLst>
                <a:path h="2662592" w="4816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name="TextBox 5" id="5"/>
            <p:cNvSpPr txBox="true"/>
            <p:nvPr/>
          </p:nvSpPr>
          <p:spPr>
            <a:xfrm>
              <a:off x="0" y="-104775"/>
              <a:ext cx="4816593" cy="2767367"/>
            </a:xfrm>
            <a:prstGeom prst="rect">
              <a:avLst/>
            </a:prstGeom>
          </p:spPr>
          <p:txBody>
            <a:bodyPr anchor="ctr" rtlCol="false" tIns="50800" lIns="50800" bIns="50800" rIns="50800"/>
            <a:lstStyle/>
            <a:p>
              <a:pPr algn="ctr">
                <a:lnSpc>
                  <a:spcPts val="7559"/>
                </a:lnSpc>
                <a:spcBef>
                  <a:spcPct val="0"/>
                </a:spcBef>
              </a:pPr>
            </a:p>
          </p:txBody>
        </p:sp>
      </p:grpSp>
      <p:sp>
        <p:nvSpPr>
          <p:cNvPr name="Freeform 6" id="6"/>
          <p:cNvSpPr/>
          <p:nvPr/>
        </p:nvSpPr>
        <p:spPr>
          <a:xfrm flipH="true" flipV="true" rot="-10792239">
            <a:off x="-724606" y="8954135"/>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true" flipV="true" rot="-10792239">
            <a:off x="16612207" y="-936064"/>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626738" y="353856"/>
            <a:ext cx="1785518" cy="1743315"/>
          </a:xfrm>
          <a:custGeom>
            <a:avLst/>
            <a:gdLst/>
            <a:ahLst/>
            <a:cxnLst/>
            <a:rect r="r" b="b" t="t" l="l"/>
            <a:pathLst>
              <a:path h="1743315" w="1785518">
                <a:moveTo>
                  <a:pt x="0" y="0"/>
                </a:moveTo>
                <a:lnTo>
                  <a:pt x="1785518" y="0"/>
                </a:lnTo>
                <a:lnTo>
                  <a:pt x="1785518" y="1743315"/>
                </a:lnTo>
                <a:lnTo>
                  <a:pt x="0" y="174331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442506" y="3806566"/>
            <a:ext cx="8701494" cy="2973532"/>
          </a:xfrm>
          <a:custGeom>
            <a:avLst/>
            <a:gdLst/>
            <a:ahLst/>
            <a:cxnLst/>
            <a:rect r="r" b="b" t="t" l="l"/>
            <a:pathLst>
              <a:path h="2973532" w="8701494">
                <a:moveTo>
                  <a:pt x="0" y="0"/>
                </a:moveTo>
                <a:lnTo>
                  <a:pt x="8701494" y="0"/>
                </a:lnTo>
                <a:lnTo>
                  <a:pt x="8701494" y="2973532"/>
                </a:lnTo>
                <a:lnTo>
                  <a:pt x="0" y="2973532"/>
                </a:lnTo>
                <a:lnTo>
                  <a:pt x="0" y="0"/>
                </a:lnTo>
                <a:close/>
              </a:path>
            </a:pathLst>
          </a:custGeom>
          <a:blipFill>
            <a:blip r:embed="rId7"/>
            <a:stretch>
              <a:fillRect l="0" t="0" r="0" b="0"/>
            </a:stretch>
          </a:blipFill>
        </p:spPr>
      </p:sp>
      <p:sp>
        <p:nvSpPr>
          <p:cNvPr name="Freeform 10" id="10"/>
          <p:cNvSpPr/>
          <p:nvPr/>
        </p:nvSpPr>
        <p:spPr>
          <a:xfrm flipH="false" flipV="false" rot="0">
            <a:off x="9675880" y="2798896"/>
            <a:ext cx="8287671" cy="5245361"/>
          </a:xfrm>
          <a:custGeom>
            <a:avLst/>
            <a:gdLst/>
            <a:ahLst/>
            <a:cxnLst/>
            <a:rect r="r" b="b" t="t" l="l"/>
            <a:pathLst>
              <a:path h="5245361" w="8287671">
                <a:moveTo>
                  <a:pt x="0" y="0"/>
                </a:moveTo>
                <a:lnTo>
                  <a:pt x="8287671" y="0"/>
                </a:lnTo>
                <a:lnTo>
                  <a:pt x="8287671" y="5245362"/>
                </a:lnTo>
                <a:lnTo>
                  <a:pt x="0" y="5245362"/>
                </a:lnTo>
                <a:lnTo>
                  <a:pt x="0" y="0"/>
                </a:lnTo>
                <a:close/>
              </a:path>
            </a:pathLst>
          </a:custGeom>
          <a:blipFill>
            <a:blip r:embed="rId8"/>
            <a:stretch>
              <a:fillRect l="0" t="0" r="0" b="0"/>
            </a:stretch>
          </a:blipFill>
        </p:spPr>
      </p:sp>
      <p:sp>
        <p:nvSpPr>
          <p:cNvPr name="TextBox 11" id="11"/>
          <p:cNvSpPr txBox="true"/>
          <p:nvPr/>
        </p:nvSpPr>
        <p:spPr>
          <a:xfrm rot="0">
            <a:off x="2728289" y="626590"/>
            <a:ext cx="13342528" cy="920115"/>
          </a:xfrm>
          <a:prstGeom prst="rect">
            <a:avLst/>
          </a:prstGeom>
        </p:spPr>
        <p:txBody>
          <a:bodyPr anchor="t" rtlCol="false" tIns="0" lIns="0" bIns="0" rIns="0">
            <a:spAutoFit/>
          </a:bodyPr>
          <a:lstStyle/>
          <a:p>
            <a:pPr algn="ctr">
              <a:lnSpc>
                <a:spcPts val="7559"/>
              </a:lnSpc>
            </a:pPr>
            <a:r>
              <a:rPr lang="en-US" sz="5400" spc="-54">
                <a:solidFill>
                  <a:srgbClr val="348BFF"/>
                </a:solidFill>
                <a:latin typeface="Roboto"/>
                <a:ea typeface="Roboto"/>
                <a:cs typeface="Roboto"/>
                <a:sym typeface="Roboto"/>
              </a:rPr>
              <a:t>DỮ LIỆU X-RAY MỐI HÀN</a:t>
            </a:r>
          </a:p>
        </p:txBody>
      </p:sp>
      <p:sp>
        <p:nvSpPr>
          <p:cNvPr name="TextBox 12" id="12"/>
          <p:cNvSpPr txBox="true"/>
          <p:nvPr/>
        </p:nvSpPr>
        <p:spPr>
          <a:xfrm rot="0">
            <a:off x="2035900" y="2040021"/>
            <a:ext cx="13745680" cy="537845"/>
          </a:xfrm>
          <a:prstGeom prst="rect">
            <a:avLst/>
          </a:prstGeom>
        </p:spPr>
        <p:txBody>
          <a:bodyPr anchor="t" rtlCol="false" tIns="0" lIns="0" bIns="0" rIns="0">
            <a:spAutoFit/>
          </a:bodyPr>
          <a:lstStyle/>
          <a:p>
            <a:pPr algn="l">
              <a:lnSpc>
                <a:spcPts val="4480"/>
              </a:lnSpc>
              <a:spcBef>
                <a:spcPct val="0"/>
              </a:spcBef>
            </a:pPr>
            <a:r>
              <a:rPr lang="en-US" sz="3200">
                <a:solidFill>
                  <a:srgbClr val="FFFFFF"/>
                </a:solidFill>
                <a:latin typeface="Canva Sans"/>
                <a:ea typeface="Canva Sans"/>
                <a:cs typeface="Canva Sans"/>
                <a:sym typeface="Canva Sans"/>
              </a:rPr>
              <a:t>Quá</a:t>
            </a:r>
            <a:r>
              <a:rPr lang="en-US" sz="3200">
                <a:solidFill>
                  <a:srgbClr val="FFFFFF"/>
                </a:solidFill>
                <a:latin typeface="Canva Sans"/>
                <a:ea typeface="Canva Sans"/>
                <a:cs typeface="Canva Sans"/>
                <a:sym typeface="Canva Sans"/>
              </a:rPr>
              <a:t> trình huấn luyện tập trung nhận diện 4 loại khuyết tật chính:</a:t>
            </a:r>
          </a:p>
        </p:txBody>
      </p:sp>
      <p:sp>
        <p:nvSpPr>
          <p:cNvPr name="TextBox 13" id="13"/>
          <p:cNvSpPr txBox="true"/>
          <p:nvPr/>
        </p:nvSpPr>
        <p:spPr>
          <a:xfrm rot="0">
            <a:off x="3538691" y="8384718"/>
            <a:ext cx="1254562" cy="863600"/>
          </a:xfrm>
          <a:prstGeom prst="rect">
            <a:avLst/>
          </a:prstGeom>
        </p:spPr>
        <p:txBody>
          <a:bodyPr anchor="t" rtlCol="false" tIns="0" lIns="0" bIns="0" rIns="0">
            <a:spAutoFit/>
          </a:bodyPr>
          <a:lstStyle/>
          <a:p>
            <a:pPr algn="ctr">
              <a:lnSpc>
                <a:spcPts val="7000"/>
              </a:lnSpc>
              <a:spcBef>
                <a:spcPct val="0"/>
              </a:spcBef>
            </a:pPr>
            <a:r>
              <a:rPr lang="en-US" sz="5000">
                <a:solidFill>
                  <a:srgbClr val="428DFF"/>
                </a:solidFill>
                <a:latin typeface="Canva Sans"/>
                <a:ea typeface="Canva Sans"/>
                <a:cs typeface="Canva Sans"/>
                <a:sym typeface="Canva Sans"/>
              </a:rPr>
              <a:t>LOP</a:t>
            </a:r>
          </a:p>
        </p:txBody>
      </p:sp>
      <p:sp>
        <p:nvSpPr>
          <p:cNvPr name="TextBox 14" id="14"/>
          <p:cNvSpPr txBox="true"/>
          <p:nvPr/>
        </p:nvSpPr>
        <p:spPr>
          <a:xfrm rot="0">
            <a:off x="13028471" y="8491933"/>
            <a:ext cx="1726763" cy="863600"/>
          </a:xfrm>
          <a:prstGeom prst="rect">
            <a:avLst/>
          </a:prstGeom>
        </p:spPr>
        <p:txBody>
          <a:bodyPr anchor="t" rtlCol="false" tIns="0" lIns="0" bIns="0" rIns="0">
            <a:spAutoFit/>
          </a:bodyPr>
          <a:lstStyle/>
          <a:p>
            <a:pPr algn="ctr">
              <a:lnSpc>
                <a:spcPts val="7000"/>
              </a:lnSpc>
              <a:spcBef>
                <a:spcPct val="0"/>
              </a:spcBef>
            </a:pPr>
            <a:r>
              <a:rPr lang="en-US" sz="5000">
                <a:solidFill>
                  <a:srgbClr val="428DFF"/>
                </a:solidFill>
                <a:latin typeface="Canva Sans"/>
                <a:ea typeface="Canva Sans"/>
                <a:cs typeface="Canva Sans"/>
                <a:sym typeface="Canva Sans"/>
              </a:rPr>
              <a:t>Crack</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255553" y="0"/>
            <a:ext cx="18288000" cy="10109527"/>
            <a:chOff x="0" y="0"/>
            <a:chExt cx="4816593" cy="2662592"/>
          </a:xfrm>
        </p:grpSpPr>
        <p:sp>
          <p:nvSpPr>
            <p:cNvPr name="Freeform 4" id="4"/>
            <p:cNvSpPr/>
            <p:nvPr/>
          </p:nvSpPr>
          <p:spPr>
            <a:xfrm flipH="false" flipV="false" rot="0">
              <a:off x="0" y="0"/>
              <a:ext cx="4816592" cy="2662592"/>
            </a:xfrm>
            <a:custGeom>
              <a:avLst/>
              <a:gdLst/>
              <a:ahLst/>
              <a:cxnLst/>
              <a:rect r="r" b="b" t="t" l="l"/>
              <a:pathLst>
                <a:path h="2662592" w="4816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name="TextBox 5" id="5"/>
            <p:cNvSpPr txBox="true"/>
            <p:nvPr/>
          </p:nvSpPr>
          <p:spPr>
            <a:xfrm>
              <a:off x="0" y="-104775"/>
              <a:ext cx="4816593" cy="2767367"/>
            </a:xfrm>
            <a:prstGeom prst="rect">
              <a:avLst/>
            </a:prstGeom>
          </p:spPr>
          <p:txBody>
            <a:bodyPr anchor="ctr" rtlCol="false" tIns="50800" lIns="50800" bIns="50800" rIns="50800"/>
            <a:lstStyle/>
            <a:p>
              <a:pPr algn="ctr">
                <a:lnSpc>
                  <a:spcPts val="7559"/>
                </a:lnSpc>
                <a:spcBef>
                  <a:spcPct val="0"/>
                </a:spcBef>
              </a:pPr>
            </a:p>
          </p:txBody>
        </p:sp>
      </p:grpSp>
      <p:sp>
        <p:nvSpPr>
          <p:cNvPr name="Freeform 6" id="6"/>
          <p:cNvSpPr/>
          <p:nvPr/>
        </p:nvSpPr>
        <p:spPr>
          <a:xfrm flipH="true" flipV="true" rot="-10792239">
            <a:off x="-724606" y="8954135"/>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true" flipV="true" rot="-10792239">
            <a:off x="16612207" y="-936064"/>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626738" y="353856"/>
            <a:ext cx="1785518" cy="1743315"/>
          </a:xfrm>
          <a:custGeom>
            <a:avLst/>
            <a:gdLst/>
            <a:ahLst/>
            <a:cxnLst/>
            <a:rect r="r" b="b" t="t" l="l"/>
            <a:pathLst>
              <a:path h="1743315" w="1785518">
                <a:moveTo>
                  <a:pt x="0" y="0"/>
                </a:moveTo>
                <a:lnTo>
                  <a:pt x="1785518" y="0"/>
                </a:lnTo>
                <a:lnTo>
                  <a:pt x="1785518" y="1743315"/>
                </a:lnTo>
                <a:lnTo>
                  <a:pt x="0" y="174331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626738" y="3348703"/>
            <a:ext cx="7726873" cy="4369954"/>
          </a:xfrm>
          <a:custGeom>
            <a:avLst/>
            <a:gdLst/>
            <a:ahLst/>
            <a:cxnLst/>
            <a:rect r="r" b="b" t="t" l="l"/>
            <a:pathLst>
              <a:path h="4369954" w="7726873">
                <a:moveTo>
                  <a:pt x="0" y="0"/>
                </a:moveTo>
                <a:lnTo>
                  <a:pt x="7726873" y="0"/>
                </a:lnTo>
                <a:lnTo>
                  <a:pt x="7726873" y="4369953"/>
                </a:lnTo>
                <a:lnTo>
                  <a:pt x="0" y="4369953"/>
                </a:lnTo>
                <a:lnTo>
                  <a:pt x="0" y="0"/>
                </a:lnTo>
                <a:close/>
              </a:path>
            </a:pathLst>
          </a:custGeom>
          <a:blipFill>
            <a:blip r:embed="rId7"/>
            <a:stretch>
              <a:fillRect l="0" t="0" r="0" b="0"/>
            </a:stretch>
          </a:blipFill>
        </p:spPr>
      </p:sp>
      <p:sp>
        <p:nvSpPr>
          <p:cNvPr name="Freeform 10" id="10"/>
          <p:cNvSpPr/>
          <p:nvPr/>
        </p:nvSpPr>
        <p:spPr>
          <a:xfrm flipH="false" flipV="false" rot="0">
            <a:off x="9399553" y="3410265"/>
            <a:ext cx="8234463" cy="4246830"/>
          </a:xfrm>
          <a:custGeom>
            <a:avLst/>
            <a:gdLst/>
            <a:ahLst/>
            <a:cxnLst/>
            <a:rect r="r" b="b" t="t" l="l"/>
            <a:pathLst>
              <a:path h="4246830" w="8234463">
                <a:moveTo>
                  <a:pt x="0" y="0"/>
                </a:moveTo>
                <a:lnTo>
                  <a:pt x="8234463" y="0"/>
                </a:lnTo>
                <a:lnTo>
                  <a:pt x="8234463" y="4246829"/>
                </a:lnTo>
                <a:lnTo>
                  <a:pt x="0" y="4246829"/>
                </a:lnTo>
                <a:lnTo>
                  <a:pt x="0" y="0"/>
                </a:lnTo>
                <a:close/>
              </a:path>
            </a:pathLst>
          </a:custGeom>
          <a:blipFill>
            <a:blip r:embed="rId8"/>
            <a:stretch>
              <a:fillRect l="0" t="0" r="0" b="0"/>
            </a:stretch>
          </a:blipFill>
        </p:spPr>
      </p:sp>
      <p:sp>
        <p:nvSpPr>
          <p:cNvPr name="TextBox 11" id="11"/>
          <p:cNvSpPr txBox="true"/>
          <p:nvPr/>
        </p:nvSpPr>
        <p:spPr>
          <a:xfrm rot="0">
            <a:off x="2728289" y="626590"/>
            <a:ext cx="13342528" cy="920115"/>
          </a:xfrm>
          <a:prstGeom prst="rect">
            <a:avLst/>
          </a:prstGeom>
        </p:spPr>
        <p:txBody>
          <a:bodyPr anchor="t" rtlCol="false" tIns="0" lIns="0" bIns="0" rIns="0">
            <a:spAutoFit/>
          </a:bodyPr>
          <a:lstStyle/>
          <a:p>
            <a:pPr algn="ctr">
              <a:lnSpc>
                <a:spcPts val="7559"/>
              </a:lnSpc>
            </a:pPr>
            <a:r>
              <a:rPr lang="en-US" sz="5400" spc="-54">
                <a:solidFill>
                  <a:srgbClr val="348BFF"/>
                </a:solidFill>
                <a:latin typeface="Roboto"/>
                <a:ea typeface="Roboto"/>
                <a:cs typeface="Roboto"/>
                <a:sym typeface="Roboto"/>
              </a:rPr>
              <a:t>DỮ LIỆU X-RAY MỐI HÀN</a:t>
            </a:r>
          </a:p>
        </p:txBody>
      </p:sp>
      <p:sp>
        <p:nvSpPr>
          <p:cNvPr name="TextBox 12" id="12"/>
          <p:cNvSpPr txBox="true"/>
          <p:nvPr/>
        </p:nvSpPr>
        <p:spPr>
          <a:xfrm rot="0">
            <a:off x="2035900" y="2040021"/>
            <a:ext cx="13745680" cy="537845"/>
          </a:xfrm>
          <a:prstGeom prst="rect">
            <a:avLst/>
          </a:prstGeom>
        </p:spPr>
        <p:txBody>
          <a:bodyPr anchor="t" rtlCol="false" tIns="0" lIns="0" bIns="0" rIns="0">
            <a:spAutoFit/>
          </a:bodyPr>
          <a:lstStyle/>
          <a:p>
            <a:pPr algn="l">
              <a:lnSpc>
                <a:spcPts val="4480"/>
              </a:lnSpc>
              <a:spcBef>
                <a:spcPct val="0"/>
              </a:spcBef>
            </a:pPr>
            <a:r>
              <a:rPr lang="en-US" sz="3200">
                <a:solidFill>
                  <a:srgbClr val="FFFFFF"/>
                </a:solidFill>
                <a:latin typeface="Canva Sans"/>
                <a:ea typeface="Canva Sans"/>
                <a:cs typeface="Canva Sans"/>
                <a:sym typeface="Canva Sans"/>
              </a:rPr>
              <a:t>Quá</a:t>
            </a:r>
            <a:r>
              <a:rPr lang="en-US" sz="3200">
                <a:solidFill>
                  <a:srgbClr val="FFFFFF"/>
                </a:solidFill>
                <a:latin typeface="Canva Sans"/>
                <a:ea typeface="Canva Sans"/>
                <a:cs typeface="Canva Sans"/>
                <a:sym typeface="Canva Sans"/>
              </a:rPr>
              <a:t> trình huấn luyện tập trung nhận diện 4 loại khuyết tật chính:</a:t>
            </a:r>
          </a:p>
        </p:txBody>
      </p:sp>
      <p:sp>
        <p:nvSpPr>
          <p:cNvPr name="TextBox 13" id="13"/>
          <p:cNvSpPr txBox="true"/>
          <p:nvPr/>
        </p:nvSpPr>
        <p:spPr>
          <a:xfrm rot="0">
            <a:off x="2894742" y="8384718"/>
            <a:ext cx="2542461" cy="863600"/>
          </a:xfrm>
          <a:prstGeom prst="rect">
            <a:avLst/>
          </a:prstGeom>
        </p:spPr>
        <p:txBody>
          <a:bodyPr anchor="t" rtlCol="false" tIns="0" lIns="0" bIns="0" rIns="0">
            <a:spAutoFit/>
          </a:bodyPr>
          <a:lstStyle/>
          <a:p>
            <a:pPr algn="ctr">
              <a:lnSpc>
                <a:spcPts val="7000"/>
              </a:lnSpc>
              <a:spcBef>
                <a:spcPct val="0"/>
              </a:spcBef>
            </a:pPr>
            <a:r>
              <a:rPr lang="en-US" sz="5000">
                <a:solidFill>
                  <a:srgbClr val="428DFF"/>
                </a:solidFill>
                <a:latin typeface="Canva Sans"/>
                <a:ea typeface="Canva Sans"/>
                <a:cs typeface="Canva Sans"/>
                <a:sym typeface="Canva Sans"/>
              </a:rPr>
              <a:t>Porosity</a:t>
            </a:r>
          </a:p>
        </p:txBody>
      </p:sp>
      <p:sp>
        <p:nvSpPr>
          <p:cNvPr name="TextBox 14" id="14"/>
          <p:cNvSpPr txBox="true"/>
          <p:nvPr/>
        </p:nvSpPr>
        <p:spPr>
          <a:xfrm rot="0">
            <a:off x="13252487" y="8491933"/>
            <a:ext cx="1278731" cy="863600"/>
          </a:xfrm>
          <a:prstGeom prst="rect">
            <a:avLst/>
          </a:prstGeom>
        </p:spPr>
        <p:txBody>
          <a:bodyPr anchor="t" rtlCol="false" tIns="0" lIns="0" bIns="0" rIns="0">
            <a:spAutoFit/>
          </a:bodyPr>
          <a:lstStyle/>
          <a:p>
            <a:pPr algn="ctr">
              <a:lnSpc>
                <a:spcPts val="7000"/>
              </a:lnSpc>
              <a:spcBef>
                <a:spcPct val="0"/>
              </a:spcBef>
            </a:pPr>
            <a:r>
              <a:rPr lang="en-US" sz="5000">
                <a:solidFill>
                  <a:srgbClr val="428DFF"/>
                </a:solidFill>
                <a:latin typeface="Canva Sans"/>
                <a:ea typeface="Canva Sans"/>
                <a:cs typeface="Canva Sans"/>
                <a:sym typeface="Canva Sans"/>
              </a:rPr>
              <a:t>Slag</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18288000" cy="10109527"/>
            <a:chOff x="0" y="0"/>
            <a:chExt cx="4816593" cy="2662592"/>
          </a:xfrm>
        </p:grpSpPr>
        <p:sp>
          <p:nvSpPr>
            <p:cNvPr name="Freeform 4" id="4"/>
            <p:cNvSpPr/>
            <p:nvPr/>
          </p:nvSpPr>
          <p:spPr>
            <a:xfrm flipH="false" flipV="false" rot="0">
              <a:off x="0" y="0"/>
              <a:ext cx="4816592" cy="2662592"/>
            </a:xfrm>
            <a:custGeom>
              <a:avLst/>
              <a:gdLst/>
              <a:ahLst/>
              <a:cxnLst/>
              <a:rect r="r" b="b" t="t" l="l"/>
              <a:pathLst>
                <a:path h="2662592" w="4816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name="TextBox 5" id="5"/>
            <p:cNvSpPr txBox="true"/>
            <p:nvPr/>
          </p:nvSpPr>
          <p:spPr>
            <a:xfrm>
              <a:off x="0" y="-38100"/>
              <a:ext cx="4816593" cy="2700692"/>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244288" y="2147688"/>
            <a:ext cx="10617809" cy="6424930"/>
          </a:xfrm>
          <a:prstGeom prst="rect">
            <a:avLst/>
          </a:prstGeom>
        </p:spPr>
        <p:txBody>
          <a:bodyPr anchor="t" rtlCol="false" tIns="0" lIns="0" bIns="0" rIns="0">
            <a:spAutoFit/>
          </a:bodyPr>
          <a:lstStyle/>
          <a:p>
            <a:pPr algn="l" marL="690881" indent="-345440" lvl="1">
              <a:lnSpc>
                <a:spcPts val="4480"/>
              </a:lnSpc>
              <a:buFont typeface="Arial"/>
              <a:buChar char="•"/>
            </a:pPr>
            <a:r>
              <a:rPr lang="en-US" sz="3200">
                <a:solidFill>
                  <a:srgbClr val="FFFFFF"/>
                </a:solidFill>
                <a:latin typeface="Roboto"/>
                <a:ea typeface="Roboto"/>
                <a:cs typeface="Roboto"/>
                <a:sym typeface="Roboto"/>
              </a:rPr>
              <a:t>Nguồn dữ liệu: Roboflow </a:t>
            </a:r>
          </a:p>
          <a:p>
            <a:pPr algn="l" marL="690881" indent="-345440" lvl="1">
              <a:lnSpc>
                <a:spcPts val="4480"/>
              </a:lnSpc>
              <a:buFont typeface="Arial"/>
              <a:buChar char="•"/>
            </a:pPr>
            <a:r>
              <a:rPr lang="en-US" sz="3200">
                <a:solidFill>
                  <a:srgbClr val="FFFFFF"/>
                </a:solidFill>
                <a:latin typeface="Roboto"/>
                <a:ea typeface="Roboto"/>
                <a:cs typeface="Roboto"/>
                <a:sym typeface="Roboto"/>
              </a:rPr>
              <a:t>Liên kết nguồn:</a:t>
            </a:r>
          </a:p>
          <a:p>
            <a:pPr algn="l">
              <a:lnSpc>
                <a:spcPts val="4480"/>
              </a:lnSpc>
            </a:pPr>
          </a:p>
          <a:p>
            <a:pPr algn="l">
              <a:lnSpc>
                <a:spcPts val="3499"/>
              </a:lnSpc>
            </a:pPr>
          </a:p>
          <a:p>
            <a:pPr algn="l">
              <a:lnSpc>
                <a:spcPts val="3499"/>
              </a:lnSpc>
            </a:pPr>
          </a:p>
          <a:p>
            <a:pPr algn="l">
              <a:lnSpc>
                <a:spcPts val="3499"/>
              </a:lnSpc>
            </a:pPr>
          </a:p>
          <a:p>
            <a:pPr algn="l">
              <a:lnSpc>
                <a:spcPts val="3499"/>
              </a:lnSpc>
            </a:pPr>
          </a:p>
          <a:p>
            <a:pPr algn="l">
              <a:lnSpc>
                <a:spcPts val="3499"/>
              </a:lnSpc>
            </a:pPr>
          </a:p>
          <a:p>
            <a:pPr algn="l">
              <a:lnSpc>
                <a:spcPts val="3499"/>
              </a:lnSpc>
            </a:pPr>
          </a:p>
          <a:p>
            <a:pPr algn="l" marL="690881" indent="-345440" lvl="1">
              <a:lnSpc>
                <a:spcPts val="4480"/>
              </a:lnSpc>
              <a:buFont typeface="Arial"/>
              <a:buChar char="•"/>
            </a:pPr>
            <a:r>
              <a:rPr lang="en-US" sz="3200">
                <a:solidFill>
                  <a:srgbClr val="FFFFFF"/>
                </a:solidFill>
                <a:latin typeface="Roboto"/>
                <a:ea typeface="Roboto"/>
                <a:cs typeface="Roboto"/>
                <a:sym typeface="Roboto"/>
              </a:rPr>
              <a:t>Số lượng ảnh: 5,715 ảnh</a:t>
            </a:r>
          </a:p>
          <a:p>
            <a:pPr algn="l" marL="690881" indent="-345440" lvl="1">
              <a:lnSpc>
                <a:spcPts val="4480"/>
              </a:lnSpc>
              <a:buFont typeface="Arial"/>
              <a:buChar char="•"/>
            </a:pPr>
            <a:r>
              <a:rPr lang="en-US" sz="3200">
                <a:solidFill>
                  <a:srgbClr val="FFFFFF"/>
                </a:solidFill>
                <a:latin typeface="Roboto"/>
                <a:ea typeface="Roboto"/>
                <a:cs typeface="Roboto"/>
                <a:sym typeface="Roboto"/>
              </a:rPr>
              <a:t>Phân chia dữ liệu: Train / Val / Test = 70% / 15% / 15%, duy trì tỷ lệ lớp.</a:t>
            </a:r>
          </a:p>
          <a:p>
            <a:pPr algn="l">
              <a:lnSpc>
                <a:spcPts val="3359"/>
              </a:lnSpc>
            </a:pPr>
          </a:p>
        </p:txBody>
      </p:sp>
      <p:sp>
        <p:nvSpPr>
          <p:cNvPr name="TextBox 7" id="7"/>
          <p:cNvSpPr txBox="true"/>
          <p:nvPr/>
        </p:nvSpPr>
        <p:spPr>
          <a:xfrm rot="0">
            <a:off x="3495327" y="671915"/>
            <a:ext cx="11297346" cy="947031"/>
          </a:xfrm>
          <a:prstGeom prst="rect">
            <a:avLst/>
          </a:prstGeom>
        </p:spPr>
        <p:txBody>
          <a:bodyPr anchor="t" rtlCol="false" tIns="0" lIns="0" bIns="0" rIns="0">
            <a:spAutoFit/>
          </a:bodyPr>
          <a:lstStyle/>
          <a:p>
            <a:pPr algn="l">
              <a:lnSpc>
                <a:spcPts val="7651"/>
              </a:lnSpc>
            </a:pPr>
            <a:r>
              <a:rPr lang="en-US" sz="5465" spc="-54">
                <a:solidFill>
                  <a:srgbClr val="348BFF"/>
                </a:solidFill>
                <a:latin typeface="Roboto"/>
                <a:ea typeface="Roboto"/>
                <a:cs typeface="Roboto"/>
                <a:sym typeface="Roboto"/>
              </a:rPr>
              <a:t>NGUỒN DỮ LIỆU ẢNH X-RAY</a:t>
            </a:r>
          </a:p>
        </p:txBody>
      </p:sp>
      <p:sp>
        <p:nvSpPr>
          <p:cNvPr name="Freeform 8" id="8"/>
          <p:cNvSpPr/>
          <p:nvPr/>
        </p:nvSpPr>
        <p:spPr>
          <a:xfrm flipH="true" flipV="false" rot="6758039">
            <a:off x="-1462713" y="8319239"/>
            <a:ext cx="2702689" cy="2579840"/>
          </a:xfrm>
          <a:custGeom>
            <a:avLst/>
            <a:gdLst/>
            <a:ahLst/>
            <a:cxnLst/>
            <a:rect r="r" b="b" t="t" l="l"/>
            <a:pathLst>
              <a:path h="2579840" w="2702689">
                <a:moveTo>
                  <a:pt x="2702689" y="0"/>
                </a:moveTo>
                <a:lnTo>
                  <a:pt x="0" y="0"/>
                </a:lnTo>
                <a:lnTo>
                  <a:pt x="0" y="2579840"/>
                </a:lnTo>
                <a:lnTo>
                  <a:pt x="2702689" y="2579840"/>
                </a:lnTo>
                <a:lnTo>
                  <a:pt x="2702689"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9" id="9"/>
          <p:cNvGrpSpPr/>
          <p:nvPr/>
        </p:nvGrpSpPr>
        <p:grpSpPr>
          <a:xfrm rot="0">
            <a:off x="626738" y="550533"/>
            <a:ext cx="2291645" cy="652047"/>
            <a:chOff x="0" y="0"/>
            <a:chExt cx="3055526" cy="869397"/>
          </a:xfrm>
        </p:grpSpPr>
        <p:grpSp>
          <p:nvGrpSpPr>
            <p:cNvPr name="Group 10" id="10"/>
            <p:cNvGrpSpPr/>
            <p:nvPr/>
          </p:nvGrpSpPr>
          <p:grpSpPr>
            <a:xfrm rot="0">
              <a:off x="0" y="0"/>
              <a:ext cx="747138" cy="869397"/>
              <a:chOff x="0" y="0"/>
              <a:chExt cx="698500" cy="812800"/>
            </a:xfrm>
          </p:grpSpPr>
          <p:sp>
            <p:nvSpPr>
              <p:cNvPr name="Freeform 11" id="11"/>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000000">
                  <a:alpha val="0"/>
                </a:srgbClr>
              </a:solidFill>
              <a:ln w="95250" cap="sq">
                <a:solidFill>
                  <a:srgbClr val="348BFF"/>
                </a:solidFill>
                <a:prstDash val="solid"/>
                <a:miter/>
              </a:ln>
            </p:spPr>
          </p:sp>
          <p:sp>
            <p:nvSpPr>
              <p:cNvPr name="TextBox 12" id="12"/>
              <p:cNvSpPr txBox="true"/>
              <p:nvPr/>
            </p:nvSpPr>
            <p:spPr>
              <a:xfrm>
                <a:off x="0" y="101600"/>
                <a:ext cx="698500" cy="571500"/>
              </a:xfrm>
              <a:prstGeom prst="rect">
                <a:avLst/>
              </a:prstGeom>
            </p:spPr>
            <p:txBody>
              <a:bodyPr anchor="ctr" rtlCol="false" tIns="27034" lIns="27034" bIns="27034" rIns="27034"/>
              <a:lstStyle/>
              <a:p>
                <a:pPr algn="ctr">
                  <a:lnSpc>
                    <a:spcPts val="2659"/>
                  </a:lnSpc>
                </a:pPr>
              </a:p>
            </p:txBody>
          </p:sp>
        </p:grpSp>
        <p:sp>
          <p:nvSpPr>
            <p:cNvPr name="TextBox 13" id="13"/>
            <p:cNvSpPr txBox="true"/>
            <p:nvPr/>
          </p:nvSpPr>
          <p:spPr>
            <a:xfrm rot="0">
              <a:off x="954234" y="93383"/>
              <a:ext cx="2101293" cy="776014"/>
            </a:xfrm>
            <a:prstGeom prst="rect">
              <a:avLst/>
            </a:prstGeom>
          </p:spPr>
          <p:txBody>
            <a:bodyPr anchor="t" rtlCol="false" tIns="0" lIns="0" bIns="0" rIns="0">
              <a:spAutoFit/>
            </a:bodyPr>
            <a:lstStyle/>
            <a:p>
              <a:pPr algn="l">
                <a:lnSpc>
                  <a:spcPts val="2235"/>
                </a:lnSpc>
              </a:pPr>
              <a:r>
                <a:rPr lang="en-US" sz="1862">
                  <a:solidFill>
                    <a:srgbClr val="FFFFFF"/>
                  </a:solidFill>
                  <a:latin typeface="Mokoto"/>
                  <a:ea typeface="Mokoto"/>
                  <a:cs typeface="Mokoto"/>
                  <a:sym typeface="Mokoto"/>
                </a:rPr>
                <a:t>Company</a:t>
              </a:r>
            </a:p>
            <a:p>
              <a:pPr algn="l">
                <a:lnSpc>
                  <a:spcPts val="2235"/>
                </a:lnSpc>
              </a:pPr>
              <a:r>
                <a:rPr lang="en-US" sz="1862">
                  <a:solidFill>
                    <a:srgbClr val="FFFFFF"/>
                  </a:solidFill>
                  <a:latin typeface="Mokoto"/>
                  <a:ea typeface="Mokoto"/>
                  <a:cs typeface="Mokoto"/>
                  <a:sym typeface="Mokoto"/>
                </a:rPr>
                <a:t>Logo</a:t>
              </a:r>
            </a:p>
          </p:txBody>
        </p:sp>
      </p:grpSp>
      <p:grpSp>
        <p:nvGrpSpPr>
          <p:cNvPr name="Group 14" id="14"/>
          <p:cNvGrpSpPr/>
          <p:nvPr/>
        </p:nvGrpSpPr>
        <p:grpSpPr>
          <a:xfrm rot="0">
            <a:off x="14067484" y="-2546902"/>
            <a:ext cx="3252744" cy="5308602"/>
            <a:chOff x="0" y="0"/>
            <a:chExt cx="4677645" cy="7634093"/>
          </a:xfrm>
        </p:grpSpPr>
        <p:sp>
          <p:nvSpPr>
            <p:cNvPr name="Freeform 15" id="15"/>
            <p:cNvSpPr/>
            <p:nvPr/>
          </p:nvSpPr>
          <p:spPr>
            <a:xfrm flipH="false" flipV="false" rot="0">
              <a:off x="0" y="0"/>
              <a:ext cx="4677645" cy="7634093"/>
            </a:xfrm>
            <a:custGeom>
              <a:avLst/>
              <a:gdLst/>
              <a:ahLst/>
              <a:cxnLst/>
              <a:rect r="r" b="b" t="t" l="l"/>
              <a:pathLst>
                <a:path h="7634093" w="4677645">
                  <a:moveTo>
                    <a:pt x="4677645" y="0"/>
                  </a:moveTo>
                  <a:lnTo>
                    <a:pt x="2994432" y="7634093"/>
                  </a:lnTo>
                  <a:lnTo>
                    <a:pt x="0" y="7634093"/>
                  </a:lnTo>
                  <a:lnTo>
                    <a:pt x="1663620" y="0"/>
                  </a:lnTo>
                  <a:lnTo>
                    <a:pt x="4677645" y="0"/>
                  </a:lnTo>
                  <a:close/>
                </a:path>
              </a:pathLst>
            </a:custGeom>
            <a:blipFill>
              <a:blip r:embed="rId5"/>
              <a:stretch>
                <a:fillRect l="-46057" t="0" r="0" b="-19324"/>
              </a:stretch>
            </a:blipFill>
          </p:spPr>
        </p:sp>
      </p:grpSp>
      <p:sp>
        <p:nvSpPr>
          <p:cNvPr name="Freeform 16" id="16"/>
          <p:cNvSpPr/>
          <p:nvPr/>
        </p:nvSpPr>
        <p:spPr>
          <a:xfrm flipH="false" flipV="false" rot="0">
            <a:off x="10898617" y="2096532"/>
            <a:ext cx="7155079" cy="5958656"/>
          </a:xfrm>
          <a:custGeom>
            <a:avLst/>
            <a:gdLst/>
            <a:ahLst/>
            <a:cxnLst/>
            <a:rect r="r" b="b" t="t" l="l"/>
            <a:pathLst>
              <a:path h="5958656" w="7155079">
                <a:moveTo>
                  <a:pt x="0" y="0"/>
                </a:moveTo>
                <a:lnTo>
                  <a:pt x="7155079" y="0"/>
                </a:lnTo>
                <a:lnTo>
                  <a:pt x="7155079" y="5958656"/>
                </a:lnTo>
                <a:lnTo>
                  <a:pt x="0" y="5958656"/>
                </a:lnTo>
                <a:lnTo>
                  <a:pt x="0" y="0"/>
                </a:lnTo>
                <a:close/>
              </a:path>
            </a:pathLst>
          </a:custGeom>
          <a:blipFill>
            <a:blip r:embed="rId6"/>
            <a:stretch>
              <a:fillRect l="0" t="0" r="0" b="0"/>
            </a:stretch>
          </a:blipFill>
        </p:spPr>
      </p:sp>
      <p:sp>
        <p:nvSpPr>
          <p:cNvPr name="TextBox 17" id="17"/>
          <p:cNvSpPr txBox="true"/>
          <p:nvPr/>
        </p:nvSpPr>
        <p:spPr>
          <a:xfrm rot="0">
            <a:off x="626738" y="3650679"/>
            <a:ext cx="10271879" cy="2389505"/>
          </a:xfrm>
          <a:prstGeom prst="rect">
            <a:avLst/>
          </a:prstGeom>
        </p:spPr>
        <p:txBody>
          <a:bodyPr anchor="t" rtlCol="false" tIns="0" lIns="0" bIns="0" rIns="0">
            <a:spAutoFit/>
          </a:bodyPr>
          <a:lstStyle/>
          <a:p>
            <a:pPr algn="just" marL="496571" indent="-248285" lvl="1">
              <a:lnSpc>
                <a:spcPts val="3220"/>
              </a:lnSpc>
              <a:buAutoNum type="arabicPeriod" startAt="1"/>
            </a:pPr>
            <a:r>
              <a:rPr lang="en-US" sz="2300">
                <a:solidFill>
                  <a:srgbClr val="FFFFFF"/>
                </a:solidFill>
                <a:latin typeface="Canva Sans"/>
                <a:ea typeface="Canva Sans"/>
                <a:cs typeface="Canva Sans"/>
                <a:sym typeface="Canva Sans"/>
              </a:rPr>
              <a:t>https://universe.roboflow.com/kunkun-vhmx2/weld-2z7bw </a:t>
            </a:r>
          </a:p>
          <a:p>
            <a:pPr algn="just" marL="496571" indent="-248285" lvl="1">
              <a:lnSpc>
                <a:spcPts val="3220"/>
              </a:lnSpc>
              <a:buAutoNum type="arabicPeriod" startAt="1"/>
            </a:pPr>
            <a:r>
              <a:rPr lang="en-US" sz="2300">
                <a:solidFill>
                  <a:srgbClr val="FFFFFF"/>
                </a:solidFill>
                <a:latin typeface="Canva Sans"/>
                <a:ea typeface="Canva Sans"/>
                <a:cs typeface="Canva Sans"/>
                <a:sym typeface="Canva Sans"/>
              </a:rPr>
              <a:t>https://universe.roboflow.com/jaysojitra0022-gmail-com/x-ray-mjcun </a:t>
            </a:r>
          </a:p>
          <a:p>
            <a:pPr algn="just" marL="496571" indent="-248285" lvl="1">
              <a:lnSpc>
                <a:spcPts val="3220"/>
              </a:lnSpc>
              <a:buAutoNum type="arabicPeriod" startAt="1"/>
            </a:pPr>
            <a:r>
              <a:rPr lang="en-US" sz="2300">
                <a:solidFill>
                  <a:srgbClr val="FFFFFF"/>
                </a:solidFill>
                <a:latin typeface="Canva Sans"/>
                <a:ea typeface="Canva Sans"/>
                <a:cs typeface="Canva Sans"/>
                <a:sym typeface="Canva Sans"/>
              </a:rPr>
              <a:t>https://universe.roboflow.com/project-u4wny/weld-m4trh </a:t>
            </a:r>
          </a:p>
          <a:p>
            <a:pPr algn="just" marL="496571" indent="-248285" lvl="1">
              <a:lnSpc>
                <a:spcPts val="3220"/>
              </a:lnSpc>
              <a:buAutoNum type="arabicPeriod" startAt="1"/>
            </a:pPr>
            <a:r>
              <a:rPr lang="en-US" sz="2300">
                <a:solidFill>
                  <a:srgbClr val="FFFFFF"/>
                </a:solidFill>
                <a:latin typeface="Canva Sans"/>
                <a:ea typeface="Canva Sans"/>
                <a:cs typeface="Canva Sans"/>
                <a:sym typeface="Canva Sans"/>
              </a:rPr>
              <a:t>https://universe.roboflow.com/vit-chennai-bpzhk/weld-n5lap </a:t>
            </a:r>
          </a:p>
          <a:p>
            <a:pPr algn="just" marL="496571" indent="-248285" lvl="1">
              <a:lnSpc>
                <a:spcPts val="3220"/>
              </a:lnSpc>
              <a:buAutoNum type="arabicPeriod" startAt="1"/>
            </a:pPr>
            <a:r>
              <a:rPr lang="en-US" sz="2300">
                <a:solidFill>
                  <a:srgbClr val="FFFFFF"/>
                </a:solidFill>
                <a:latin typeface="Canva Sans"/>
                <a:ea typeface="Canva Sans"/>
                <a:cs typeface="Canva Sans"/>
                <a:sym typeface="Canva Sans"/>
              </a:rPr>
              <a:t>https://universe.roboflow.com/test-szbyx/weld-usuga </a:t>
            </a:r>
          </a:p>
          <a:p>
            <a:pPr algn="just" marL="496571" indent="-248285" lvl="1">
              <a:lnSpc>
                <a:spcPts val="3220"/>
              </a:lnSpc>
              <a:buAutoNum type="arabicPeriod" startAt="1"/>
            </a:pPr>
            <a:r>
              <a:rPr lang="en-US" sz="2300">
                <a:solidFill>
                  <a:srgbClr val="FFFFFF"/>
                </a:solidFill>
                <a:latin typeface="Canva Sans"/>
                <a:ea typeface="Canva Sans"/>
                <a:cs typeface="Canva Sans"/>
                <a:sym typeface="Canva Sans"/>
              </a:rPr>
              <a:t>https://universe.roboflow.com/vit-chennai-bpzhk/weld-n5lap </a:t>
            </a:r>
          </a:p>
        </p:txBody>
      </p:sp>
      <p:sp>
        <p:nvSpPr>
          <p:cNvPr name="TextBox 18" id="18"/>
          <p:cNvSpPr txBox="true"/>
          <p:nvPr/>
        </p:nvSpPr>
        <p:spPr>
          <a:xfrm rot="0">
            <a:off x="12649262" y="8344653"/>
            <a:ext cx="3653790" cy="514350"/>
          </a:xfrm>
          <a:prstGeom prst="rect">
            <a:avLst/>
          </a:prstGeom>
        </p:spPr>
        <p:txBody>
          <a:bodyPr anchor="t" rtlCol="false" tIns="0" lIns="0" bIns="0" rIns="0">
            <a:spAutoFit/>
          </a:bodyPr>
          <a:lstStyle/>
          <a:p>
            <a:pPr algn="ctr">
              <a:lnSpc>
                <a:spcPts val="4200"/>
              </a:lnSpc>
              <a:spcBef>
                <a:spcPct val="0"/>
              </a:spcBef>
            </a:pPr>
            <a:r>
              <a:rPr lang="en-US" sz="3000">
                <a:solidFill>
                  <a:srgbClr val="FFFFFF"/>
                </a:solidFill>
                <a:latin typeface="Canva Sans"/>
                <a:ea typeface="Canva Sans"/>
                <a:cs typeface="Canva Sans"/>
                <a:sym typeface="Canva Sans"/>
              </a:rPr>
              <a:t>Tỉ</a:t>
            </a:r>
            <a:r>
              <a:rPr lang="en-US" sz="3000">
                <a:solidFill>
                  <a:srgbClr val="FFFFFF"/>
                </a:solidFill>
                <a:latin typeface="Canva Sans"/>
                <a:ea typeface="Canva Sans"/>
                <a:cs typeface="Canva Sans"/>
                <a:sym typeface="Canva Sans"/>
              </a:rPr>
              <a:t> lệ chia tập dữ liệu</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2594913">
            <a:off x="-2201586" y="4156675"/>
            <a:ext cx="5419988" cy="5173625"/>
          </a:xfrm>
          <a:custGeom>
            <a:avLst/>
            <a:gdLst/>
            <a:ahLst/>
            <a:cxnLst/>
            <a:rect r="r" b="b" t="t" l="l"/>
            <a:pathLst>
              <a:path h="5173625" w="5419988">
                <a:moveTo>
                  <a:pt x="0" y="0"/>
                </a:moveTo>
                <a:lnTo>
                  <a:pt x="5419988" y="0"/>
                </a:lnTo>
                <a:lnTo>
                  <a:pt x="5419988" y="5173625"/>
                </a:lnTo>
                <a:lnTo>
                  <a:pt x="0" y="51736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0" y="451451"/>
            <a:ext cx="18288000" cy="10109527"/>
            <a:chOff x="0" y="0"/>
            <a:chExt cx="4816593" cy="2662592"/>
          </a:xfrm>
        </p:grpSpPr>
        <p:sp>
          <p:nvSpPr>
            <p:cNvPr name="Freeform 5" id="5"/>
            <p:cNvSpPr/>
            <p:nvPr/>
          </p:nvSpPr>
          <p:spPr>
            <a:xfrm flipH="false" flipV="false" rot="0">
              <a:off x="0" y="0"/>
              <a:ext cx="4816592" cy="2662592"/>
            </a:xfrm>
            <a:custGeom>
              <a:avLst/>
              <a:gdLst/>
              <a:ahLst/>
              <a:cxnLst/>
              <a:rect r="r" b="b" t="t" l="l"/>
              <a:pathLst>
                <a:path h="2662592" w="4816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name="TextBox 6" id="6"/>
            <p:cNvSpPr txBox="true"/>
            <p:nvPr/>
          </p:nvSpPr>
          <p:spPr>
            <a:xfrm>
              <a:off x="0" y="-38100"/>
              <a:ext cx="4816593" cy="2700692"/>
            </a:xfrm>
            <a:prstGeom prst="rect">
              <a:avLst/>
            </a:prstGeom>
          </p:spPr>
          <p:txBody>
            <a:bodyPr anchor="ctr" rtlCol="false" tIns="50800" lIns="50800" bIns="50800" rIns="50800"/>
            <a:lstStyle/>
            <a:p>
              <a:pPr algn="ctr">
                <a:lnSpc>
                  <a:spcPts val="2659"/>
                </a:lnSpc>
                <a:spcBef>
                  <a:spcPct val="0"/>
                </a:spcBef>
              </a:pPr>
            </a:p>
          </p:txBody>
        </p:sp>
      </p:grpSp>
      <p:sp>
        <p:nvSpPr>
          <p:cNvPr name="TextBox 7" id="7"/>
          <p:cNvSpPr txBox="true"/>
          <p:nvPr/>
        </p:nvSpPr>
        <p:spPr>
          <a:xfrm rot="0">
            <a:off x="1680298" y="436233"/>
            <a:ext cx="15945920" cy="1918581"/>
          </a:xfrm>
          <a:prstGeom prst="rect">
            <a:avLst/>
          </a:prstGeom>
        </p:spPr>
        <p:txBody>
          <a:bodyPr anchor="t" rtlCol="false" tIns="0" lIns="0" bIns="0" rIns="0">
            <a:spAutoFit/>
          </a:bodyPr>
          <a:lstStyle/>
          <a:p>
            <a:pPr algn="ctr">
              <a:lnSpc>
                <a:spcPts val="7651"/>
              </a:lnSpc>
            </a:pPr>
            <a:r>
              <a:rPr lang="en-US" sz="5465" spc="-54">
                <a:solidFill>
                  <a:srgbClr val="348BFF"/>
                </a:solidFill>
                <a:latin typeface="Roboto"/>
                <a:ea typeface="Roboto"/>
                <a:cs typeface="Roboto"/>
                <a:sym typeface="Roboto"/>
              </a:rPr>
              <a:t>CHUẨN BỊ DỮ LIỆU X-RAY MỐI HÀN</a:t>
            </a:r>
          </a:p>
          <a:p>
            <a:pPr algn="ctr">
              <a:lnSpc>
                <a:spcPts val="7651"/>
              </a:lnSpc>
            </a:pPr>
          </a:p>
        </p:txBody>
      </p:sp>
      <p:sp>
        <p:nvSpPr>
          <p:cNvPr name="Freeform 8" id="8"/>
          <p:cNvSpPr/>
          <p:nvPr/>
        </p:nvSpPr>
        <p:spPr>
          <a:xfrm flipH="true" flipV="false" rot="-10792239">
            <a:off x="16488102" y="-1066193"/>
            <a:ext cx="2702689" cy="2579840"/>
          </a:xfrm>
          <a:custGeom>
            <a:avLst/>
            <a:gdLst/>
            <a:ahLst/>
            <a:cxnLst/>
            <a:rect r="r" b="b" t="t" l="l"/>
            <a:pathLst>
              <a:path h="2579840" w="2702689">
                <a:moveTo>
                  <a:pt x="2702689" y="0"/>
                </a:moveTo>
                <a:lnTo>
                  <a:pt x="0" y="0"/>
                </a:lnTo>
                <a:lnTo>
                  <a:pt x="0" y="2579839"/>
                </a:lnTo>
                <a:lnTo>
                  <a:pt x="2702689" y="2579839"/>
                </a:lnTo>
                <a:lnTo>
                  <a:pt x="2702689"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9" id="9"/>
          <p:cNvGrpSpPr/>
          <p:nvPr/>
        </p:nvGrpSpPr>
        <p:grpSpPr>
          <a:xfrm rot="0">
            <a:off x="626738" y="550533"/>
            <a:ext cx="560353" cy="652047"/>
            <a:chOff x="0" y="0"/>
            <a:chExt cx="698500" cy="812800"/>
          </a:xfrm>
        </p:grpSpPr>
        <p:sp>
          <p:nvSpPr>
            <p:cNvPr name="Freeform 10" id="10"/>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000000">
                <a:alpha val="0"/>
              </a:srgbClr>
            </a:solidFill>
            <a:ln w="95250" cap="sq">
              <a:solidFill>
                <a:srgbClr val="348BFF"/>
              </a:solidFill>
              <a:prstDash val="solid"/>
              <a:miter/>
            </a:ln>
          </p:spPr>
        </p:sp>
        <p:sp>
          <p:nvSpPr>
            <p:cNvPr name="TextBox 11" id="11"/>
            <p:cNvSpPr txBox="true"/>
            <p:nvPr/>
          </p:nvSpPr>
          <p:spPr>
            <a:xfrm>
              <a:off x="0" y="101600"/>
              <a:ext cx="698500" cy="571500"/>
            </a:xfrm>
            <a:prstGeom prst="rect">
              <a:avLst/>
            </a:prstGeom>
          </p:spPr>
          <p:txBody>
            <a:bodyPr anchor="ctr" rtlCol="false" tIns="27034" lIns="27034" bIns="27034" rIns="27034"/>
            <a:lstStyle/>
            <a:p>
              <a:pPr algn="ctr">
                <a:lnSpc>
                  <a:spcPts val="2659"/>
                </a:lnSpc>
              </a:pPr>
            </a:p>
          </p:txBody>
        </p:sp>
      </p:grpSp>
      <p:sp>
        <p:nvSpPr>
          <p:cNvPr name="TextBox 12" id="12"/>
          <p:cNvSpPr txBox="true"/>
          <p:nvPr/>
        </p:nvSpPr>
        <p:spPr>
          <a:xfrm rot="0">
            <a:off x="5542726" y="9512130"/>
            <a:ext cx="7644724" cy="514350"/>
          </a:xfrm>
          <a:prstGeom prst="rect">
            <a:avLst/>
          </a:prstGeom>
        </p:spPr>
        <p:txBody>
          <a:bodyPr anchor="t" rtlCol="false" tIns="0" lIns="0" bIns="0" rIns="0">
            <a:spAutoFit/>
          </a:bodyPr>
          <a:lstStyle/>
          <a:p>
            <a:pPr algn="ctr">
              <a:lnSpc>
                <a:spcPts val="4200"/>
              </a:lnSpc>
              <a:spcBef>
                <a:spcPct val="0"/>
              </a:spcBef>
            </a:pPr>
            <a:r>
              <a:rPr lang="en-US" sz="3000">
                <a:solidFill>
                  <a:srgbClr val="FFFFFF"/>
                </a:solidFill>
                <a:latin typeface="Canva Sans"/>
                <a:ea typeface="Canva Sans"/>
                <a:cs typeface="Canva Sans"/>
                <a:sym typeface="Canva Sans"/>
              </a:rPr>
              <a:t>Số</a:t>
            </a:r>
            <a:r>
              <a:rPr lang="en-US" sz="3000">
                <a:solidFill>
                  <a:srgbClr val="FFFFFF"/>
                </a:solidFill>
                <a:latin typeface="Canva Sans"/>
                <a:ea typeface="Canva Sans"/>
                <a:cs typeface="Canva Sans"/>
                <a:sym typeface="Canva Sans"/>
              </a:rPr>
              <a:t> lượng mẫu của từng loại khuyết tật </a:t>
            </a:r>
          </a:p>
        </p:txBody>
      </p:sp>
      <p:pic>
        <p:nvPicPr>
          <p:cNvPr name="Picture 13" id="13"/>
          <p:cNvPicPr>
            <a:picLocks noChangeAspect="true"/>
          </p:cNvPicPr>
          <p:nvPr/>
        </p:nvPicPr>
        <p:blipFill>
          <a:blip r:embed="rId5"/>
          <a:stretch>
            <a:fillRect/>
          </a:stretch>
        </p:blipFill>
        <p:spPr>
          <a:xfrm rot="0">
            <a:off x="1011860" y="50944"/>
            <a:ext cx="16706455" cy="10910540"/>
          </a:xfrm>
          <a:prstGeom prst="rect">
            <a:avLst/>
          </a:prstGeom>
        </p:spPr>
      </p:pic>
      <p:sp>
        <p:nvSpPr>
          <p:cNvPr name="TextBox 14" id="14"/>
          <p:cNvSpPr txBox="true"/>
          <p:nvPr/>
        </p:nvSpPr>
        <p:spPr>
          <a:xfrm rot="0">
            <a:off x="4254728" y="3792581"/>
            <a:ext cx="681157" cy="389255"/>
          </a:xfrm>
          <a:prstGeom prst="rect">
            <a:avLst/>
          </a:prstGeom>
        </p:spPr>
        <p:txBody>
          <a:bodyPr anchor="t" rtlCol="false" tIns="0" lIns="0" bIns="0" rIns="0">
            <a:spAutoFit/>
          </a:bodyPr>
          <a:lstStyle/>
          <a:p>
            <a:pPr algn="ctr">
              <a:lnSpc>
                <a:spcPts val="3220"/>
              </a:lnSpc>
              <a:spcBef>
                <a:spcPct val="0"/>
              </a:spcBef>
            </a:pPr>
            <a:r>
              <a:rPr lang="en-US" sz="2300">
                <a:solidFill>
                  <a:srgbClr val="FFFFFF"/>
                </a:solidFill>
                <a:latin typeface="Canva Sans"/>
                <a:ea typeface="Canva Sans"/>
                <a:cs typeface="Canva Sans"/>
                <a:sym typeface="Canva Sans"/>
              </a:rPr>
              <a:t>5814</a:t>
            </a:r>
          </a:p>
        </p:txBody>
      </p:sp>
      <p:sp>
        <p:nvSpPr>
          <p:cNvPr name="TextBox 15" id="15"/>
          <p:cNvSpPr txBox="true"/>
          <p:nvPr/>
        </p:nvSpPr>
        <p:spPr>
          <a:xfrm rot="0">
            <a:off x="7814134" y="4323879"/>
            <a:ext cx="659963" cy="389255"/>
          </a:xfrm>
          <a:prstGeom prst="rect">
            <a:avLst/>
          </a:prstGeom>
        </p:spPr>
        <p:txBody>
          <a:bodyPr anchor="t" rtlCol="false" tIns="0" lIns="0" bIns="0" rIns="0">
            <a:spAutoFit/>
          </a:bodyPr>
          <a:lstStyle/>
          <a:p>
            <a:pPr algn="ctr">
              <a:lnSpc>
                <a:spcPts val="3220"/>
              </a:lnSpc>
              <a:spcBef>
                <a:spcPct val="0"/>
              </a:spcBef>
            </a:pPr>
            <a:r>
              <a:rPr lang="en-US" sz="2300">
                <a:solidFill>
                  <a:srgbClr val="FFFFFF"/>
                </a:solidFill>
                <a:latin typeface="Canva Sans"/>
                <a:ea typeface="Canva Sans"/>
                <a:cs typeface="Canva Sans"/>
                <a:sym typeface="Canva Sans"/>
              </a:rPr>
              <a:t>5107</a:t>
            </a:r>
          </a:p>
        </p:txBody>
      </p:sp>
      <p:sp>
        <p:nvSpPr>
          <p:cNvPr name="TextBox 16" id="16"/>
          <p:cNvSpPr txBox="true"/>
          <p:nvPr/>
        </p:nvSpPr>
        <p:spPr>
          <a:xfrm rot="0">
            <a:off x="11353036" y="2136374"/>
            <a:ext cx="596503" cy="389255"/>
          </a:xfrm>
          <a:prstGeom prst="rect">
            <a:avLst/>
          </a:prstGeom>
        </p:spPr>
        <p:txBody>
          <a:bodyPr anchor="t" rtlCol="false" tIns="0" lIns="0" bIns="0" rIns="0">
            <a:spAutoFit/>
          </a:bodyPr>
          <a:lstStyle/>
          <a:p>
            <a:pPr algn="ctr">
              <a:lnSpc>
                <a:spcPts val="3220"/>
              </a:lnSpc>
              <a:spcBef>
                <a:spcPct val="0"/>
              </a:spcBef>
            </a:pPr>
            <a:r>
              <a:rPr lang="en-US" sz="2300">
                <a:solidFill>
                  <a:srgbClr val="FFFFFF"/>
                </a:solidFill>
                <a:latin typeface="Canva Sans"/>
                <a:ea typeface="Canva Sans"/>
                <a:cs typeface="Canva Sans"/>
                <a:sym typeface="Canva Sans"/>
              </a:rPr>
              <a:t>7757</a:t>
            </a:r>
          </a:p>
        </p:txBody>
      </p:sp>
      <p:sp>
        <p:nvSpPr>
          <p:cNvPr name="TextBox 17" id="17"/>
          <p:cNvSpPr txBox="true"/>
          <p:nvPr/>
        </p:nvSpPr>
        <p:spPr>
          <a:xfrm rot="0">
            <a:off x="14845215" y="4323879"/>
            <a:ext cx="669965" cy="389255"/>
          </a:xfrm>
          <a:prstGeom prst="rect">
            <a:avLst/>
          </a:prstGeom>
        </p:spPr>
        <p:txBody>
          <a:bodyPr anchor="t" rtlCol="false" tIns="0" lIns="0" bIns="0" rIns="0">
            <a:spAutoFit/>
          </a:bodyPr>
          <a:lstStyle/>
          <a:p>
            <a:pPr algn="ctr">
              <a:lnSpc>
                <a:spcPts val="3220"/>
              </a:lnSpc>
              <a:spcBef>
                <a:spcPct val="0"/>
              </a:spcBef>
            </a:pPr>
            <a:r>
              <a:rPr lang="en-US" sz="2300">
                <a:solidFill>
                  <a:srgbClr val="FFFFFF"/>
                </a:solidFill>
                <a:latin typeface="Canva Sans"/>
                <a:ea typeface="Canva Sans"/>
                <a:cs typeface="Canva Sans"/>
                <a:sym typeface="Canva Sans"/>
              </a:rPr>
              <a:t>4911</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2594913">
            <a:off x="-2201586" y="4156675"/>
            <a:ext cx="5419988" cy="5173625"/>
          </a:xfrm>
          <a:custGeom>
            <a:avLst/>
            <a:gdLst/>
            <a:ahLst/>
            <a:cxnLst/>
            <a:rect r="r" b="b" t="t" l="l"/>
            <a:pathLst>
              <a:path h="5173625" w="5419988">
                <a:moveTo>
                  <a:pt x="0" y="0"/>
                </a:moveTo>
                <a:lnTo>
                  <a:pt x="5419988" y="0"/>
                </a:lnTo>
                <a:lnTo>
                  <a:pt x="5419988" y="5173625"/>
                </a:lnTo>
                <a:lnTo>
                  <a:pt x="0" y="51736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76602" y="10597"/>
            <a:ext cx="18288000" cy="10109527"/>
            <a:chOff x="0" y="0"/>
            <a:chExt cx="4816593" cy="2662592"/>
          </a:xfrm>
        </p:grpSpPr>
        <p:sp>
          <p:nvSpPr>
            <p:cNvPr name="Freeform 5" id="5"/>
            <p:cNvSpPr/>
            <p:nvPr/>
          </p:nvSpPr>
          <p:spPr>
            <a:xfrm flipH="false" flipV="false" rot="0">
              <a:off x="0" y="0"/>
              <a:ext cx="4816592" cy="2662592"/>
            </a:xfrm>
            <a:custGeom>
              <a:avLst/>
              <a:gdLst/>
              <a:ahLst/>
              <a:cxnLst/>
              <a:rect r="r" b="b" t="t" l="l"/>
              <a:pathLst>
                <a:path h="2662592" w="4816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name="TextBox 6" id="6"/>
            <p:cNvSpPr txBox="true"/>
            <p:nvPr/>
          </p:nvSpPr>
          <p:spPr>
            <a:xfrm>
              <a:off x="0" y="-38100"/>
              <a:ext cx="4816593" cy="2700692"/>
            </a:xfrm>
            <a:prstGeom prst="rect">
              <a:avLst/>
            </a:prstGeom>
          </p:spPr>
          <p:txBody>
            <a:bodyPr anchor="ctr" rtlCol="false" tIns="50800" lIns="50800" bIns="50800" rIns="50800"/>
            <a:lstStyle/>
            <a:p>
              <a:pPr algn="ctr">
                <a:lnSpc>
                  <a:spcPts val="2659"/>
                </a:lnSpc>
                <a:spcBef>
                  <a:spcPct val="0"/>
                </a:spcBef>
              </a:pPr>
            </a:p>
          </p:txBody>
        </p:sp>
      </p:grpSp>
      <p:sp>
        <p:nvSpPr>
          <p:cNvPr name="TextBox 7" id="7"/>
          <p:cNvSpPr txBox="true"/>
          <p:nvPr/>
        </p:nvSpPr>
        <p:spPr>
          <a:xfrm rot="0">
            <a:off x="1680298" y="436233"/>
            <a:ext cx="15945920" cy="947031"/>
          </a:xfrm>
          <a:prstGeom prst="rect">
            <a:avLst/>
          </a:prstGeom>
        </p:spPr>
        <p:txBody>
          <a:bodyPr anchor="t" rtlCol="false" tIns="0" lIns="0" bIns="0" rIns="0">
            <a:spAutoFit/>
          </a:bodyPr>
          <a:lstStyle/>
          <a:p>
            <a:pPr algn="ctr">
              <a:lnSpc>
                <a:spcPts val="7651"/>
              </a:lnSpc>
            </a:pPr>
            <a:r>
              <a:rPr lang="en-US" sz="5465" spc="-54">
                <a:solidFill>
                  <a:srgbClr val="348BFF"/>
                </a:solidFill>
                <a:latin typeface="Roboto"/>
                <a:ea typeface="Roboto"/>
                <a:cs typeface="Roboto"/>
                <a:sym typeface="Roboto"/>
              </a:rPr>
              <a:t>THÁCH THỨC CỦA DỮ LIỆU X-RAY MỐI HÀN </a:t>
            </a:r>
          </a:p>
        </p:txBody>
      </p:sp>
      <p:sp>
        <p:nvSpPr>
          <p:cNvPr name="Freeform 8" id="8"/>
          <p:cNvSpPr/>
          <p:nvPr/>
        </p:nvSpPr>
        <p:spPr>
          <a:xfrm flipH="true" flipV="false" rot="-10792239">
            <a:off x="16488102" y="-1066193"/>
            <a:ext cx="2702689" cy="2579840"/>
          </a:xfrm>
          <a:custGeom>
            <a:avLst/>
            <a:gdLst/>
            <a:ahLst/>
            <a:cxnLst/>
            <a:rect r="r" b="b" t="t" l="l"/>
            <a:pathLst>
              <a:path h="2579840" w="2702689">
                <a:moveTo>
                  <a:pt x="2702689" y="0"/>
                </a:moveTo>
                <a:lnTo>
                  <a:pt x="0" y="0"/>
                </a:lnTo>
                <a:lnTo>
                  <a:pt x="0" y="2579839"/>
                </a:lnTo>
                <a:lnTo>
                  <a:pt x="2702689" y="2579839"/>
                </a:lnTo>
                <a:lnTo>
                  <a:pt x="2702689"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9" id="9"/>
          <p:cNvGrpSpPr/>
          <p:nvPr/>
        </p:nvGrpSpPr>
        <p:grpSpPr>
          <a:xfrm rot="0">
            <a:off x="626738" y="550533"/>
            <a:ext cx="560353" cy="652047"/>
            <a:chOff x="0" y="0"/>
            <a:chExt cx="698500" cy="812800"/>
          </a:xfrm>
        </p:grpSpPr>
        <p:sp>
          <p:nvSpPr>
            <p:cNvPr name="Freeform 10" id="10"/>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000000">
                <a:alpha val="0"/>
              </a:srgbClr>
            </a:solidFill>
            <a:ln w="95250" cap="sq">
              <a:solidFill>
                <a:srgbClr val="348BFF"/>
              </a:solidFill>
              <a:prstDash val="solid"/>
              <a:miter/>
            </a:ln>
          </p:spPr>
        </p:sp>
        <p:sp>
          <p:nvSpPr>
            <p:cNvPr name="TextBox 11" id="11"/>
            <p:cNvSpPr txBox="true"/>
            <p:nvPr/>
          </p:nvSpPr>
          <p:spPr>
            <a:xfrm>
              <a:off x="0" y="101600"/>
              <a:ext cx="698500" cy="571500"/>
            </a:xfrm>
            <a:prstGeom prst="rect">
              <a:avLst/>
            </a:prstGeom>
          </p:spPr>
          <p:txBody>
            <a:bodyPr anchor="ctr" rtlCol="false" tIns="27034" lIns="27034" bIns="27034" rIns="27034"/>
            <a:lstStyle/>
            <a:p>
              <a:pPr algn="ctr">
                <a:lnSpc>
                  <a:spcPts val="2659"/>
                </a:lnSpc>
              </a:pPr>
            </a:p>
          </p:txBody>
        </p:sp>
      </p:grpSp>
      <p:sp>
        <p:nvSpPr>
          <p:cNvPr name="Freeform 12" id="12"/>
          <p:cNvSpPr/>
          <p:nvPr/>
        </p:nvSpPr>
        <p:spPr>
          <a:xfrm flipH="false" flipV="false" rot="0">
            <a:off x="1028700" y="1516693"/>
            <a:ext cx="7796977" cy="1970509"/>
          </a:xfrm>
          <a:custGeom>
            <a:avLst/>
            <a:gdLst/>
            <a:ahLst/>
            <a:cxnLst/>
            <a:rect r="r" b="b" t="t" l="l"/>
            <a:pathLst>
              <a:path h="1970509" w="7796977">
                <a:moveTo>
                  <a:pt x="0" y="0"/>
                </a:moveTo>
                <a:lnTo>
                  <a:pt x="7796977" y="0"/>
                </a:lnTo>
                <a:lnTo>
                  <a:pt x="7796977" y="1970509"/>
                </a:lnTo>
                <a:lnTo>
                  <a:pt x="0" y="197050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0">
            <a:off x="1028700" y="4042923"/>
            <a:ext cx="7661287" cy="1936216"/>
          </a:xfrm>
          <a:custGeom>
            <a:avLst/>
            <a:gdLst/>
            <a:ahLst/>
            <a:cxnLst/>
            <a:rect r="r" b="b" t="t" l="l"/>
            <a:pathLst>
              <a:path h="1936216" w="7661287">
                <a:moveTo>
                  <a:pt x="0" y="0"/>
                </a:moveTo>
                <a:lnTo>
                  <a:pt x="7661287" y="0"/>
                </a:lnTo>
                <a:lnTo>
                  <a:pt x="7661287" y="1936216"/>
                </a:lnTo>
                <a:lnTo>
                  <a:pt x="0" y="193621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false" flipV="false" rot="0">
            <a:off x="9514152" y="4086656"/>
            <a:ext cx="7745148" cy="1957410"/>
          </a:xfrm>
          <a:custGeom>
            <a:avLst/>
            <a:gdLst/>
            <a:ahLst/>
            <a:cxnLst/>
            <a:rect r="r" b="b" t="t" l="l"/>
            <a:pathLst>
              <a:path h="1957410" w="7745148">
                <a:moveTo>
                  <a:pt x="0" y="0"/>
                </a:moveTo>
                <a:lnTo>
                  <a:pt x="7745148" y="0"/>
                </a:lnTo>
                <a:lnTo>
                  <a:pt x="7745148" y="1957410"/>
                </a:lnTo>
                <a:lnTo>
                  <a:pt x="0" y="19574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0">
            <a:off x="18121389" y="3860227"/>
            <a:ext cx="7315200" cy="1848751"/>
          </a:xfrm>
          <a:custGeom>
            <a:avLst/>
            <a:gdLst/>
            <a:ahLst/>
            <a:cxnLst/>
            <a:rect r="r" b="b" t="t" l="l"/>
            <a:pathLst>
              <a:path h="1848751" w="7315200">
                <a:moveTo>
                  <a:pt x="0" y="0"/>
                </a:moveTo>
                <a:lnTo>
                  <a:pt x="7315200" y="0"/>
                </a:lnTo>
                <a:lnTo>
                  <a:pt x="7315200" y="1848751"/>
                </a:lnTo>
                <a:lnTo>
                  <a:pt x="0" y="18487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6" id="16"/>
          <p:cNvSpPr/>
          <p:nvPr/>
        </p:nvSpPr>
        <p:spPr>
          <a:xfrm flipH="false" flipV="false" rot="0">
            <a:off x="9462323" y="1516693"/>
            <a:ext cx="7796977" cy="1970509"/>
          </a:xfrm>
          <a:custGeom>
            <a:avLst/>
            <a:gdLst/>
            <a:ahLst/>
            <a:cxnLst/>
            <a:rect r="r" b="b" t="t" l="l"/>
            <a:pathLst>
              <a:path h="1970509" w="7796977">
                <a:moveTo>
                  <a:pt x="0" y="0"/>
                </a:moveTo>
                <a:lnTo>
                  <a:pt x="7796977" y="0"/>
                </a:lnTo>
                <a:lnTo>
                  <a:pt x="7796977" y="1970509"/>
                </a:lnTo>
                <a:lnTo>
                  <a:pt x="0" y="197050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false" flipV="false" rot="0">
            <a:off x="1680298" y="1572232"/>
            <a:ext cx="384184" cy="600288"/>
          </a:xfrm>
          <a:custGeom>
            <a:avLst/>
            <a:gdLst/>
            <a:ahLst/>
            <a:cxnLst/>
            <a:rect r="r" b="b" t="t" l="l"/>
            <a:pathLst>
              <a:path h="600288" w="384184">
                <a:moveTo>
                  <a:pt x="0" y="0"/>
                </a:moveTo>
                <a:lnTo>
                  <a:pt x="384185" y="0"/>
                </a:lnTo>
                <a:lnTo>
                  <a:pt x="384185" y="600288"/>
                </a:lnTo>
                <a:lnTo>
                  <a:pt x="0" y="60028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8" id="18"/>
          <p:cNvSpPr/>
          <p:nvPr/>
        </p:nvSpPr>
        <p:spPr>
          <a:xfrm flipH="false" flipV="false" rot="0">
            <a:off x="10082433" y="1582840"/>
            <a:ext cx="431671" cy="579071"/>
          </a:xfrm>
          <a:custGeom>
            <a:avLst/>
            <a:gdLst/>
            <a:ahLst/>
            <a:cxnLst/>
            <a:rect r="r" b="b" t="t" l="l"/>
            <a:pathLst>
              <a:path h="579071" w="431671">
                <a:moveTo>
                  <a:pt x="0" y="0"/>
                </a:moveTo>
                <a:lnTo>
                  <a:pt x="431671" y="0"/>
                </a:lnTo>
                <a:lnTo>
                  <a:pt x="431671" y="579071"/>
                </a:lnTo>
                <a:lnTo>
                  <a:pt x="0" y="57907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9" id="19"/>
          <p:cNvSpPr/>
          <p:nvPr/>
        </p:nvSpPr>
        <p:spPr>
          <a:xfrm flipH="false" flipV="false" rot="0">
            <a:off x="1601608" y="4052448"/>
            <a:ext cx="444219" cy="637912"/>
          </a:xfrm>
          <a:custGeom>
            <a:avLst/>
            <a:gdLst/>
            <a:ahLst/>
            <a:cxnLst/>
            <a:rect r="r" b="b" t="t" l="l"/>
            <a:pathLst>
              <a:path h="637912" w="444219">
                <a:moveTo>
                  <a:pt x="0" y="0"/>
                </a:moveTo>
                <a:lnTo>
                  <a:pt x="444219" y="0"/>
                </a:lnTo>
                <a:lnTo>
                  <a:pt x="444219" y="637912"/>
                </a:lnTo>
                <a:lnTo>
                  <a:pt x="0" y="63791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0" id="20"/>
          <p:cNvSpPr/>
          <p:nvPr/>
        </p:nvSpPr>
        <p:spPr>
          <a:xfrm flipH="false" flipV="false" rot="0">
            <a:off x="10063383" y="4106225"/>
            <a:ext cx="487942" cy="649802"/>
          </a:xfrm>
          <a:custGeom>
            <a:avLst/>
            <a:gdLst/>
            <a:ahLst/>
            <a:cxnLst/>
            <a:rect r="r" b="b" t="t" l="l"/>
            <a:pathLst>
              <a:path h="649802" w="487942">
                <a:moveTo>
                  <a:pt x="0" y="0"/>
                </a:moveTo>
                <a:lnTo>
                  <a:pt x="487942" y="0"/>
                </a:lnTo>
                <a:lnTo>
                  <a:pt x="487942" y="649803"/>
                </a:lnTo>
                <a:lnTo>
                  <a:pt x="0" y="64980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1" id="21"/>
          <p:cNvSpPr/>
          <p:nvPr/>
        </p:nvSpPr>
        <p:spPr>
          <a:xfrm flipH="false" flipV="false" rot="0">
            <a:off x="3039358" y="6420527"/>
            <a:ext cx="11301259" cy="3362125"/>
          </a:xfrm>
          <a:custGeom>
            <a:avLst/>
            <a:gdLst/>
            <a:ahLst/>
            <a:cxnLst/>
            <a:rect r="r" b="b" t="t" l="l"/>
            <a:pathLst>
              <a:path h="3362125" w="11301259">
                <a:moveTo>
                  <a:pt x="0" y="0"/>
                </a:moveTo>
                <a:lnTo>
                  <a:pt x="11301259" y="0"/>
                </a:lnTo>
                <a:lnTo>
                  <a:pt x="11301259" y="3362124"/>
                </a:lnTo>
                <a:lnTo>
                  <a:pt x="0" y="3362124"/>
                </a:lnTo>
                <a:lnTo>
                  <a:pt x="0" y="0"/>
                </a:lnTo>
                <a:close/>
              </a:path>
            </a:pathLst>
          </a:custGeom>
          <a:blipFill>
            <a:blip r:embed="rId15"/>
            <a:stretch>
              <a:fillRect l="0" t="0" r="0" b="0"/>
            </a:stretch>
          </a:blipFill>
        </p:spPr>
      </p:sp>
      <p:sp>
        <p:nvSpPr>
          <p:cNvPr name="TextBox 22" id="22"/>
          <p:cNvSpPr txBox="true"/>
          <p:nvPr/>
        </p:nvSpPr>
        <p:spPr>
          <a:xfrm rot="0">
            <a:off x="1161152" y="2134420"/>
            <a:ext cx="7050296" cy="1189355"/>
          </a:xfrm>
          <a:prstGeom prst="rect">
            <a:avLst/>
          </a:prstGeom>
        </p:spPr>
        <p:txBody>
          <a:bodyPr anchor="t" rtlCol="false" tIns="0" lIns="0" bIns="0" rIns="0">
            <a:spAutoFit/>
          </a:bodyPr>
          <a:lstStyle/>
          <a:p>
            <a:pPr algn="ctr">
              <a:lnSpc>
                <a:spcPts val="3220"/>
              </a:lnSpc>
              <a:spcBef>
                <a:spcPct val="0"/>
              </a:spcBef>
            </a:pPr>
            <a:r>
              <a:rPr lang="en-US" sz="2300">
                <a:solidFill>
                  <a:srgbClr val="FFFFFF"/>
                </a:solidFill>
                <a:latin typeface="Canva Sans"/>
                <a:ea typeface="Canva Sans"/>
                <a:cs typeface="Canva Sans"/>
                <a:sym typeface="Canva Sans"/>
              </a:rPr>
              <a:t>Chất lượng ảnh không đồng đều – Nhiễu, mờ, độ sáng không ổn định khiến mô hình khó nhận diện chi tiết nhỏ.</a:t>
            </a:r>
          </a:p>
        </p:txBody>
      </p:sp>
      <p:sp>
        <p:nvSpPr>
          <p:cNvPr name="TextBox 23" id="23"/>
          <p:cNvSpPr txBox="true"/>
          <p:nvPr/>
        </p:nvSpPr>
        <p:spPr>
          <a:xfrm rot="0">
            <a:off x="9514152" y="2213187"/>
            <a:ext cx="7796977" cy="1189355"/>
          </a:xfrm>
          <a:prstGeom prst="rect">
            <a:avLst/>
          </a:prstGeom>
        </p:spPr>
        <p:txBody>
          <a:bodyPr anchor="t" rtlCol="false" tIns="0" lIns="0" bIns="0" rIns="0">
            <a:spAutoFit/>
          </a:bodyPr>
          <a:lstStyle/>
          <a:p>
            <a:pPr algn="ctr">
              <a:lnSpc>
                <a:spcPts val="3220"/>
              </a:lnSpc>
              <a:spcBef>
                <a:spcPct val="0"/>
              </a:spcBef>
            </a:pPr>
            <a:r>
              <a:rPr lang="en-US" sz="2300">
                <a:solidFill>
                  <a:srgbClr val="FFFFFF"/>
                </a:solidFill>
                <a:latin typeface="Canva Sans"/>
                <a:ea typeface="Canva Sans"/>
                <a:cs typeface="Canva Sans"/>
                <a:sym typeface="Canva Sans"/>
              </a:rPr>
              <a:t>Mất cân bằng lớp – Số lượng giữa các loại khuyết tật chênh lệch, gây bias khi huấn luyện (porosity có hơn 6700 mẫu, trong khi slag chỉ khoảng 4000).</a:t>
            </a:r>
          </a:p>
        </p:txBody>
      </p:sp>
      <p:sp>
        <p:nvSpPr>
          <p:cNvPr name="TextBox 24" id="24"/>
          <p:cNvSpPr txBox="true"/>
          <p:nvPr/>
        </p:nvSpPr>
        <p:spPr>
          <a:xfrm rot="0">
            <a:off x="1161152" y="4808436"/>
            <a:ext cx="7315200" cy="789305"/>
          </a:xfrm>
          <a:prstGeom prst="rect">
            <a:avLst/>
          </a:prstGeom>
        </p:spPr>
        <p:txBody>
          <a:bodyPr anchor="t" rtlCol="false" tIns="0" lIns="0" bIns="0" rIns="0">
            <a:spAutoFit/>
          </a:bodyPr>
          <a:lstStyle/>
          <a:p>
            <a:pPr algn="ctr">
              <a:lnSpc>
                <a:spcPts val="3220"/>
              </a:lnSpc>
              <a:spcBef>
                <a:spcPct val="0"/>
              </a:spcBef>
            </a:pPr>
            <a:r>
              <a:rPr lang="en-US" sz="2300">
                <a:solidFill>
                  <a:srgbClr val="FFFFFF"/>
                </a:solidFill>
                <a:latin typeface="Canva Sans"/>
                <a:ea typeface="Canva Sans"/>
                <a:cs typeface="Canva Sans"/>
                <a:sym typeface="Canva Sans"/>
              </a:rPr>
              <a:t>Kích thước &amp; hình dạng lỗi đa dạng – Lỗi nhỏ, mảnh, hoặc không đều làm giảm khả năng phát hiện.</a:t>
            </a:r>
          </a:p>
        </p:txBody>
      </p:sp>
      <p:sp>
        <p:nvSpPr>
          <p:cNvPr name="TextBox 25" id="25"/>
          <p:cNvSpPr txBox="true"/>
          <p:nvPr/>
        </p:nvSpPr>
        <p:spPr>
          <a:xfrm rot="0">
            <a:off x="9703212" y="4919673"/>
            <a:ext cx="7315200" cy="789305"/>
          </a:xfrm>
          <a:prstGeom prst="rect">
            <a:avLst/>
          </a:prstGeom>
        </p:spPr>
        <p:txBody>
          <a:bodyPr anchor="t" rtlCol="false" tIns="0" lIns="0" bIns="0" rIns="0">
            <a:spAutoFit/>
          </a:bodyPr>
          <a:lstStyle/>
          <a:p>
            <a:pPr algn="ctr">
              <a:lnSpc>
                <a:spcPts val="3220"/>
              </a:lnSpc>
              <a:spcBef>
                <a:spcPct val="0"/>
              </a:spcBef>
            </a:pPr>
            <a:r>
              <a:rPr lang="en-US" sz="2300">
                <a:solidFill>
                  <a:srgbClr val="FFFFFF"/>
                </a:solidFill>
                <a:latin typeface="Canva Sans"/>
                <a:ea typeface="Canva Sans"/>
                <a:cs typeface="Canva Sans"/>
                <a:sym typeface="Canva Sans"/>
              </a:rPr>
              <a:t>Chi phí và quy mô dữ liệu cao – Ảnh X-ray độ phân giải lớn, thu thập tốn thời gian và tài nguyên.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18288000" cy="10109527"/>
            <a:chOff x="0" y="0"/>
            <a:chExt cx="4816593" cy="2662592"/>
          </a:xfrm>
        </p:grpSpPr>
        <p:sp>
          <p:nvSpPr>
            <p:cNvPr name="Freeform 4" id="4"/>
            <p:cNvSpPr/>
            <p:nvPr/>
          </p:nvSpPr>
          <p:spPr>
            <a:xfrm flipH="false" flipV="false" rot="0">
              <a:off x="0" y="0"/>
              <a:ext cx="4816592" cy="2662592"/>
            </a:xfrm>
            <a:custGeom>
              <a:avLst/>
              <a:gdLst/>
              <a:ahLst/>
              <a:cxnLst/>
              <a:rect r="r" b="b" t="t" l="l"/>
              <a:pathLst>
                <a:path h="2662592" w="4816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name="TextBox 5" id="5"/>
            <p:cNvSpPr txBox="true"/>
            <p:nvPr/>
          </p:nvSpPr>
          <p:spPr>
            <a:xfrm>
              <a:off x="0" y="-38100"/>
              <a:ext cx="4816593" cy="2700692"/>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true" flipV="true" rot="-10792239">
            <a:off x="-724606" y="8954135"/>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true" flipV="true" rot="-10792239">
            <a:off x="16612207" y="-936064"/>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626738" y="123524"/>
            <a:ext cx="1785518" cy="1743315"/>
          </a:xfrm>
          <a:custGeom>
            <a:avLst/>
            <a:gdLst/>
            <a:ahLst/>
            <a:cxnLst/>
            <a:rect r="r" b="b" t="t" l="l"/>
            <a:pathLst>
              <a:path h="1743315" w="1785518">
                <a:moveTo>
                  <a:pt x="0" y="0"/>
                </a:moveTo>
                <a:lnTo>
                  <a:pt x="1785518" y="0"/>
                </a:lnTo>
                <a:lnTo>
                  <a:pt x="1785518" y="1743315"/>
                </a:lnTo>
                <a:lnTo>
                  <a:pt x="0" y="174331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2938572" y="1646823"/>
            <a:ext cx="13387649" cy="7859666"/>
          </a:xfrm>
          <a:custGeom>
            <a:avLst/>
            <a:gdLst/>
            <a:ahLst/>
            <a:cxnLst/>
            <a:rect r="r" b="b" t="t" l="l"/>
            <a:pathLst>
              <a:path h="7859666" w="13387649">
                <a:moveTo>
                  <a:pt x="0" y="0"/>
                </a:moveTo>
                <a:lnTo>
                  <a:pt x="13387649" y="0"/>
                </a:lnTo>
                <a:lnTo>
                  <a:pt x="13387649" y="7859665"/>
                </a:lnTo>
                <a:lnTo>
                  <a:pt x="0" y="7859665"/>
                </a:lnTo>
                <a:lnTo>
                  <a:pt x="0" y="0"/>
                </a:lnTo>
                <a:close/>
              </a:path>
            </a:pathLst>
          </a:custGeom>
          <a:blipFill>
            <a:blip r:embed="rId7"/>
            <a:stretch>
              <a:fillRect l="0" t="0" r="0" b="0"/>
            </a:stretch>
          </a:blipFill>
        </p:spPr>
      </p:sp>
      <p:sp>
        <p:nvSpPr>
          <p:cNvPr name="Freeform 10" id="10"/>
          <p:cNvSpPr/>
          <p:nvPr/>
        </p:nvSpPr>
        <p:spPr>
          <a:xfrm flipH="false" flipV="false" rot="0">
            <a:off x="-325247" y="5829879"/>
            <a:ext cx="4612475" cy="4114800"/>
          </a:xfrm>
          <a:custGeom>
            <a:avLst/>
            <a:gdLst/>
            <a:ahLst/>
            <a:cxnLst/>
            <a:rect r="r" b="b" t="t" l="l"/>
            <a:pathLst>
              <a:path h="4114800" w="4612475">
                <a:moveTo>
                  <a:pt x="0" y="0"/>
                </a:moveTo>
                <a:lnTo>
                  <a:pt x="4612476" y="0"/>
                </a:lnTo>
                <a:lnTo>
                  <a:pt x="4612476"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1" id="11"/>
          <p:cNvSpPr txBox="true"/>
          <p:nvPr/>
        </p:nvSpPr>
        <p:spPr>
          <a:xfrm rot="0">
            <a:off x="2683466" y="617357"/>
            <a:ext cx="13342528" cy="679450"/>
          </a:xfrm>
          <a:prstGeom prst="rect">
            <a:avLst/>
          </a:prstGeom>
        </p:spPr>
        <p:txBody>
          <a:bodyPr anchor="t" rtlCol="false" tIns="0" lIns="0" bIns="0" rIns="0">
            <a:spAutoFit/>
          </a:bodyPr>
          <a:lstStyle/>
          <a:p>
            <a:pPr algn="ctr">
              <a:lnSpc>
                <a:spcPts val="5599"/>
              </a:lnSpc>
            </a:pPr>
            <a:r>
              <a:rPr lang="en-US" sz="3999" spc="-39">
                <a:solidFill>
                  <a:srgbClr val="348BFF"/>
                </a:solidFill>
                <a:latin typeface="Roboto"/>
                <a:ea typeface="Roboto"/>
                <a:cs typeface="Roboto"/>
                <a:sym typeface="Roboto"/>
              </a:rPr>
              <a:t>TIỀN XỬ LÝ DỮ LIỆU ẢNH X-RAY</a:t>
            </a:r>
          </a:p>
        </p:txBody>
      </p:sp>
      <p:sp>
        <p:nvSpPr>
          <p:cNvPr name="TextBox 12" id="12"/>
          <p:cNvSpPr txBox="true"/>
          <p:nvPr/>
        </p:nvSpPr>
        <p:spPr>
          <a:xfrm rot="0">
            <a:off x="6124220" y="2583697"/>
            <a:ext cx="7016353" cy="1099820"/>
          </a:xfrm>
          <a:prstGeom prst="rect">
            <a:avLst/>
          </a:prstGeom>
        </p:spPr>
        <p:txBody>
          <a:bodyPr anchor="t" rtlCol="false" tIns="0" lIns="0" bIns="0" rIns="0">
            <a:spAutoFit/>
          </a:bodyPr>
          <a:lstStyle/>
          <a:p>
            <a:pPr algn="l">
              <a:lnSpc>
                <a:spcPts val="4480"/>
              </a:lnSpc>
              <a:spcBef>
                <a:spcPct val="0"/>
              </a:spcBef>
            </a:pPr>
            <a:r>
              <a:rPr lang="en-US" b="true" sz="3200">
                <a:solidFill>
                  <a:srgbClr val="000000"/>
                </a:solidFill>
                <a:latin typeface="Canva Sans Bold"/>
                <a:ea typeface="Canva Sans Bold"/>
                <a:cs typeface="Canva Sans Bold"/>
                <a:sym typeface="Canva Sans Bold"/>
              </a:rPr>
              <a:t>Ch</a:t>
            </a:r>
            <a:r>
              <a:rPr lang="en-US" b="true" sz="3200">
                <a:solidFill>
                  <a:srgbClr val="000000"/>
                </a:solidFill>
                <a:latin typeface="Canva Sans Bold"/>
                <a:ea typeface="Canva Sans Bold"/>
                <a:cs typeface="Canva Sans Bold"/>
                <a:sym typeface="Canva Sans Bold"/>
              </a:rPr>
              <a:t>uyển sang không gian màu RGB</a:t>
            </a:r>
          </a:p>
          <a:p>
            <a:pPr algn="l">
              <a:lnSpc>
                <a:spcPts val="4480"/>
              </a:lnSpc>
              <a:spcBef>
                <a:spcPct val="0"/>
              </a:spcBef>
            </a:pPr>
            <a:r>
              <a:rPr lang="en-US" b="true" sz="3200">
                <a:solidFill>
                  <a:srgbClr val="000000"/>
                </a:solidFill>
                <a:latin typeface="Canva Sans Bold"/>
                <a:ea typeface="Canva Sans Bold"/>
                <a:cs typeface="Canva Sans Bold"/>
                <a:sym typeface="Canva Sans Bold"/>
              </a:rPr>
              <a:t>Resize ảnh về kích thước 640 × 640</a:t>
            </a:r>
          </a:p>
        </p:txBody>
      </p:sp>
      <p:sp>
        <p:nvSpPr>
          <p:cNvPr name="TextBox 13" id="13"/>
          <p:cNvSpPr txBox="true"/>
          <p:nvPr/>
        </p:nvSpPr>
        <p:spPr>
          <a:xfrm rot="0">
            <a:off x="6359904" y="4969392"/>
            <a:ext cx="7451407" cy="1661795"/>
          </a:xfrm>
          <a:prstGeom prst="rect">
            <a:avLst/>
          </a:prstGeom>
        </p:spPr>
        <p:txBody>
          <a:bodyPr anchor="t" rtlCol="false" tIns="0" lIns="0" bIns="0" rIns="0">
            <a:spAutoFit/>
          </a:bodyPr>
          <a:lstStyle/>
          <a:p>
            <a:pPr algn="l">
              <a:lnSpc>
                <a:spcPts val="4480"/>
              </a:lnSpc>
              <a:spcBef>
                <a:spcPct val="0"/>
              </a:spcBef>
            </a:pPr>
            <a:r>
              <a:rPr lang="en-US" b="true" sz="3200">
                <a:solidFill>
                  <a:srgbClr val="000000"/>
                </a:solidFill>
                <a:latin typeface="Canva Sans Bold"/>
                <a:ea typeface="Canva Sans Bold"/>
                <a:cs typeface="Canva Sans Bold"/>
                <a:sym typeface="Canva Sans Bold"/>
              </a:rPr>
              <a:t>Ch</a:t>
            </a:r>
            <a:r>
              <a:rPr lang="en-US" b="true" sz="3200">
                <a:solidFill>
                  <a:srgbClr val="000000"/>
                </a:solidFill>
                <a:latin typeface="Canva Sans Bold"/>
                <a:ea typeface="Canva Sans Bold"/>
                <a:cs typeface="Canva Sans Bold"/>
                <a:sym typeface="Canva Sans Bold"/>
              </a:rPr>
              <a:t>uyển ảnh RGB → LAB</a:t>
            </a:r>
          </a:p>
          <a:p>
            <a:pPr algn="l">
              <a:lnSpc>
                <a:spcPts val="4480"/>
              </a:lnSpc>
              <a:spcBef>
                <a:spcPct val="0"/>
              </a:spcBef>
            </a:pPr>
            <a:r>
              <a:rPr lang="en-US" b="true" sz="3200">
                <a:solidFill>
                  <a:srgbClr val="000000"/>
                </a:solidFill>
                <a:latin typeface="Canva Sans Bold"/>
                <a:ea typeface="Canva Sans Bold"/>
                <a:cs typeface="Canva Sans Bold"/>
                <a:sym typeface="Canva Sans Bold"/>
              </a:rPr>
              <a:t>Áp dụng CLAHE trên kênh L (độ sáng) </a:t>
            </a:r>
          </a:p>
          <a:p>
            <a:pPr algn="l">
              <a:lnSpc>
                <a:spcPts val="4480"/>
              </a:lnSpc>
              <a:spcBef>
                <a:spcPct val="0"/>
              </a:spcBef>
            </a:pPr>
          </a:p>
        </p:txBody>
      </p:sp>
      <p:sp>
        <p:nvSpPr>
          <p:cNvPr name="TextBox 14" id="14"/>
          <p:cNvSpPr txBox="true"/>
          <p:nvPr/>
        </p:nvSpPr>
        <p:spPr>
          <a:xfrm rot="0">
            <a:off x="6359904" y="7027806"/>
            <a:ext cx="8068985" cy="1661795"/>
          </a:xfrm>
          <a:prstGeom prst="rect">
            <a:avLst/>
          </a:prstGeom>
        </p:spPr>
        <p:txBody>
          <a:bodyPr anchor="t" rtlCol="false" tIns="0" lIns="0" bIns="0" rIns="0">
            <a:spAutoFit/>
          </a:bodyPr>
          <a:lstStyle/>
          <a:p>
            <a:pPr algn="l">
              <a:lnSpc>
                <a:spcPts val="4480"/>
              </a:lnSpc>
              <a:spcBef>
                <a:spcPct val="0"/>
              </a:spcBef>
            </a:pPr>
            <a:r>
              <a:rPr lang="en-US" b="true" sz="3200">
                <a:solidFill>
                  <a:srgbClr val="000000"/>
                </a:solidFill>
                <a:latin typeface="Canva Sans Bold"/>
                <a:ea typeface="Canva Sans Bold"/>
                <a:cs typeface="Canva Sans Bold"/>
                <a:sym typeface="Canva Sans Bold"/>
              </a:rPr>
              <a:t>Áp</a:t>
            </a:r>
            <a:r>
              <a:rPr lang="en-US" b="true" sz="3200">
                <a:solidFill>
                  <a:srgbClr val="000000"/>
                </a:solidFill>
                <a:latin typeface="Canva Sans Bold"/>
                <a:ea typeface="Canva Sans Bold"/>
                <a:cs typeface="Canva Sans Bold"/>
                <a:sym typeface="Canva Sans Bold"/>
              </a:rPr>
              <a:t> dụng Gaussian Blur (kernel 3 × 3)</a:t>
            </a:r>
          </a:p>
          <a:p>
            <a:pPr algn="l">
              <a:lnSpc>
                <a:spcPts val="4480"/>
              </a:lnSpc>
              <a:spcBef>
                <a:spcPct val="0"/>
              </a:spcBef>
            </a:pPr>
            <a:r>
              <a:rPr lang="en-US" b="true" sz="3200">
                <a:solidFill>
                  <a:srgbClr val="000000"/>
                </a:solidFill>
                <a:latin typeface="Canva Sans Bold"/>
                <a:ea typeface="Canva Sans Bold"/>
                <a:cs typeface="Canva Sans Bold"/>
                <a:sym typeface="Canva Sans Bold"/>
              </a:rPr>
              <a:t>Chuẩn hóa giá trị pixel về [0, 1]</a:t>
            </a:r>
          </a:p>
          <a:p>
            <a:pPr algn="l">
              <a:lnSpc>
                <a:spcPts val="4480"/>
              </a:lnSpc>
              <a:spcBef>
                <a:spcPct val="0"/>
              </a:spcBef>
            </a:pPr>
            <a:r>
              <a:rPr lang="en-US" b="true" sz="3200">
                <a:solidFill>
                  <a:srgbClr val="000000"/>
                </a:solidFill>
                <a:latin typeface="Canva Sans Bold"/>
                <a:ea typeface="Canva Sans Bold"/>
                <a:cs typeface="Canva Sans Bold"/>
                <a:sym typeface="Canva Sans Bold"/>
              </a:rPr>
              <a:t>Tăng cường dữ liệu (Data Augmentation)</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18288000" cy="10109527"/>
            <a:chOff x="0" y="0"/>
            <a:chExt cx="4816593" cy="2662592"/>
          </a:xfrm>
        </p:grpSpPr>
        <p:sp>
          <p:nvSpPr>
            <p:cNvPr name="Freeform 4" id="4"/>
            <p:cNvSpPr/>
            <p:nvPr/>
          </p:nvSpPr>
          <p:spPr>
            <a:xfrm flipH="false" flipV="false" rot="0">
              <a:off x="0" y="0"/>
              <a:ext cx="4816592" cy="2662592"/>
            </a:xfrm>
            <a:custGeom>
              <a:avLst/>
              <a:gdLst/>
              <a:ahLst/>
              <a:cxnLst/>
              <a:rect r="r" b="b" t="t" l="l"/>
              <a:pathLst>
                <a:path h="2662592" w="4816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name="TextBox 5" id="5"/>
            <p:cNvSpPr txBox="true"/>
            <p:nvPr/>
          </p:nvSpPr>
          <p:spPr>
            <a:xfrm>
              <a:off x="0" y="-38100"/>
              <a:ext cx="4816593" cy="2700692"/>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true" flipV="false" rot="-2407264">
            <a:off x="13760017" y="6817824"/>
            <a:ext cx="4768277" cy="4551537"/>
          </a:xfrm>
          <a:custGeom>
            <a:avLst/>
            <a:gdLst/>
            <a:ahLst/>
            <a:cxnLst/>
            <a:rect r="r" b="b" t="t" l="l"/>
            <a:pathLst>
              <a:path h="4551537" w="4768277">
                <a:moveTo>
                  <a:pt x="4768277" y="0"/>
                </a:moveTo>
                <a:lnTo>
                  <a:pt x="0" y="0"/>
                </a:lnTo>
                <a:lnTo>
                  <a:pt x="0" y="4551537"/>
                </a:lnTo>
                <a:lnTo>
                  <a:pt x="4768277" y="4551537"/>
                </a:lnTo>
                <a:lnTo>
                  <a:pt x="4768277"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3275">
            <a:off x="12646576" y="-298239"/>
            <a:ext cx="6995160" cy="5246370"/>
            <a:chOff x="0" y="0"/>
            <a:chExt cx="812800" cy="609600"/>
          </a:xfrm>
        </p:grpSpPr>
        <p:sp>
          <p:nvSpPr>
            <p:cNvPr name="Freeform 8" id="8"/>
            <p:cNvSpPr/>
            <p:nvPr/>
          </p:nvSpPr>
          <p:spPr>
            <a:xfrm flipH="false" flipV="false" rot="0">
              <a:off x="0" y="0"/>
              <a:ext cx="812800" cy="609600"/>
            </a:xfrm>
            <a:custGeom>
              <a:avLst/>
              <a:gdLst/>
              <a:ahLst/>
              <a:cxnLst/>
              <a:rect r="r" b="b" t="t" l="l"/>
              <a:pathLst>
                <a:path h="609600" w="812800">
                  <a:moveTo>
                    <a:pt x="203200" y="0"/>
                  </a:moveTo>
                  <a:lnTo>
                    <a:pt x="812800" y="0"/>
                  </a:lnTo>
                  <a:lnTo>
                    <a:pt x="609600" y="609600"/>
                  </a:lnTo>
                  <a:lnTo>
                    <a:pt x="0" y="609600"/>
                  </a:lnTo>
                  <a:lnTo>
                    <a:pt x="203200" y="0"/>
                  </a:lnTo>
                  <a:close/>
                </a:path>
              </a:pathLst>
            </a:custGeom>
            <a:blipFill>
              <a:blip r:embed="rId5"/>
              <a:stretch>
                <a:fillRect l="0" t="0" r="-13324" b="0"/>
              </a:stretch>
            </a:blipFill>
          </p:spPr>
        </p:sp>
      </p:grpSp>
      <p:grpSp>
        <p:nvGrpSpPr>
          <p:cNvPr name="Group 9" id="9"/>
          <p:cNvGrpSpPr/>
          <p:nvPr/>
        </p:nvGrpSpPr>
        <p:grpSpPr>
          <a:xfrm rot="3275">
            <a:off x="9023612" y="5146831"/>
            <a:ext cx="6995160" cy="5246370"/>
            <a:chOff x="0" y="0"/>
            <a:chExt cx="812800" cy="609600"/>
          </a:xfrm>
        </p:grpSpPr>
        <p:sp>
          <p:nvSpPr>
            <p:cNvPr name="Freeform 10" id="10"/>
            <p:cNvSpPr/>
            <p:nvPr/>
          </p:nvSpPr>
          <p:spPr>
            <a:xfrm flipH="false" flipV="false" rot="0">
              <a:off x="0" y="0"/>
              <a:ext cx="812800" cy="609600"/>
            </a:xfrm>
            <a:custGeom>
              <a:avLst/>
              <a:gdLst/>
              <a:ahLst/>
              <a:cxnLst/>
              <a:rect r="r" b="b" t="t" l="l"/>
              <a:pathLst>
                <a:path h="609600" w="812800">
                  <a:moveTo>
                    <a:pt x="203200" y="0"/>
                  </a:moveTo>
                  <a:lnTo>
                    <a:pt x="812800" y="0"/>
                  </a:lnTo>
                  <a:lnTo>
                    <a:pt x="609600" y="609600"/>
                  </a:lnTo>
                  <a:lnTo>
                    <a:pt x="0" y="609600"/>
                  </a:lnTo>
                  <a:lnTo>
                    <a:pt x="203200" y="0"/>
                  </a:lnTo>
                  <a:close/>
                </a:path>
              </a:pathLst>
            </a:custGeom>
            <a:blipFill>
              <a:blip r:embed="rId6"/>
              <a:stretch>
                <a:fillRect l="-6739" t="0" r="-5619" b="0"/>
              </a:stretch>
            </a:blipFill>
          </p:spPr>
        </p:sp>
      </p:grpSp>
      <p:sp>
        <p:nvSpPr>
          <p:cNvPr name="AutoShape 11" id="11"/>
          <p:cNvSpPr/>
          <p:nvPr/>
        </p:nvSpPr>
        <p:spPr>
          <a:xfrm>
            <a:off x="1277271" y="7286174"/>
            <a:ext cx="6492240" cy="0"/>
          </a:xfrm>
          <a:prstGeom prst="line">
            <a:avLst/>
          </a:prstGeom>
          <a:ln cap="flat" w="19050">
            <a:solidFill>
              <a:srgbClr val="40597C"/>
            </a:solidFill>
            <a:prstDash val="solid"/>
            <a:headEnd type="none" len="sm" w="sm"/>
            <a:tailEnd type="none" len="sm" w="sm"/>
          </a:ln>
        </p:spPr>
      </p:sp>
      <p:sp>
        <p:nvSpPr>
          <p:cNvPr name="Freeform 12" id="12"/>
          <p:cNvSpPr/>
          <p:nvPr/>
        </p:nvSpPr>
        <p:spPr>
          <a:xfrm flipH="true" flipV="false" rot="-10792239">
            <a:off x="-724606" y="8954135"/>
            <a:ext cx="2702689" cy="2579840"/>
          </a:xfrm>
          <a:custGeom>
            <a:avLst/>
            <a:gdLst/>
            <a:ahLst/>
            <a:cxnLst/>
            <a:rect r="r" b="b" t="t" l="l"/>
            <a:pathLst>
              <a:path h="2579840" w="2702689">
                <a:moveTo>
                  <a:pt x="2702689" y="0"/>
                </a:moveTo>
                <a:lnTo>
                  <a:pt x="0" y="0"/>
                </a:lnTo>
                <a:lnTo>
                  <a:pt x="0" y="2579840"/>
                </a:lnTo>
                <a:lnTo>
                  <a:pt x="2702689" y="2579840"/>
                </a:lnTo>
                <a:lnTo>
                  <a:pt x="2702689"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626738" y="550533"/>
            <a:ext cx="560353" cy="652047"/>
            <a:chOff x="0" y="0"/>
            <a:chExt cx="698500" cy="812800"/>
          </a:xfrm>
        </p:grpSpPr>
        <p:sp>
          <p:nvSpPr>
            <p:cNvPr name="Freeform 14" id="14"/>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000000">
                <a:alpha val="0"/>
              </a:srgbClr>
            </a:solidFill>
            <a:ln w="95250" cap="sq">
              <a:solidFill>
                <a:srgbClr val="348BFF"/>
              </a:solidFill>
              <a:prstDash val="solid"/>
              <a:miter/>
            </a:ln>
          </p:spPr>
        </p:sp>
        <p:sp>
          <p:nvSpPr>
            <p:cNvPr name="TextBox 15" id="15"/>
            <p:cNvSpPr txBox="true"/>
            <p:nvPr/>
          </p:nvSpPr>
          <p:spPr>
            <a:xfrm>
              <a:off x="0" y="101600"/>
              <a:ext cx="698500" cy="571500"/>
            </a:xfrm>
            <a:prstGeom prst="rect">
              <a:avLst/>
            </a:prstGeom>
          </p:spPr>
          <p:txBody>
            <a:bodyPr anchor="ctr" rtlCol="false" tIns="27034" lIns="27034" bIns="27034" rIns="27034"/>
            <a:lstStyle/>
            <a:p>
              <a:pPr algn="ctr">
                <a:lnSpc>
                  <a:spcPts val="2659"/>
                </a:lnSpc>
              </a:pPr>
            </a:p>
          </p:txBody>
        </p:sp>
      </p:grpSp>
      <p:sp>
        <p:nvSpPr>
          <p:cNvPr name="TextBox 16" id="16"/>
          <p:cNvSpPr txBox="true"/>
          <p:nvPr/>
        </p:nvSpPr>
        <p:spPr>
          <a:xfrm rot="0">
            <a:off x="378950" y="4162593"/>
            <a:ext cx="8765050" cy="2797174"/>
          </a:xfrm>
          <a:prstGeom prst="rect">
            <a:avLst/>
          </a:prstGeom>
        </p:spPr>
        <p:txBody>
          <a:bodyPr anchor="t" rtlCol="false" tIns="0" lIns="0" bIns="0" rIns="0">
            <a:spAutoFit/>
          </a:bodyPr>
          <a:lstStyle/>
          <a:p>
            <a:pPr algn="ctr">
              <a:lnSpc>
                <a:spcPts val="11200"/>
              </a:lnSpc>
            </a:pPr>
            <a:r>
              <a:rPr lang="en-US" sz="8000" spc="-80">
                <a:solidFill>
                  <a:srgbClr val="348BFF"/>
                </a:solidFill>
                <a:latin typeface="Roboto"/>
                <a:ea typeface="Roboto"/>
                <a:cs typeface="Roboto"/>
                <a:sym typeface="Roboto"/>
              </a:rPr>
              <a:t>MÔ HÌNH VÀ THUẬT TOÁN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18288000" cy="10109527"/>
            <a:chOff x="0" y="0"/>
            <a:chExt cx="4816593" cy="2662592"/>
          </a:xfrm>
        </p:grpSpPr>
        <p:sp>
          <p:nvSpPr>
            <p:cNvPr name="Freeform 4" id="4"/>
            <p:cNvSpPr/>
            <p:nvPr/>
          </p:nvSpPr>
          <p:spPr>
            <a:xfrm flipH="false" flipV="false" rot="0">
              <a:off x="0" y="0"/>
              <a:ext cx="4816592" cy="2662592"/>
            </a:xfrm>
            <a:custGeom>
              <a:avLst/>
              <a:gdLst/>
              <a:ahLst/>
              <a:cxnLst/>
              <a:rect r="r" b="b" t="t" l="l"/>
              <a:pathLst>
                <a:path h="2662592" w="4816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name="TextBox 5" id="5"/>
            <p:cNvSpPr txBox="true"/>
            <p:nvPr/>
          </p:nvSpPr>
          <p:spPr>
            <a:xfrm>
              <a:off x="0" y="-38100"/>
              <a:ext cx="4816593" cy="2700692"/>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true" flipV="true" rot="-10792239">
            <a:off x="-724606" y="8954135"/>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true" flipV="true" rot="-10792239">
            <a:off x="16612207" y="-936064"/>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1028700" y="314559"/>
            <a:ext cx="560353" cy="652047"/>
            <a:chOff x="0" y="0"/>
            <a:chExt cx="698500" cy="812800"/>
          </a:xfrm>
        </p:grpSpPr>
        <p:sp>
          <p:nvSpPr>
            <p:cNvPr name="Freeform 9" id="9"/>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000000">
                <a:alpha val="0"/>
              </a:srgbClr>
            </a:solidFill>
            <a:ln w="95250" cap="sq">
              <a:solidFill>
                <a:srgbClr val="348BFF"/>
              </a:solidFill>
              <a:prstDash val="solid"/>
              <a:miter/>
            </a:ln>
          </p:spPr>
        </p:sp>
        <p:sp>
          <p:nvSpPr>
            <p:cNvPr name="TextBox 10" id="10"/>
            <p:cNvSpPr txBox="true"/>
            <p:nvPr/>
          </p:nvSpPr>
          <p:spPr>
            <a:xfrm>
              <a:off x="0" y="101600"/>
              <a:ext cx="698500" cy="571500"/>
            </a:xfrm>
            <a:prstGeom prst="rect">
              <a:avLst/>
            </a:prstGeom>
          </p:spPr>
          <p:txBody>
            <a:bodyPr anchor="ctr" rtlCol="false" tIns="27034" lIns="27034" bIns="27034" rIns="27034"/>
            <a:lstStyle/>
            <a:p>
              <a:pPr algn="ctr">
                <a:lnSpc>
                  <a:spcPts val="2659"/>
                </a:lnSpc>
              </a:pPr>
            </a:p>
          </p:txBody>
        </p:sp>
      </p:grpSp>
      <p:sp>
        <p:nvSpPr>
          <p:cNvPr name="Freeform 11" id="11"/>
          <p:cNvSpPr/>
          <p:nvPr/>
        </p:nvSpPr>
        <p:spPr>
          <a:xfrm flipH="false" flipV="false" rot="0">
            <a:off x="0" y="1897421"/>
            <a:ext cx="4717969" cy="2479078"/>
          </a:xfrm>
          <a:custGeom>
            <a:avLst/>
            <a:gdLst/>
            <a:ahLst/>
            <a:cxnLst/>
            <a:rect r="r" b="b" t="t" l="l"/>
            <a:pathLst>
              <a:path h="2479078" w="4717969">
                <a:moveTo>
                  <a:pt x="0" y="0"/>
                </a:moveTo>
                <a:lnTo>
                  <a:pt x="4717969" y="0"/>
                </a:lnTo>
                <a:lnTo>
                  <a:pt x="4717969" y="2479078"/>
                </a:lnTo>
                <a:lnTo>
                  <a:pt x="0" y="247907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2" id="12"/>
          <p:cNvSpPr txBox="true"/>
          <p:nvPr/>
        </p:nvSpPr>
        <p:spPr>
          <a:xfrm rot="0">
            <a:off x="5435017" y="413985"/>
            <a:ext cx="7645781" cy="1749425"/>
          </a:xfrm>
          <a:prstGeom prst="rect">
            <a:avLst/>
          </a:prstGeom>
        </p:spPr>
        <p:txBody>
          <a:bodyPr anchor="t" rtlCol="false" tIns="0" lIns="0" bIns="0" rIns="0">
            <a:spAutoFit/>
          </a:bodyPr>
          <a:lstStyle/>
          <a:p>
            <a:pPr algn="ctr">
              <a:lnSpc>
                <a:spcPts val="7000"/>
              </a:lnSpc>
            </a:pPr>
            <a:r>
              <a:rPr lang="en-US" sz="5000" spc="-50">
                <a:solidFill>
                  <a:srgbClr val="348BFF"/>
                </a:solidFill>
                <a:latin typeface="Roboto"/>
                <a:ea typeface="Roboto"/>
                <a:cs typeface="Roboto"/>
                <a:sym typeface="Roboto"/>
              </a:rPr>
              <a:t>QUY TRÌNH TỔNG THỂ</a:t>
            </a:r>
          </a:p>
          <a:p>
            <a:pPr algn="ctr">
              <a:lnSpc>
                <a:spcPts val="7000"/>
              </a:lnSpc>
            </a:pPr>
          </a:p>
        </p:txBody>
      </p:sp>
      <p:sp>
        <p:nvSpPr>
          <p:cNvPr name="Freeform 13" id="13"/>
          <p:cNvSpPr/>
          <p:nvPr/>
        </p:nvSpPr>
        <p:spPr>
          <a:xfrm flipH="false" flipV="false" rot="0">
            <a:off x="13513716" y="7473468"/>
            <a:ext cx="4620927" cy="2428087"/>
          </a:xfrm>
          <a:custGeom>
            <a:avLst/>
            <a:gdLst/>
            <a:ahLst/>
            <a:cxnLst/>
            <a:rect r="r" b="b" t="t" l="l"/>
            <a:pathLst>
              <a:path h="2428087" w="4620927">
                <a:moveTo>
                  <a:pt x="0" y="0"/>
                </a:moveTo>
                <a:lnTo>
                  <a:pt x="4620927" y="0"/>
                </a:lnTo>
                <a:lnTo>
                  <a:pt x="4620927" y="2428087"/>
                </a:lnTo>
                <a:lnTo>
                  <a:pt x="0" y="242808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false" flipV="false" rot="0">
            <a:off x="5435017" y="1897421"/>
            <a:ext cx="4717969" cy="2479078"/>
          </a:xfrm>
          <a:custGeom>
            <a:avLst/>
            <a:gdLst/>
            <a:ahLst/>
            <a:cxnLst/>
            <a:rect r="r" b="b" t="t" l="l"/>
            <a:pathLst>
              <a:path h="2479078" w="4717969">
                <a:moveTo>
                  <a:pt x="0" y="0"/>
                </a:moveTo>
                <a:lnTo>
                  <a:pt x="4717969" y="0"/>
                </a:lnTo>
                <a:lnTo>
                  <a:pt x="4717969" y="2479078"/>
                </a:lnTo>
                <a:lnTo>
                  <a:pt x="0" y="247907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0">
            <a:off x="10870034" y="1897421"/>
            <a:ext cx="4717969" cy="2479078"/>
          </a:xfrm>
          <a:custGeom>
            <a:avLst/>
            <a:gdLst/>
            <a:ahLst/>
            <a:cxnLst/>
            <a:rect r="r" b="b" t="t" l="l"/>
            <a:pathLst>
              <a:path h="2479078" w="4717969">
                <a:moveTo>
                  <a:pt x="0" y="0"/>
                </a:moveTo>
                <a:lnTo>
                  <a:pt x="4717968" y="0"/>
                </a:lnTo>
                <a:lnTo>
                  <a:pt x="4717968" y="2479078"/>
                </a:lnTo>
                <a:lnTo>
                  <a:pt x="0" y="247907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6" id="16"/>
          <p:cNvSpPr/>
          <p:nvPr/>
        </p:nvSpPr>
        <p:spPr>
          <a:xfrm flipH="false" flipV="false" rot="0">
            <a:off x="2662845" y="7473468"/>
            <a:ext cx="4717969" cy="2479078"/>
          </a:xfrm>
          <a:custGeom>
            <a:avLst/>
            <a:gdLst/>
            <a:ahLst/>
            <a:cxnLst/>
            <a:rect r="r" b="b" t="t" l="l"/>
            <a:pathLst>
              <a:path h="2479078" w="4717969">
                <a:moveTo>
                  <a:pt x="0" y="0"/>
                </a:moveTo>
                <a:lnTo>
                  <a:pt x="4717969" y="0"/>
                </a:lnTo>
                <a:lnTo>
                  <a:pt x="4717969" y="2479078"/>
                </a:lnTo>
                <a:lnTo>
                  <a:pt x="0" y="247907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false" flipV="false" rot="0">
            <a:off x="8088281" y="7422477"/>
            <a:ext cx="4717969" cy="2479078"/>
          </a:xfrm>
          <a:custGeom>
            <a:avLst/>
            <a:gdLst/>
            <a:ahLst/>
            <a:cxnLst/>
            <a:rect r="r" b="b" t="t" l="l"/>
            <a:pathLst>
              <a:path h="2479078" w="4717969">
                <a:moveTo>
                  <a:pt x="0" y="0"/>
                </a:moveTo>
                <a:lnTo>
                  <a:pt x="4717969" y="0"/>
                </a:lnTo>
                <a:lnTo>
                  <a:pt x="4717969" y="2479078"/>
                </a:lnTo>
                <a:lnTo>
                  <a:pt x="0" y="247907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8" id="18"/>
          <p:cNvSpPr txBox="true"/>
          <p:nvPr/>
        </p:nvSpPr>
        <p:spPr>
          <a:xfrm rot="0">
            <a:off x="2123598" y="6132149"/>
            <a:ext cx="234196" cy="596900"/>
          </a:xfrm>
          <a:prstGeom prst="rect">
            <a:avLst/>
          </a:prstGeom>
        </p:spPr>
        <p:txBody>
          <a:bodyPr anchor="t" rtlCol="false" tIns="0" lIns="0" bIns="0" rIns="0">
            <a:spAutoFit/>
          </a:bodyPr>
          <a:lstStyle/>
          <a:p>
            <a:pPr algn="ctr">
              <a:lnSpc>
                <a:spcPts val="4900"/>
              </a:lnSpc>
              <a:spcBef>
                <a:spcPct val="0"/>
              </a:spcBef>
            </a:pPr>
            <a:r>
              <a:rPr lang="en-US" b="true" sz="3500">
                <a:solidFill>
                  <a:srgbClr val="FF5757"/>
                </a:solidFill>
                <a:latin typeface="Canva Sans Bold"/>
                <a:ea typeface="Canva Sans Bold"/>
                <a:cs typeface="Canva Sans Bold"/>
                <a:sym typeface="Canva Sans Bold"/>
              </a:rPr>
              <a:t>1</a:t>
            </a:r>
          </a:p>
        </p:txBody>
      </p:sp>
      <p:sp>
        <p:nvSpPr>
          <p:cNvPr name="TextBox 19" id="19"/>
          <p:cNvSpPr txBox="true"/>
          <p:nvPr/>
        </p:nvSpPr>
        <p:spPr>
          <a:xfrm rot="0">
            <a:off x="4898005" y="5326223"/>
            <a:ext cx="247650" cy="596900"/>
          </a:xfrm>
          <a:prstGeom prst="rect">
            <a:avLst/>
          </a:prstGeom>
        </p:spPr>
        <p:txBody>
          <a:bodyPr anchor="t" rtlCol="false" tIns="0" lIns="0" bIns="0" rIns="0">
            <a:spAutoFit/>
          </a:bodyPr>
          <a:lstStyle/>
          <a:p>
            <a:pPr algn="ctr">
              <a:lnSpc>
                <a:spcPts val="4900"/>
              </a:lnSpc>
              <a:spcBef>
                <a:spcPct val="0"/>
              </a:spcBef>
            </a:pPr>
            <a:r>
              <a:rPr lang="en-US" b="true" sz="3500">
                <a:solidFill>
                  <a:srgbClr val="FF5757"/>
                </a:solidFill>
                <a:latin typeface="Canva Sans Bold"/>
                <a:ea typeface="Canva Sans Bold"/>
                <a:cs typeface="Canva Sans Bold"/>
                <a:sym typeface="Canva Sans Bold"/>
              </a:rPr>
              <a:t>2</a:t>
            </a:r>
          </a:p>
        </p:txBody>
      </p:sp>
      <p:sp>
        <p:nvSpPr>
          <p:cNvPr name="TextBox 20" id="20"/>
          <p:cNvSpPr txBox="true"/>
          <p:nvPr/>
        </p:nvSpPr>
        <p:spPr>
          <a:xfrm rot="0">
            <a:off x="7662675" y="6132149"/>
            <a:ext cx="262652" cy="596900"/>
          </a:xfrm>
          <a:prstGeom prst="rect">
            <a:avLst/>
          </a:prstGeom>
        </p:spPr>
        <p:txBody>
          <a:bodyPr anchor="t" rtlCol="false" tIns="0" lIns="0" bIns="0" rIns="0">
            <a:spAutoFit/>
          </a:bodyPr>
          <a:lstStyle/>
          <a:p>
            <a:pPr algn="ctr">
              <a:lnSpc>
                <a:spcPts val="4900"/>
              </a:lnSpc>
              <a:spcBef>
                <a:spcPct val="0"/>
              </a:spcBef>
            </a:pPr>
            <a:r>
              <a:rPr lang="en-US" b="true" sz="3500">
                <a:solidFill>
                  <a:srgbClr val="FF5757"/>
                </a:solidFill>
                <a:latin typeface="Canva Sans Bold"/>
                <a:ea typeface="Canva Sans Bold"/>
                <a:cs typeface="Canva Sans Bold"/>
                <a:sym typeface="Canva Sans Bold"/>
              </a:rPr>
              <a:t>3</a:t>
            </a:r>
          </a:p>
        </p:txBody>
      </p:sp>
      <p:sp>
        <p:nvSpPr>
          <p:cNvPr name="TextBox 21" id="21"/>
          <p:cNvSpPr txBox="true"/>
          <p:nvPr/>
        </p:nvSpPr>
        <p:spPr>
          <a:xfrm rot="0">
            <a:off x="10447265" y="5333047"/>
            <a:ext cx="276582" cy="596900"/>
          </a:xfrm>
          <a:prstGeom prst="rect">
            <a:avLst/>
          </a:prstGeom>
        </p:spPr>
        <p:txBody>
          <a:bodyPr anchor="t" rtlCol="false" tIns="0" lIns="0" bIns="0" rIns="0">
            <a:spAutoFit/>
          </a:bodyPr>
          <a:lstStyle/>
          <a:p>
            <a:pPr algn="ctr">
              <a:lnSpc>
                <a:spcPts val="4900"/>
              </a:lnSpc>
              <a:spcBef>
                <a:spcPct val="0"/>
              </a:spcBef>
            </a:pPr>
            <a:r>
              <a:rPr lang="en-US" b="true" sz="3500">
                <a:solidFill>
                  <a:srgbClr val="FF5757"/>
                </a:solidFill>
                <a:latin typeface="Canva Sans Bold"/>
                <a:ea typeface="Canva Sans Bold"/>
                <a:cs typeface="Canva Sans Bold"/>
                <a:sym typeface="Canva Sans Bold"/>
              </a:rPr>
              <a:t>4</a:t>
            </a:r>
          </a:p>
        </p:txBody>
      </p:sp>
      <p:sp>
        <p:nvSpPr>
          <p:cNvPr name="TextBox 22" id="22"/>
          <p:cNvSpPr txBox="true"/>
          <p:nvPr/>
        </p:nvSpPr>
        <p:spPr>
          <a:xfrm rot="0">
            <a:off x="13246302" y="6259411"/>
            <a:ext cx="267414" cy="596900"/>
          </a:xfrm>
          <a:prstGeom prst="rect">
            <a:avLst/>
          </a:prstGeom>
        </p:spPr>
        <p:txBody>
          <a:bodyPr anchor="t" rtlCol="false" tIns="0" lIns="0" bIns="0" rIns="0">
            <a:spAutoFit/>
          </a:bodyPr>
          <a:lstStyle/>
          <a:p>
            <a:pPr algn="ctr">
              <a:lnSpc>
                <a:spcPts val="4900"/>
              </a:lnSpc>
              <a:spcBef>
                <a:spcPct val="0"/>
              </a:spcBef>
            </a:pPr>
            <a:r>
              <a:rPr lang="en-US" b="true" sz="3500">
                <a:solidFill>
                  <a:srgbClr val="FF5757"/>
                </a:solidFill>
                <a:latin typeface="Canva Sans Bold"/>
                <a:ea typeface="Canva Sans Bold"/>
                <a:cs typeface="Canva Sans Bold"/>
                <a:sym typeface="Canva Sans Bold"/>
              </a:rPr>
              <a:t>5</a:t>
            </a:r>
          </a:p>
        </p:txBody>
      </p:sp>
      <p:sp>
        <p:nvSpPr>
          <p:cNvPr name="TextBox 23" id="23"/>
          <p:cNvSpPr txBox="true"/>
          <p:nvPr/>
        </p:nvSpPr>
        <p:spPr>
          <a:xfrm rot="0">
            <a:off x="15525512" y="5326223"/>
            <a:ext cx="288250" cy="596900"/>
          </a:xfrm>
          <a:prstGeom prst="rect">
            <a:avLst/>
          </a:prstGeom>
        </p:spPr>
        <p:txBody>
          <a:bodyPr anchor="t" rtlCol="false" tIns="0" lIns="0" bIns="0" rIns="0">
            <a:spAutoFit/>
          </a:bodyPr>
          <a:lstStyle/>
          <a:p>
            <a:pPr algn="ctr">
              <a:lnSpc>
                <a:spcPts val="4900"/>
              </a:lnSpc>
              <a:spcBef>
                <a:spcPct val="0"/>
              </a:spcBef>
            </a:pPr>
            <a:r>
              <a:rPr lang="en-US" b="true" sz="3500">
                <a:solidFill>
                  <a:srgbClr val="FF5757"/>
                </a:solidFill>
                <a:latin typeface="Canva Sans Bold"/>
                <a:ea typeface="Canva Sans Bold"/>
                <a:cs typeface="Canva Sans Bold"/>
                <a:sym typeface="Canva Sans Bold"/>
              </a:rPr>
              <a:t>6</a:t>
            </a:r>
          </a:p>
        </p:txBody>
      </p:sp>
      <p:sp>
        <p:nvSpPr>
          <p:cNvPr name="TextBox 24" id="24"/>
          <p:cNvSpPr txBox="true"/>
          <p:nvPr/>
        </p:nvSpPr>
        <p:spPr>
          <a:xfrm rot="0">
            <a:off x="233316" y="2261949"/>
            <a:ext cx="4014760" cy="2114550"/>
          </a:xfrm>
          <a:prstGeom prst="rect">
            <a:avLst/>
          </a:prstGeom>
        </p:spPr>
        <p:txBody>
          <a:bodyPr anchor="t" rtlCol="false" tIns="0" lIns="0" bIns="0" rIns="0">
            <a:spAutoFit/>
          </a:bodyPr>
          <a:lstStyle/>
          <a:p>
            <a:pPr algn="ctr">
              <a:lnSpc>
                <a:spcPts val="4200"/>
              </a:lnSpc>
            </a:pPr>
            <a:r>
              <a:rPr lang="en-US" sz="3000" b="true">
                <a:solidFill>
                  <a:srgbClr val="000000"/>
                </a:solidFill>
                <a:latin typeface="Canva Sans Bold"/>
                <a:ea typeface="Canva Sans Bold"/>
                <a:cs typeface="Canva Sans Bold"/>
                <a:sym typeface="Canva Sans Bold"/>
              </a:rPr>
              <a:t>Huấn luyện 3 mô hình YOLOv8, YOLOv11x, RT-DETR</a:t>
            </a:r>
          </a:p>
          <a:p>
            <a:pPr algn="ctr">
              <a:lnSpc>
                <a:spcPts val="4200"/>
              </a:lnSpc>
              <a:spcBef>
                <a:spcPct val="0"/>
              </a:spcBef>
            </a:pPr>
          </a:p>
        </p:txBody>
      </p:sp>
      <p:sp>
        <p:nvSpPr>
          <p:cNvPr name="TextBox 25" id="25"/>
          <p:cNvSpPr txBox="true"/>
          <p:nvPr/>
        </p:nvSpPr>
        <p:spPr>
          <a:xfrm rot="0">
            <a:off x="3014450" y="7787005"/>
            <a:ext cx="4014760" cy="2114550"/>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Canva Sans Bold"/>
                <a:ea typeface="Canva Sans Bold"/>
                <a:cs typeface="Canva Sans Bold"/>
                <a:sym typeface="Canva Sans Bold"/>
              </a:rPr>
              <a:t>Đánh giá và phân tích kết quả của kết quả huấn luyện của 3 mô hình </a:t>
            </a:r>
          </a:p>
        </p:txBody>
      </p:sp>
      <p:sp>
        <p:nvSpPr>
          <p:cNvPr name="TextBox 26" id="26"/>
          <p:cNvSpPr txBox="true"/>
          <p:nvPr/>
        </p:nvSpPr>
        <p:spPr>
          <a:xfrm rot="0">
            <a:off x="5786621" y="2054124"/>
            <a:ext cx="4014760" cy="1581150"/>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Canva Sans Bold"/>
                <a:ea typeface="Canva Sans Bold"/>
                <a:cs typeface="Canva Sans Bold"/>
                <a:sym typeface="Canva Sans Bold"/>
              </a:rPr>
              <a:t>So sánh và chọn ra mô hình tối ưu triển khai thành ứng dụng</a:t>
            </a:r>
          </a:p>
        </p:txBody>
      </p:sp>
      <p:sp>
        <p:nvSpPr>
          <p:cNvPr name="TextBox 27" id="27"/>
          <p:cNvSpPr txBox="true"/>
          <p:nvPr/>
        </p:nvSpPr>
        <p:spPr>
          <a:xfrm rot="0">
            <a:off x="11073418" y="2261949"/>
            <a:ext cx="4014760" cy="1581150"/>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Canva Sans Bold"/>
                <a:ea typeface="Canva Sans Bold"/>
                <a:cs typeface="Canva Sans Bold"/>
                <a:sym typeface="Canva Sans Bold"/>
              </a:rPr>
              <a:t>Cắt vùng lỗi từ ảnh gốc để phát hiện chi tiết lỗi</a:t>
            </a:r>
          </a:p>
        </p:txBody>
      </p:sp>
      <p:sp>
        <p:nvSpPr>
          <p:cNvPr name="TextBox 28" id="28"/>
          <p:cNvSpPr txBox="true"/>
          <p:nvPr/>
        </p:nvSpPr>
        <p:spPr>
          <a:xfrm rot="0">
            <a:off x="8439885" y="7576166"/>
            <a:ext cx="4014760" cy="2114550"/>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Canva Sans Bold"/>
                <a:ea typeface="Canva Sans Bold"/>
                <a:cs typeface="Canva Sans Bold"/>
                <a:sym typeface="Canva Sans Bold"/>
              </a:rPr>
              <a:t>Áp dụng mô hình đã chọn để phát hiện lỗi trên ảnh X-ray thực tế, xuất bouding-box</a:t>
            </a:r>
          </a:p>
        </p:txBody>
      </p:sp>
      <p:sp>
        <p:nvSpPr>
          <p:cNvPr name="TextBox 29" id="29"/>
          <p:cNvSpPr txBox="true"/>
          <p:nvPr/>
        </p:nvSpPr>
        <p:spPr>
          <a:xfrm rot="0">
            <a:off x="13588844" y="7576166"/>
            <a:ext cx="4449835" cy="2114550"/>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Canva Sans Bold"/>
                <a:ea typeface="Canva Sans Bold"/>
                <a:cs typeface="Canva Sans Bold"/>
                <a:sym typeface="Canva Sans Bold"/>
              </a:rPr>
              <a:t>Vẽ đường lỗi bằng màu đỏ và xuất ra vị trí lỗi để điều khiển máy hàn thực hiện hàn vũng lỗi</a:t>
            </a:r>
          </a:p>
        </p:txBody>
      </p:sp>
      <p:sp>
        <p:nvSpPr>
          <p:cNvPr name="AutoShape 30" id="30"/>
          <p:cNvSpPr/>
          <p:nvPr/>
        </p:nvSpPr>
        <p:spPr>
          <a:xfrm flipV="true">
            <a:off x="934324" y="6057562"/>
            <a:ext cx="15167680" cy="6823"/>
          </a:xfrm>
          <a:prstGeom prst="line">
            <a:avLst/>
          </a:prstGeom>
          <a:ln cap="flat" w="38100">
            <a:gradFill>
              <a:gsLst>
                <a:gs pos="0">
                  <a:srgbClr val="203149">
                    <a:alpha val="100000"/>
                  </a:srgbClr>
                </a:gs>
                <a:gs pos="100000">
                  <a:srgbClr val="348BFF">
                    <a:alpha val="100000"/>
                  </a:srgbClr>
                </a:gs>
              </a:gsLst>
              <a:lin ang="0"/>
            </a:gradFill>
            <a:prstDash val="solid"/>
            <a:headEnd type="none" len="sm" w="sm"/>
            <a:tailEnd type="arrow" len="sm" w="med"/>
          </a:ln>
        </p:spPr>
      </p:sp>
      <p:grpSp>
        <p:nvGrpSpPr>
          <p:cNvPr name="Group 31" id="31"/>
          <p:cNvGrpSpPr/>
          <p:nvPr/>
        </p:nvGrpSpPr>
        <p:grpSpPr>
          <a:xfrm rot="0">
            <a:off x="2088916" y="5923123"/>
            <a:ext cx="268877" cy="268877"/>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8BFF"/>
            </a:solidFill>
            <a:ln w="38100" cap="sq">
              <a:gradFill>
                <a:gsLst>
                  <a:gs pos="0">
                    <a:srgbClr val="203149">
                      <a:alpha val="100000"/>
                    </a:srgbClr>
                  </a:gs>
                  <a:gs pos="100000">
                    <a:srgbClr val="348BFF">
                      <a:alpha val="100000"/>
                    </a:srgbClr>
                  </a:gs>
                </a:gsLst>
                <a:lin ang="0"/>
              </a:gradFill>
              <a:prstDash val="solid"/>
              <a:miter/>
            </a:ln>
          </p:spPr>
        </p:sp>
        <p:sp>
          <p:nvSpPr>
            <p:cNvPr name="TextBox 33" id="3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34" id="34"/>
          <p:cNvGrpSpPr/>
          <p:nvPr/>
        </p:nvGrpSpPr>
        <p:grpSpPr>
          <a:xfrm rot="0">
            <a:off x="4875796" y="5929947"/>
            <a:ext cx="268877" cy="268877"/>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8BFF"/>
            </a:solidFill>
            <a:ln w="38100" cap="sq">
              <a:gradFill>
                <a:gsLst>
                  <a:gs pos="0">
                    <a:srgbClr val="203149">
                      <a:alpha val="100000"/>
                    </a:srgbClr>
                  </a:gs>
                  <a:gs pos="100000">
                    <a:srgbClr val="348BFF">
                      <a:alpha val="100000"/>
                    </a:srgbClr>
                  </a:gs>
                </a:gsLst>
                <a:lin ang="0"/>
              </a:gradFill>
              <a:prstDash val="solid"/>
              <a:miter/>
            </a:ln>
          </p:spPr>
        </p:sp>
        <p:sp>
          <p:nvSpPr>
            <p:cNvPr name="TextBox 36" id="3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37" id="37"/>
          <p:cNvGrpSpPr/>
          <p:nvPr/>
        </p:nvGrpSpPr>
        <p:grpSpPr>
          <a:xfrm rot="0">
            <a:off x="7666348" y="5929947"/>
            <a:ext cx="268877" cy="268877"/>
            <a:chOff x="0" y="0"/>
            <a:chExt cx="812800" cy="812800"/>
          </a:xfrm>
        </p:grpSpPr>
        <p:sp>
          <p:nvSpPr>
            <p:cNvPr name="Freeform 38" id="3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8BFF"/>
            </a:solidFill>
            <a:ln w="38100" cap="sq">
              <a:gradFill>
                <a:gsLst>
                  <a:gs pos="0">
                    <a:srgbClr val="203149">
                      <a:alpha val="100000"/>
                    </a:srgbClr>
                  </a:gs>
                  <a:gs pos="100000">
                    <a:srgbClr val="348BFF">
                      <a:alpha val="100000"/>
                    </a:srgbClr>
                  </a:gs>
                </a:gsLst>
                <a:lin ang="0"/>
              </a:gradFill>
              <a:prstDash val="solid"/>
              <a:miter/>
            </a:ln>
          </p:spPr>
        </p:sp>
        <p:sp>
          <p:nvSpPr>
            <p:cNvPr name="TextBox 39" id="3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40" id="40"/>
          <p:cNvGrpSpPr/>
          <p:nvPr/>
        </p:nvGrpSpPr>
        <p:grpSpPr>
          <a:xfrm rot="0">
            <a:off x="10478400" y="5929947"/>
            <a:ext cx="268877" cy="268877"/>
            <a:chOff x="0" y="0"/>
            <a:chExt cx="812800" cy="812800"/>
          </a:xfrm>
        </p:grpSpPr>
        <p:sp>
          <p:nvSpPr>
            <p:cNvPr name="Freeform 41" id="4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8BFF"/>
            </a:solidFill>
            <a:ln w="38100" cap="sq">
              <a:gradFill>
                <a:gsLst>
                  <a:gs pos="0">
                    <a:srgbClr val="203149">
                      <a:alpha val="100000"/>
                    </a:srgbClr>
                  </a:gs>
                  <a:gs pos="100000">
                    <a:srgbClr val="348BFF">
                      <a:alpha val="100000"/>
                    </a:srgbClr>
                  </a:gs>
                </a:gsLst>
                <a:lin ang="0"/>
              </a:gradFill>
              <a:prstDash val="solid"/>
              <a:miter/>
            </a:ln>
          </p:spPr>
        </p:sp>
        <p:sp>
          <p:nvSpPr>
            <p:cNvPr name="TextBox 42" id="4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43" id="43"/>
          <p:cNvGrpSpPr/>
          <p:nvPr/>
        </p:nvGrpSpPr>
        <p:grpSpPr>
          <a:xfrm rot="0">
            <a:off x="13218030" y="6002735"/>
            <a:ext cx="268877" cy="268877"/>
            <a:chOff x="0" y="0"/>
            <a:chExt cx="812800" cy="812800"/>
          </a:xfrm>
        </p:grpSpPr>
        <p:sp>
          <p:nvSpPr>
            <p:cNvPr name="Freeform 44" id="4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8BFF"/>
            </a:solidFill>
            <a:ln w="38100" cap="sq">
              <a:gradFill>
                <a:gsLst>
                  <a:gs pos="0">
                    <a:srgbClr val="203149">
                      <a:alpha val="100000"/>
                    </a:srgbClr>
                  </a:gs>
                  <a:gs pos="100000">
                    <a:srgbClr val="348BFF">
                      <a:alpha val="100000"/>
                    </a:srgbClr>
                  </a:gs>
                </a:gsLst>
                <a:lin ang="0"/>
              </a:gradFill>
              <a:prstDash val="solid"/>
              <a:miter/>
            </a:ln>
          </p:spPr>
        </p:sp>
        <p:sp>
          <p:nvSpPr>
            <p:cNvPr name="TextBox 45" id="4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46" id="46"/>
          <p:cNvGrpSpPr/>
          <p:nvPr/>
        </p:nvGrpSpPr>
        <p:grpSpPr>
          <a:xfrm rot="0">
            <a:off x="15588002" y="5929947"/>
            <a:ext cx="268877" cy="268877"/>
            <a:chOff x="0" y="0"/>
            <a:chExt cx="812800" cy="812800"/>
          </a:xfrm>
        </p:grpSpPr>
        <p:sp>
          <p:nvSpPr>
            <p:cNvPr name="Freeform 47" id="4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8BFF"/>
            </a:solidFill>
            <a:ln w="38100" cap="sq">
              <a:gradFill>
                <a:gsLst>
                  <a:gs pos="0">
                    <a:srgbClr val="203149">
                      <a:alpha val="100000"/>
                    </a:srgbClr>
                  </a:gs>
                  <a:gs pos="100000">
                    <a:srgbClr val="348BFF">
                      <a:alpha val="100000"/>
                    </a:srgbClr>
                  </a:gs>
                </a:gsLst>
                <a:lin ang="0"/>
              </a:gradFill>
              <a:prstDash val="solid"/>
              <a:miter/>
            </a:ln>
          </p:spPr>
        </p:sp>
        <p:sp>
          <p:nvSpPr>
            <p:cNvPr name="TextBox 48" id="4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49" id="49"/>
          <p:cNvSpPr/>
          <p:nvPr/>
        </p:nvSpPr>
        <p:spPr>
          <a:xfrm flipH="false" flipV="false" rot="-5194305">
            <a:off x="1320013" y="4880063"/>
            <a:ext cx="1607169" cy="604880"/>
          </a:xfrm>
          <a:custGeom>
            <a:avLst/>
            <a:gdLst/>
            <a:ahLst/>
            <a:cxnLst/>
            <a:rect r="r" b="b" t="t" l="l"/>
            <a:pathLst>
              <a:path h="604880" w="1607169">
                <a:moveTo>
                  <a:pt x="0" y="0"/>
                </a:moveTo>
                <a:lnTo>
                  <a:pt x="1607169" y="0"/>
                </a:lnTo>
                <a:lnTo>
                  <a:pt x="1607169" y="604880"/>
                </a:lnTo>
                <a:lnTo>
                  <a:pt x="0" y="60488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0" id="50"/>
          <p:cNvSpPr/>
          <p:nvPr/>
        </p:nvSpPr>
        <p:spPr>
          <a:xfrm flipH="false" flipV="false" rot="-5194305">
            <a:off x="6927182" y="4880063"/>
            <a:ext cx="1607169" cy="604880"/>
          </a:xfrm>
          <a:custGeom>
            <a:avLst/>
            <a:gdLst/>
            <a:ahLst/>
            <a:cxnLst/>
            <a:rect r="r" b="b" t="t" l="l"/>
            <a:pathLst>
              <a:path h="604880" w="1607169">
                <a:moveTo>
                  <a:pt x="0" y="0"/>
                </a:moveTo>
                <a:lnTo>
                  <a:pt x="1607169" y="0"/>
                </a:lnTo>
                <a:lnTo>
                  <a:pt x="1607169" y="604880"/>
                </a:lnTo>
                <a:lnTo>
                  <a:pt x="0" y="60488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1" id="51"/>
          <p:cNvSpPr/>
          <p:nvPr/>
        </p:nvSpPr>
        <p:spPr>
          <a:xfrm flipH="false" flipV="false" rot="-5194305">
            <a:off x="12414446" y="4880063"/>
            <a:ext cx="1607169" cy="604880"/>
          </a:xfrm>
          <a:custGeom>
            <a:avLst/>
            <a:gdLst/>
            <a:ahLst/>
            <a:cxnLst/>
            <a:rect r="r" b="b" t="t" l="l"/>
            <a:pathLst>
              <a:path h="604880" w="1607169">
                <a:moveTo>
                  <a:pt x="0" y="0"/>
                </a:moveTo>
                <a:lnTo>
                  <a:pt x="1607169" y="0"/>
                </a:lnTo>
                <a:lnTo>
                  <a:pt x="1607169" y="604880"/>
                </a:lnTo>
                <a:lnTo>
                  <a:pt x="0" y="60488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2" id="52"/>
          <p:cNvSpPr/>
          <p:nvPr/>
        </p:nvSpPr>
        <p:spPr>
          <a:xfrm flipH="false" flipV="false" rot="5730328">
            <a:off x="4423704" y="6587709"/>
            <a:ext cx="1375404" cy="517652"/>
          </a:xfrm>
          <a:custGeom>
            <a:avLst/>
            <a:gdLst/>
            <a:ahLst/>
            <a:cxnLst/>
            <a:rect r="r" b="b" t="t" l="l"/>
            <a:pathLst>
              <a:path h="517652" w="1375404">
                <a:moveTo>
                  <a:pt x="0" y="0"/>
                </a:moveTo>
                <a:lnTo>
                  <a:pt x="1375404" y="0"/>
                </a:lnTo>
                <a:lnTo>
                  <a:pt x="1375404" y="517652"/>
                </a:lnTo>
                <a:lnTo>
                  <a:pt x="0" y="51765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3" id="53"/>
          <p:cNvSpPr/>
          <p:nvPr/>
        </p:nvSpPr>
        <p:spPr>
          <a:xfrm flipH="false" flipV="false" rot="5730328">
            <a:off x="10000009" y="6505281"/>
            <a:ext cx="1375404" cy="517652"/>
          </a:xfrm>
          <a:custGeom>
            <a:avLst/>
            <a:gdLst/>
            <a:ahLst/>
            <a:cxnLst/>
            <a:rect r="r" b="b" t="t" l="l"/>
            <a:pathLst>
              <a:path h="517652" w="1375404">
                <a:moveTo>
                  <a:pt x="0" y="0"/>
                </a:moveTo>
                <a:lnTo>
                  <a:pt x="1375404" y="0"/>
                </a:lnTo>
                <a:lnTo>
                  <a:pt x="1375404" y="517652"/>
                </a:lnTo>
                <a:lnTo>
                  <a:pt x="0" y="51765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4" id="54"/>
          <p:cNvSpPr/>
          <p:nvPr/>
        </p:nvSpPr>
        <p:spPr>
          <a:xfrm flipH="false" flipV="false" rot="5730328">
            <a:off x="15090691" y="6587709"/>
            <a:ext cx="1375404" cy="517652"/>
          </a:xfrm>
          <a:custGeom>
            <a:avLst/>
            <a:gdLst/>
            <a:ahLst/>
            <a:cxnLst/>
            <a:rect r="r" b="b" t="t" l="l"/>
            <a:pathLst>
              <a:path h="517652" w="1375404">
                <a:moveTo>
                  <a:pt x="0" y="0"/>
                </a:moveTo>
                <a:lnTo>
                  <a:pt x="1375404" y="0"/>
                </a:lnTo>
                <a:lnTo>
                  <a:pt x="1375404" y="517652"/>
                </a:lnTo>
                <a:lnTo>
                  <a:pt x="0" y="51765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18288000" cy="10109527"/>
            <a:chOff x="0" y="0"/>
            <a:chExt cx="4816593" cy="2662592"/>
          </a:xfrm>
        </p:grpSpPr>
        <p:sp>
          <p:nvSpPr>
            <p:cNvPr name="Freeform 4" id="4"/>
            <p:cNvSpPr/>
            <p:nvPr/>
          </p:nvSpPr>
          <p:spPr>
            <a:xfrm flipH="false" flipV="false" rot="0">
              <a:off x="0" y="0"/>
              <a:ext cx="4816592" cy="2662592"/>
            </a:xfrm>
            <a:custGeom>
              <a:avLst/>
              <a:gdLst/>
              <a:ahLst/>
              <a:cxnLst/>
              <a:rect r="r" b="b" t="t" l="l"/>
              <a:pathLst>
                <a:path h="2662592" w="4816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name="TextBox 5" id="5"/>
            <p:cNvSpPr txBox="true"/>
            <p:nvPr/>
          </p:nvSpPr>
          <p:spPr>
            <a:xfrm>
              <a:off x="0" y="-38100"/>
              <a:ext cx="4816593" cy="2700692"/>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240527" y="1427947"/>
            <a:ext cx="1480929" cy="1483627"/>
          </a:xfrm>
          <a:custGeom>
            <a:avLst/>
            <a:gdLst/>
            <a:ahLst/>
            <a:cxnLst/>
            <a:rect r="r" b="b" t="t" l="l"/>
            <a:pathLst>
              <a:path h="1483627" w="1480929">
                <a:moveTo>
                  <a:pt x="0" y="0"/>
                </a:moveTo>
                <a:lnTo>
                  <a:pt x="1480929" y="0"/>
                </a:lnTo>
                <a:lnTo>
                  <a:pt x="1480929" y="1483626"/>
                </a:lnTo>
                <a:lnTo>
                  <a:pt x="0" y="14836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true" flipV="true" rot="-10792239">
            <a:off x="-724606" y="8954135"/>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true" flipV="true" rot="-10792239">
            <a:off x="16612207" y="-936064"/>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9" id="9"/>
          <p:cNvGrpSpPr/>
          <p:nvPr/>
        </p:nvGrpSpPr>
        <p:grpSpPr>
          <a:xfrm rot="0">
            <a:off x="1028700" y="314559"/>
            <a:ext cx="560353" cy="652047"/>
            <a:chOff x="0" y="0"/>
            <a:chExt cx="698500" cy="812800"/>
          </a:xfrm>
        </p:grpSpPr>
        <p:sp>
          <p:nvSpPr>
            <p:cNvPr name="Freeform 10" id="10"/>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000000">
                <a:alpha val="0"/>
              </a:srgbClr>
            </a:solidFill>
            <a:ln w="95250" cap="sq">
              <a:solidFill>
                <a:srgbClr val="348BFF"/>
              </a:solidFill>
              <a:prstDash val="solid"/>
              <a:miter/>
            </a:ln>
          </p:spPr>
        </p:sp>
        <p:sp>
          <p:nvSpPr>
            <p:cNvPr name="TextBox 11" id="11"/>
            <p:cNvSpPr txBox="true"/>
            <p:nvPr/>
          </p:nvSpPr>
          <p:spPr>
            <a:xfrm>
              <a:off x="0" y="101600"/>
              <a:ext cx="698500" cy="571500"/>
            </a:xfrm>
            <a:prstGeom prst="rect">
              <a:avLst/>
            </a:prstGeom>
          </p:spPr>
          <p:txBody>
            <a:bodyPr anchor="ctr" rtlCol="false" tIns="27034" lIns="27034" bIns="27034" rIns="27034"/>
            <a:lstStyle/>
            <a:p>
              <a:pPr algn="ctr">
                <a:lnSpc>
                  <a:spcPts val="2659"/>
                </a:lnSpc>
              </a:pPr>
            </a:p>
          </p:txBody>
        </p:sp>
      </p:grpSp>
      <p:grpSp>
        <p:nvGrpSpPr>
          <p:cNvPr name="Group 12" id="12"/>
          <p:cNvGrpSpPr/>
          <p:nvPr/>
        </p:nvGrpSpPr>
        <p:grpSpPr>
          <a:xfrm rot="0">
            <a:off x="1308877" y="7046761"/>
            <a:ext cx="15670247" cy="2831160"/>
            <a:chOff x="0" y="0"/>
            <a:chExt cx="11379990" cy="2056035"/>
          </a:xfrm>
        </p:grpSpPr>
        <p:sp>
          <p:nvSpPr>
            <p:cNvPr name="Freeform 13" id="13"/>
            <p:cNvSpPr/>
            <p:nvPr/>
          </p:nvSpPr>
          <p:spPr>
            <a:xfrm flipH="false" flipV="false" rot="0">
              <a:off x="0" y="0"/>
              <a:ext cx="11379991" cy="2056035"/>
            </a:xfrm>
            <a:custGeom>
              <a:avLst/>
              <a:gdLst/>
              <a:ahLst/>
              <a:cxnLst/>
              <a:rect r="r" b="b" t="t" l="l"/>
              <a:pathLst>
                <a:path h="2056035" w="11379991">
                  <a:moveTo>
                    <a:pt x="0" y="1713362"/>
                  </a:moveTo>
                  <a:lnTo>
                    <a:pt x="0" y="342672"/>
                  </a:lnTo>
                  <a:cubicBezTo>
                    <a:pt x="0" y="153517"/>
                    <a:pt x="509824" y="0"/>
                    <a:pt x="1137999" y="0"/>
                  </a:cubicBezTo>
                  <a:lnTo>
                    <a:pt x="10241991" y="0"/>
                  </a:lnTo>
                  <a:cubicBezTo>
                    <a:pt x="10870167" y="0"/>
                    <a:pt x="11379991" y="153517"/>
                    <a:pt x="11379991" y="342672"/>
                  </a:cubicBezTo>
                  <a:lnTo>
                    <a:pt x="11379991" y="1713362"/>
                  </a:lnTo>
                  <a:cubicBezTo>
                    <a:pt x="11379991" y="1902517"/>
                    <a:pt x="10870167" y="2056035"/>
                    <a:pt x="10241991" y="2056035"/>
                  </a:cubicBezTo>
                  <a:lnTo>
                    <a:pt x="1137999" y="2056035"/>
                  </a:lnTo>
                  <a:cubicBezTo>
                    <a:pt x="509824" y="2056035"/>
                    <a:pt x="0" y="1902517"/>
                    <a:pt x="0" y="1713362"/>
                  </a:cubicBezTo>
                  <a:close/>
                </a:path>
              </a:pathLst>
            </a:custGeom>
            <a:blipFill>
              <a:blip r:embed="rId7"/>
              <a:stretch>
                <a:fillRect l="0" t="-23363" r="0" b="-23363"/>
              </a:stretch>
            </a:blipFill>
          </p:spPr>
        </p:sp>
      </p:grpSp>
      <p:sp>
        <p:nvSpPr>
          <p:cNvPr name="TextBox 14" id="14"/>
          <p:cNvSpPr txBox="true"/>
          <p:nvPr/>
        </p:nvSpPr>
        <p:spPr>
          <a:xfrm rot="0">
            <a:off x="2948488" y="4088931"/>
            <a:ext cx="12618839" cy="2957830"/>
          </a:xfrm>
          <a:prstGeom prst="rect">
            <a:avLst/>
          </a:prstGeom>
        </p:spPr>
        <p:txBody>
          <a:bodyPr anchor="t" rtlCol="false" tIns="0" lIns="0" bIns="0" rIns="0">
            <a:spAutoFit/>
          </a:bodyPr>
          <a:lstStyle/>
          <a:p>
            <a:pPr algn="ctr" marL="604519" indent="-302260" lvl="1">
              <a:lnSpc>
                <a:spcPts val="3919"/>
              </a:lnSpc>
              <a:spcBef>
                <a:spcPct val="0"/>
              </a:spcBef>
              <a:buFont typeface="Arial"/>
              <a:buChar char="•"/>
            </a:pPr>
            <a:r>
              <a:rPr lang="en-US" sz="2799">
                <a:solidFill>
                  <a:srgbClr val="FFFFFF"/>
                </a:solidFill>
                <a:latin typeface="Canva Sans"/>
                <a:ea typeface="Canva Sans"/>
                <a:cs typeface="Canva Sans"/>
                <a:sym typeface="Canva Sans"/>
              </a:rPr>
              <a:t>Cải thiện vượt trội về tốc độ &amp; đ</a:t>
            </a:r>
            <a:r>
              <a:rPr lang="en-US" sz="2799">
                <a:solidFill>
                  <a:srgbClr val="FFFFFF"/>
                </a:solidFill>
                <a:latin typeface="Canva Sans"/>
                <a:ea typeface="Canva Sans"/>
                <a:cs typeface="Canva Sans"/>
                <a:sym typeface="Canva Sans"/>
              </a:rPr>
              <a:t>ộ chính xác so với các phiên bản trước.</a:t>
            </a:r>
          </a:p>
          <a:p>
            <a:pPr algn="ctr">
              <a:lnSpc>
                <a:spcPts val="3919"/>
              </a:lnSpc>
              <a:spcBef>
                <a:spcPct val="0"/>
              </a:spcBef>
            </a:pPr>
          </a:p>
          <a:p>
            <a:pPr algn="l" marL="604519" indent="-302260" lvl="1">
              <a:lnSpc>
                <a:spcPts val="3919"/>
              </a:lnSpc>
              <a:spcBef>
                <a:spcPct val="0"/>
              </a:spcBef>
              <a:buFont typeface="Arial"/>
              <a:buChar char="•"/>
            </a:pPr>
            <a:r>
              <a:rPr lang="en-US" sz="2799">
                <a:solidFill>
                  <a:srgbClr val="FFFFFF"/>
                </a:solidFill>
                <a:latin typeface="Canva Sans"/>
                <a:ea typeface="Canva Sans"/>
                <a:cs typeface="Canva Sans"/>
                <a:sym typeface="Canva Sans"/>
              </a:rPr>
              <a:t>Kiến trúc linh hoạt, dễ dàng tùy chỉnh cho bài toán phát hiện lỗi hàn.</a:t>
            </a:r>
          </a:p>
          <a:p>
            <a:pPr algn="l">
              <a:lnSpc>
                <a:spcPts val="3919"/>
              </a:lnSpc>
              <a:spcBef>
                <a:spcPct val="0"/>
              </a:spcBef>
            </a:pPr>
          </a:p>
          <a:p>
            <a:pPr algn="l" marL="604519" indent="-302260" lvl="1">
              <a:lnSpc>
                <a:spcPts val="3919"/>
              </a:lnSpc>
              <a:spcBef>
                <a:spcPct val="0"/>
              </a:spcBef>
              <a:buFont typeface="Arial"/>
              <a:buChar char="•"/>
            </a:pPr>
            <a:r>
              <a:rPr lang="en-US" sz="2799">
                <a:solidFill>
                  <a:srgbClr val="FFFFFF"/>
                </a:solidFill>
                <a:latin typeface="Canva Sans"/>
                <a:ea typeface="Canva Sans"/>
                <a:cs typeface="Canva Sans"/>
                <a:sym typeface="Canva Sans"/>
              </a:rPr>
              <a:t>Tối ưu hóa khả năng phát hiện các vật thể nhỏ và khó nhận diện.</a:t>
            </a:r>
          </a:p>
          <a:p>
            <a:pPr algn="ctr">
              <a:lnSpc>
                <a:spcPts val="3919"/>
              </a:lnSpc>
              <a:spcBef>
                <a:spcPct val="0"/>
              </a:spcBef>
            </a:pPr>
          </a:p>
        </p:txBody>
      </p:sp>
      <p:sp>
        <p:nvSpPr>
          <p:cNvPr name="TextBox 15" id="15"/>
          <p:cNvSpPr txBox="true"/>
          <p:nvPr/>
        </p:nvSpPr>
        <p:spPr>
          <a:xfrm rot="0">
            <a:off x="2948488" y="1895662"/>
            <a:ext cx="5615734" cy="1235075"/>
          </a:xfrm>
          <a:prstGeom prst="rect">
            <a:avLst/>
          </a:prstGeom>
        </p:spPr>
        <p:txBody>
          <a:bodyPr anchor="t" rtlCol="false" tIns="0" lIns="0" bIns="0" rIns="0">
            <a:spAutoFit/>
          </a:bodyPr>
          <a:lstStyle/>
          <a:p>
            <a:pPr algn="l">
              <a:lnSpc>
                <a:spcPts val="4900"/>
              </a:lnSpc>
            </a:pPr>
            <a:r>
              <a:rPr lang="en-US" sz="3500" b="true">
                <a:solidFill>
                  <a:srgbClr val="FFFFFF"/>
                </a:solidFill>
                <a:latin typeface="Roboto Bold"/>
                <a:ea typeface="Roboto Bold"/>
                <a:cs typeface="Roboto Bold"/>
                <a:sym typeface="Roboto Bold"/>
              </a:rPr>
              <a:t>Mô hình sử dụng</a:t>
            </a:r>
          </a:p>
          <a:p>
            <a:pPr algn="l">
              <a:lnSpc>
                <a:spcPts val="4900"/>
              </a:lnSpc>
            </a:pPr>
          </a:p>
        </p:txBody>
      </p:sp>
      <p:sp>
        <p:nvSpPr>
          <p:cNvPr name="TextBox 16" id="16"/>
          <p:cNvSpPr txBox="true"/>
          <p:nvPr/>
        </p:nvSpPr>
        <p:spPr>
          <a:xfrm rot="0">
            <a:off x="2728289" y="315732"/>
            <a:ext cx="13342528" cy="1384300"/>
          </a:xfrm>
          <a:prstGeom prst="rect">
            <a:avLst/>
          </a:prstGeom>
        </p:spPr>
        <p:txBody>
          <a:bodyPr anchor="t" rtlCol="false" tIns="0" lIns="0" bIns="0" rIns="0">
            <a:spAutoFit/>
          </a:bodyPr>
          <a:lstStyle/>
          <a:p>
            <a:pPr algn="ctr">
              <a:lnSpc>
                <a:spcPts val="5599"/>
              </a:lnSpc>
            </a:pPr>
            <a:r>
              <a:rPr lang="en-US" sz="3999" spc="-39">
                <a:solidFill>
                  <a:srgbClr val="348BFF"/>
                </a:solidFill>
                <a:latin typeface="Roboto"/>
                <a:ea typeface="Roboto"/>
                <a:cs typeface="Roboto"/>
                <a:sym typeface="Roboto"/>
              </a:rPr>
              <a:t>PHÁT HIỆN LỖI MỐI HÀN BẰNG YOLOV8</a:t>
            </a:r>
          </a:p>
          <a:p>
            <a:pPr algn="ctr">
              <a:lnSpc>
                <a:spcPts val="5599"/>
              </a:lnSpc>
            </a:pPr>
          </a:p>
        </p:txBody>
      </p:sp>
      <p:sp>
        <p:nvSpPr>
          <p:cNvPr name="TextBox 17" id="17"/>
          <p:cNvSpPr txBox="true"/>
          <p:nvPr/>
        </p:nvSpPr>
        <p:spPr>
          <a:xfrm rot="0">
            <a:off x="3165093" y="2854423"/>
            <a:ext cx="13745680" cy="976630"/>
          </a:xfrm>
          <a:prstGeom prst="rect">
            <a:avLst/>
          </a:prstGeom>
        </p:spPr>
        <p:txBody>
          <a:bodyPr anchor="t" rtlCol="false" tIns="0" lIns="0" bIns="0" rIns="0">
            <a:spAutoFit/>
          </a:bodyPr>
          <a:lstStyle/>
          <a:p>
            <a:pPr algn="l">
              <a:lnSpc>
                <a:spcPts val="3919"/>
              </a:lnSpc>
              <a:spcBef>
                <a:spcPct val="0"/>
              </a:spcBef>
            </a:pPr>
            <a:r>
              <a:rPr lang="en-US" sz="2799">
                <a:solidFill>
                  <a:srgbClr val="FFFFFF"/>
                </a:solidFill>
                <a:latin typeface="Canva Sans"/>
                <a:ea typeface="Canva Sans"/>
                <a:cs typeface="Canva Sans"/>
                <a:sym typeface="Canva Sans"/>
              </a:rPr>
              <a:t>YOLOv8</a:t>
            </a:r>
            <a:r>
              <a:rPr lang="en-US" sz="2799">
                <a:solidFill>
                  <a:srgbClr val="FFFFFF"/>
                </a:solidFill>
                <a:latin typeface="Canva Sans"/>
                <a:ea typeface="Canva Sans"/>
                <a:cs typeface="Canva Sans"/>
                <a:sym typeface="Canva Sans"/>
              </a:rPr>
              <a:t> (You Only Look Once v8) là mô hình phát hiện đối tượng hiện đại, hiệu quả với nền tảng hiệu suất cao </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353856"/>
            <a:ext cx="18288000" cy="10109527"/>
            <a:chOff x="0" y="0"/>
            <a:chExt cx="4816593" cy="2662592"/>
          </a:xfrm>
        </p:grpSpPr>
        <p:sp>
          <p:nvSpPr>
            <p:cNvPr name="Freeform 4" id="4"/>
            <p:cNvSpPr/>
            <p:nvPr/>
          </p:nvSpPr>
          <p:spPr>
            <a:xfrm flipH="false" flipV="false" rot="0">
              <a:off x="0" y="0"/>
              <a:ext cx="4816592" cy="2662592"/>
            </a:xfrm>
            <a:custGeom>
              <a:avLst/>
              <a:gdLst/>
              <a:ahLst/>
              <a:cxnLst/>
              <a:rect r="r" b="b" t="t" l="l"/>
              <a:pathLst>
                <a:path h="2662592" w="4816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name="TextBox 5" id="5"/>
            <p:cNvSpPr txBox="true"/>
            <p:nvPr/>
          </p:nvSpPr>
          <p:spPr>
            <a:xfrm>
              <a:off x="0" y="-38100"/>
              <a:ext cx="4816593" cy="2700692"/>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626738" y="1225884"/>
            <a:ext cx="1480929" cy="1483627"/>
          </a:xfrm>
          <a:custGeom>
            <a:avLst/>
            <a:gdLst/>
            <a:ahLst/>
            <a:cxnLst/>
            <a:rect r="r" b="b" t="t" l="l"/>
            <a:pathLst>
              <a:path h="1483627" w="1480929">
                <a:moveTo>
                  <a:pt x="0" y="0"/>
                </a:moveTo>
                <a:lnTo>
                  <a:pt x="1480929" y="0"/>
                </a:lnTo>
                <a:lnTo>
                  <a:pt x="1480929" y="1483626"/>
                </a:lnTo>
                <a:lnTo>
                  <a:pt x="0" y="14836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true" flipV="true" rot="-10792239">
            <a:off x="-724606" y="8954135"/>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true" flipV="true" rot="-10792239">
            <a:off x="16612207" y="-936064"/>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9" id="9"/>
          <p:cNvGrpSpPr/>
          <p:nvPr/>
        </p:nvGrpSpPr>
        <p:grpSpPr>
          <a:xfrm rot="0">
            <a:off x="1028700" y="314559"/>
            <a:ext cx="560353" cy="652047"/>
            <a:chOff x="0" y="0"/>
            <a:chExt cx="698500" cy="812800"/>
          </a:xfrm>
        </p:grpSpPr>
        <p:sp>
          <p:nvSpPr>
            <p:cNvPr name="Freeform 10" id="10"/>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000000">
                <a:alpha val="0"/>
              </a:srgbClr>
            </a:solidFill>
            <a:ln w="95250" cap="sq">
              <a:solidFill>
                <a:srgbClr val="348BFF"/>
              </a:solidFill>
              <a:prstDash val="solid"/>
              <a:miter/>
            </a:ln>
          </p:spPr>
        </p:sp>
        <p:sp>
          <p:nvSpPr>
            <p:cNvPr name="TextBox 11" id="11"/>
            <p:cNvSpPr txBox="true"/>
            <p:nvPr/>
          </p:nvSpPr>
          <p:spPr>
            <a:xfrm>
              <a:off x="0" y="101600"/>
              <a:ext cx="698500" cy="571500"/>
            </a:xfrm>
            <a:prstGeom prst="rect">
              <a:avLst/>
            </a:prstGeom>
          </p:spPr>
          <p:txBody>
            <a:bodyPr anchor="ctr" rtlCol="false" tIns="27034" lIns="27034" bIns="27034" rIns="27034"/>
            <a:lstStyle/>
            <a:p>
              <a:pPr algn="ctr">
                <a:lnSpc>
                  <a:spcPts val="2659"/>
                </a:lnSpc>
              </a:pPr>
            </a:p>
          </p:txBody>
        </p:sp>
      </p:grpSp>
      <p:graphicFrame>
        <p:nvGraphicFramePr>
          <p:cNvPr name="Table 12" id="12"/>
          <p:cNvGraphicFramePr>
            <a:graphicFrameLocks noGrp="true"/>
          </p:cNvGraphicFramePr>
          <p:nvPr/>
        </p:nvGraphicFramePr>
        <p:xfrm>
          <a:off x="2375085" y="2709510"/>
          <a:ext cx="14628307" cy="7391400"/>
        </p:xfrm>
        <a:graphic>
          <a:graphicData uri="http://schemas.openxmlformats.org/drawingml/2006/table">
            <a:tbl>
              <a:tblPr/>
              <a:tblGrid>
                <a:gridCol w="4289907"/>
                <a:gridCol w="10338400"/>
              </a:tblGrid>
              <a:tr h="1024456">
                <a:tc>
                  <a:txBody>
                    <a:bodyPr anchor="t" rtlCol="false"/>
                    <a:lstStyle/>
                    <a:p>
                      <a:pPr algn="ctr">
                        <a:lnSpc>
                          <a:spcPts val="3640"/>
                        </a:lnSpc>
                        <a:defRPr/>
                      </a:pPr>
                      <a:r>
                        <a:rPr lang="en-US" sz="2600">
                          <a:solidFill>
                            <a:srgbClr val="428DFF"/>
                          </a:solidFill>
                          <a:latin typeface="Canva Sans"/>
                          <a:ea typeface="Canva Sans"/>
                          <a:cs typeface="Canva Sans"/>
                          <a:sym typeface="Canva Sans"/>
                        </a:rPr>
                        <a:t>Đặc điểm của YOLOv8</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640"/>
                        </a:lnSpc>
                        <a:defRPr/>
                      </a:pPr>
                      <a:r>
                        <a:rPr lang="en-US" sz="2600">
                          <a:solidFill>
                            <a:srgbClr val="428DFF"/>
                          </a:solidFill>
                          <a:latin typeface="Canva Sans"/>
                          <a:ea typeface="Canva Sans"/>
                          <a:cs typeface="Canva Sans"/>
                          <a:sym typeface="Canva Sans"/>
                        </a:rPr>
                        <a:t>Lợi ích</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273389">
                <a:tc>
                  <a:txBody>
                    <a:bodyPr anchor="t" rtlCol="false"/>
                    <a:lstStyle/>
                    <a:p>
                      <a:pPr algn="l">
                        <a:lnSpc>
                          <a:spcPts val="3220"/>
                        </a:lnSpc>
                        <a:defRPr/>
                      </a:pPr>
                      <a:r>
                        <a:rPr lang="en-US" sz="2300">
                          <a:solidFill>
                            <a:srgbClr val="F2EDED"/>
                          </a:solidFill>
                          <a:latin typeface="Canva Sans"/>
                          <a:ea typeface="Canva Sans"/>
                          <a:cs typeface="Canva Sans"/>
                          <a:sym typeface="Canva Sans"/>
                        </a:rPr>
                        <a:t>Anchor-free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3220"/>
                        </a:lnSpc>
                        <a:defRPr/>
                      </a:pPr>
                      <a:r>
                        <a:rPr lang="en-US" sz="2300">
                          <a:solidFill>
                            <a:srgbClr val="FFFFFF"/>
                          </a:solidFill>
                          <a:latin typeface="Canva Sans"/>
                          <a:ea typeface="Canva Sans"/>
                          <a:cs typeface="Canva Sans"/>
                          <a:sym typeface="Canva Sans"/>
                        </a:rPr>
                        <a:t>Loại bỏ anchor box cố định → dự đoán trực tiếp tâm &amp; kích thước, hiệu quả với khuyết tật nhỏ và bất thường.</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273389">
                <a:tc>
                  <a:txBody>
                    <a:bodyPr anchor="t" rtlCol="false"/>
                    <a:lstStyle/>
                    <a:p>
                      <a:pPr algn="l">
                        <a:lnSpc>
                          <a:spcPts val="3220"/>
                        </a:lnSpc>
                        <a:defRPr/>
                      </a:pPr>
                      <a:r>
                        <a:rPr lang="en-US" sz="2300">
                          <a:solidFill>
                            <a:srgbClr val="FFFFFF"/>
                          </a:solidFill>
                          <a:latin typeface="Canva Sans"/>
                          <a:ea typeface="Canva Sans"/>
                          <a:cs typeface="Canva Sans"/>
                          <a:sym typeface="Canva Sans"/>
                        </a:rPr>
                        <a:t>Backbone–Neck cải tiến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3220"/>
                        </a:lnSpc>
                        <a:defRPr/>
                      </a:pPr>
                      <a:r>
                        <a:rPr lang="en-US" sz="2300">
                          <a:solidFill>
                            <a:srgbClr val="FFFFFF"/>
                          </a:solidFill>
                          <a:latin typeface="Canva Sans"/>
                          <a:ea typeface="Canva Sans"/>
                          <a:cs typeface="Canva Sans"/>
                          <a:sym typeface="Canva Sans"/>
                        </a:rPr>
                        <a:t>C2f + FPN + PAN giúp giữ đặc trưng đa tỉ lệ → phát hiện tốt cả rỗ khí nhỏ và ngậm xỉ lớn.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273389">
                <a:tc>
                  <a:txBody>
                    <a:bodyPr anchor="t" rtlCol="false"/>
                    <a:lstStyle/>
                    <a:p>
                      <a:pPr algn="l">
                        <a:lnSpc>
                          <a:spcPts val="3220"/>
                        </a:lnSpc>
                        <a:defRPr/>
                      </a:pPr>
                      <a:r>
                        <a:rPr lang="en-US" sz="2300">
                          <a:solidFill>
                            <a:srgbClr val="F2EDED"/>
                          </a:solidFill>
                          <a:latin typeface="Canva Sans"/>
                          <a:ea typeface="Canva Sans"/>
                          <a:cs typeface="Canva Sans"/>
                          <a:sym typeface="Canva Sans"/>
                        </a:rPr>
                        <a:t>Hiệu năng vượt trội</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3220"/>
                        </a:lnSpc>
                        <a:defRPr/>
                      </a:pPr>
                      <a:r>
                        <a:rPr lang="en-US" sz="2300">
                          <a:solidFill>
                            <a:srgbClr val="FFFFFF"/>
                          </a:solidFill>
                          <a:latin typeface="Canva Sans"/>
                          <a:ea typeface="Canva Sans"/>
                          <a:cs typeface="Canva Sans"/>
                          <a:sym typeface="Canva Sans"/>
                        </a:rPr>
                        <a:t>mAP cao hơn YOLOv5/7 nhưng vẫn chạy real-time → phù hợp dây chuyền kiểm tra X-ray.</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273389">
                <a:tc>
                  <a:txBody>
                    <a:bodyPr anchor="t" rtlCol="false"/>
                    <a:lstStyle/>
                    <a:p>
                      <a:pPr algn="l">
                        <a:lnSpc>
                          <a:spcPts val="3220"/>
                        </a:lnSpc>
                        <a:defRPr/>
                      </a:pPr>
                      <a:r>
                        <a:rPr lang="en-US" sz="2300">
                          <a:solidFill>
                            <a:srgbClr val="FFFFFF"/>
                          </a:solidFill>
                          <a:latin typeface="Canva Sans"/>
                          <a:ea typeface="Canva Sans"/>
                          <a:cs typeface="Canva Sans"/>
                          <a:sym typeface="Canva Sans"/>
                        </a:rPr>
                        <a:t>Head tách biệt (Decoupled head)</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3220"/>
                        </a:lnSpc>
                        <a:defRPr/>
                      </a:pPr>
                      <a:r>
                        <a:rPr lang="en-US" sz="2300">
                          <a:solidFill>
                            <a:srgbClr val="F2EDED"/>
                          </a:solidFill>
                          <a:latin typeface="Canva Sans"/>
                          <a:ea typeface="Canva Sans"/>
                          <a:cs typeface="Canva Sans"/>
                          <a:sym typeface="Canva Sans"/>
                        </a:rPr>
                        <a:t>Tối ưu riêng vị trí và nhãn → phân biệt chính xác giữa LOP và Crack.</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273389">
                <a:tc>
                  <a:txBody>
                    <a:bodyPr anchor="t" rtlCol="false"/>
                    <a:lstStyle/>
                    <a:p>
                      <a:pPr algn="l">
                        <a:lnSpc>
                          <a:spcPts val="3220"/>
                        </a:lnSpc>
                        <a:defRPr/>
                      </a:pPr>
                      <a:r>
                        <a:rPr lang="en-US" sz="2300">
                          <a:solidFill>
                            <a:srgbClr val="FFFFFF"/>
                          </a:solidFill>
                          <a:latin typeface="Canva Sans"/>
                          <a:ea typeface="Canva Sans"/>
                          <a:cs typeface="Canva Sans"/>
                          <a:sym typeface="Canva Sans"/>
                        </a:rPr>
                        <a:t>Tương thích dữ liệu nhỏ</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3220"/>
                        </a:lnSpc>
                        <a:defRPr/>
                      </a:pPr>
                      <a:r>
                        <a:rPr lang="en-US" sz="2300">
                          <a:solidFill>
                            <a:srgbClr val="FFFFFF"/>
                          </a:solidFill>
                          <a:latin typeface="Canva Sans"/>
                          <a:ea typeface="Canva Sans"/>
                          <a:cs typeface="Canva Sans"/>
                          <a:sym typeface="Canva Sans"/>
                        </a:rPr>
                        <a:t>Tích hợp Mosaic, Mixup, HSV → khắc phục mất cân bằng và thiếu dữ liệu trong X-ray.</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sp>
        <p:nvSpPr>
          <p:cNvPr name="TextBox 13" id="13"/>
          <p:cNvSpPr txBox="true"/>
          <p:nvPr/>
        </p:nvSpPr>
        <p:spPr>
          <a:xfrm rot="0">
            <a:off x="2375085" y="1502559"/>
            <a:ext cx="5615734" cy="615950"/>
          </a:xfrm>
          <a:prstGeom prst="rect">
            <a:avLst/>
          </a:prstGeom>
        </p:spPr>
        <p:txBody>
          <a:bodyPr anchor="t" rtlCol="false" tIns="0" lIns="0" bIns="0" rIns="0">
            <a:spAutoFit/>
          </a:bodyPr>
          <a:lstStyle/>
          <a:p>
            <a:pPr algn="l">
              <a:lnSpc>
                <a:spcPts val="4900"/>
              </a:lnSpc>
            </a:pPr>
            <a:r>
              <a:rPr lang="en-US" sz="3500" b="true">
                <a:solidFill>
                  <a:srgbClr val="FFFFFF"/>
                </a:solidFill>
                <a:latin typeface="Roboto Bold"/>
                <a:ea typeface="Roboto Bold"/>
                <a:cs typeface="Roboto Bold"/>
                <a:sym typeface="Roboto Bold"/>
              </a:rPr>
              <a:t>Lý do sử dụng</a:t>
            </a:r>
          </a:p>
        </p:txBody>
      </p:sp>
      <p:sp>
        <p:nvSpPr>
          <p:cNvPr name="TextBox 14" id="14"/>
          <p:cNvSpPr txBox="true"/>
          <p:nvPr/>
        </p:nvSpPr>
        <p:spPr>
          <a:xfrm rot="0">
            <a:off x="2728289" y="315732"/>
            <a:ext cx="13342528" cy="1384300"/>
          </a:xfrm>
          <a:prstGeom prst="rect">
            <a:avLst/>
          </a:prstGeom>
        </p:spPr>
        <p:txBody>
          <a:bodyPr anchor="t" rtlCol="false" tIns="0" lIns="0" bIns="0" rIns="0">
            <a:spAutoFit/>
          </a:bodyPr>
          <a:lstStyle/>
          <a:p>
            <a:pPr algn="ctr">
              <a:lnSpc>
                <a:spcPts val="5599"/>
              </a:lnSpc>
            </a:pPr>
            <a:r>
              <a:rPr lang="en-US" sz="3999" spc="-39">
                <a:solidFill>
                  <a:srgbClr val="348BFF"/>
                </a:solidFill>
                <a:latin typeface="Roboto"/>
                <a:ea typeface="Roboto"/>
                <a:cs typeface="Roboto"/>
                <a:sym typeface="Roboto"/>
              </a:rPr>
              <a:t>PHÁT HIỆN LỖI MỐI HÀN BẰNG YOLOV8</a:t>
            </a:r>
          </a:p>
          <a:p>
            <a:pPr algn="ctr">
              <a:lnSpc>
                <a:spcPts val="5599"/>
              </a:lnSpc>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4411578" y="1202301"/>
            <a:ext cx="8344256" cy="8055999"/>
          </a:xfrm>
          <a:custGeom>
            <a:avLst/>
            <a:gdLst/>
            <a:ahLst/>
            <a:cxnLst/>
            <a:rect r="r" b="b" t="t" l="l"/>
            <a:pathLst>
              <a:path h="8055999" w="8344256">
                <a:moveTo>
                  <a:pt x="0" y="0"/>
                </a:moveTo>
                <a:lnTo>
                  <a:pt x="8344256" y="0"/>
                </a:lnTo>
                <a:lnTo>
                  <a:pt x="8344256" y="8055999"/>
                </a:lnTo>
                <a:lnTo>
                  <a:pt x="0" y="805599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5321109" y="165100"/>
            <a:ext cx="7645781" cy="863600"/>
          </a:xfrm>
          <a:prstGeom prst="rect">
            <a:avLst/>
          </a:prstGeom>
        </p:spPr>
        <p:txBody>
          <a:bodyPr anchor="t" rtlCol="false" tIns="0" lIns="0" bIns="0" rIns="0">
            <a:spAutoFit/>
          </a:bodyPr>
          <a:lstStyle/>
          <a:p>
            <a:pPr algn="ctr">
              <a:lnSpc>
                <a:spcPts val="7000"/>
              </a:lnSpc>
            </a:pPr>
            <a:r>
              <a:rPr lang="en-US" sz="5000" spc="-50">
                <a:solidFill>
                  <a:srgbClr val="348BFF"/>
                </a:solidFill>
                <a:latin typeface="Roboto"/>
                <a:ea typeface="Roboto"/>
                <a:cs typeface="Roboto"/>
                <a:sym typeface="Roboto"/>
              </a:rPr>
              <a:t>HUẤN LUYỆN YOLOV8</a:t>
            </a:r>
          </a:p>
        </p:txBody>
      </p:sp>
      <p:sp>
        <p:nvSpPr>
          <p:cNvPr name="TextBox 5" id="5"/>
          <p:cNvSpPr txBox="true"/>
          <p:nvPr/>
        </p:nvSpPr>
        <p:spPr>
          <a:xfrm rot="0">
            <a:off x="7736590" y="2265026"/>
            <a:ext cx="2027039" cy="580390"/>
          </a:xfrm>
          <a:prstGeom prst="rect">
            <a:avLst/>
          </a:prstGeom>
        </p:spPr>
        <p:txBody>
          <a:bodyPr anchor="t" rtlCol="false" tIns="0" lIns="0" bIns="0" rIns="0">
            <a:spAutoFit/>
          </a:bodyPr>
          <a:lstStyle/>
          <a:p>
            <a:pPr algn="ctr">
              <a:lnSpc>
                <a:spcPts val="4759"/>
              </a:lnSpc>
            </a:pPr>
            <a:r>
              <a:rPr lang="en-US" sz="3399" b="true">
                <a:solidFill>
                  <a:srgbClr val="000000"/>
                </a:solidFill>
                <a:latin typeface="Noto Sans Bold"/>
                <a:ea typeface="Noto Sans Bold"/>
                <a:cs typeface="Noto Sans Bold"/>
                <a:sym typeface="Noto Sans Bold"/>
              </a:rPr>
              <a:t>i</a:t>
            </a:r>
            <a:r>
              <a:rPr lang="en-US" b="true" sz="3399">
                <a:solidFill>
                  <a:srgbClr val="000000"/>
                </a:solidFill>
                <a:latin typeface="Noto Sans Bold"/>
                <a:ea typeface="Noto Sans Bold"/>
                <a:cs typeface="Noto Sans Bold"/>
                <a:sym typeface="Noto Sans Bold"/>
              </a:rPr>
              <a:t>mgz=640</a:t>
            </a:r>
          </a:p>
        </p:txBody>
      </p:sp>
      <p:sp>
        <p:nvSpPr>
          <p:cNvPr name="TextBox 6" id="6"/>
          <p:cNvSpPr txBox="true"/>
          <p:nvPr/>
        </p:nvSpPr>
        <p:spPr>
          <a:xfrm rot="0">
            <a:off x="4508375" y="4165544"/>
            <a:ext cx="2288858" cy="580390"/>
          </a:xfrm>
          <a:prstGeom prst="rect">
            <a:avLst/>
          </a:prstGeom>
        </p:spPr>
        <p:txBody>
          <a:bodyPr anchor="t" rtlCol="false" tIns="0" lIns="0" bIns="0" rIns="0">
            <a:spAutoFit/>
          </a:bodyPr>
          <a:lstStyle/>
          <a:p>
            <a:pPr algn="ctr">
              <a:lnSpc>
                <a:spcPts val="4759"/>
              </a:lnSpc>
            </a:pPr>
            <a:r>
              <a:rPr lang="en-US" sz="3399" b="true">
                <a:solidFill>
                  <a:srgbClr val="000000"/>
                </a:solidFill>
                <a:latin typeface="Noto Sans Bold"/>
                <a:ea typeface="Noto Sans Bold"/>
                <a:cs typeface="Noto Sans Bold"/>
                <a:sym typeface="Noto Sans Bold"/>
              </a:rPr>
              <a:t>epoch=100</a:t>
            </a:r>
          </a:p>
        </p:txBody>
      </p:sp>
      <p:sp>
        <p:nvSpPr>
          <p:cNvPr name="TextBox 7" id="7"/>
          <p:cNvSpPr txBox="true"/>
          <p:nvPr/>
        </p:nvSpPr>
        <p:spPr>
          <a:xfrm rot="0">
            <a:off x="5652803" y="7567650"/>
            <a:ext cx="1720929" cy="580390"/>
          </a:xfrm>
          <a:prstGeom prst="rect">
            <a:avLst/>
          </a:prstGeom>
        </p:spPr>
        <p:txBody>
          <a:bodyPr anchor="t" rtlCol="false" tIns="0" lIns="0" bIns="0" rIns="0">
            <a:spAutoFit/>
          </a:bodyPr>
          <a:lstStyle/>
          <a:p>
            <a:pPr algn="ctr">
              <a:lnSpc>
                <a:spcPts val="4759"/>
              </a:lnSpc>
            </a:pPr>
            <a:r>
              <a:rPr lang="en-US" sz="3399" b="true">
                <a:solidFill>
                  <a:srgbClr val="000000"/>
                </a:solidFill>
                <a:latin typeface="Noto Sans Bold"/>
                <a:ea typeface="Noto Sans Bold"/>
                <a:cs typeface="Noto Sans Bold"/>
                <a:sym typeface="Noto Sans Bold"/>
              </a:rPr>
              <a:t>batch=6</a:t>
            </a:r>
          </a:p>
        </p:txBody>
      </p:sp>
      <p:sp>
        <p:nvSpPr>
          <p:cNvPr name="TextBox 8" id="8"/>
          <p:cNvSpPr txBox="true"/>
          <p:nvPr/>
        </p:nvSpPr>
        <p:spPr>
          <a:xfrm rot="0">
            <a:off x="9144000" y="7267612"/>
            <a:ext cx="2262068" cy="1180465"/>
          </a:xfrm>
          <a:prstGeom prst="rect">
            <a:avLst/>
          </a:prstGeom>
        </p:spPr>
        <p:txBody>
          <a:bodyPr anchor="t" rtlCol="false" tIns="0" lIns="0" bIns="0" rIns="0">
            <a:spAutoFit/>
          </a:bodyPr>
          <a:lstStyle/>
          <a:p>
            <a:pPr algn="ctr">
              <a:lnSpc>
                <a:spcPts val="4759"/>
              </a:lnSpc>
            </a:pPr>
            <a:r>
              <a:rPr lang="en-US" sz="3399" b="true">
                <a:solidFill>
                  <a:srgbClr val="000000"/>
                </a:solidFill>
                <a:latin typeface="Noto Sans Bold"/>
                <a:ea typeface="Noto Sans Bold"/>
                <a:cs typeface="Noto Sans Bold"/>
                <a:sym typeface="Noto Sans Bold"/>
              </a:rPr>
              <a:t>optimizer</a:t>
            </a:r>
          </a:p>
          <a:p>
            <a:pPr algn="ctr">
              <a:lnSpc>
                <a:spcPts val="4759"/>
              </a:lnSpc>
            </a:pPr>
            <a:r>
              <a:rPr lang="en-US" sz="3399" b="true">
                <a:solidFill>
                  <a:srgbClr val="000000"/>
                </a:solidFill>
                <a:latin typeface="Noto Sans Bold"/>
                <a:ea typeface="Noto Sans Bold"/>
                <a:cs typeface="Noto Sans Bold"/>
                <a:sym typeface="Noto Sans Bold"/>
              </a:rPr>
              <a:t>= 'AdamW'</a:t>
            </a:r>
          </a:p>
        </p:txBody>
      </p:sp>
      <p:sp>
        <p:nvSpPr>
          <p:cNvPr name="TextBox 9" id="9"/>
          <p:cNvSpPr txBox="true"/>
          <p:nvPr/>
        </p:nvSpPr>
        <p:spPr>
          <a:xfrm rot="0">
            <a:off x="11007097" y="3963035"/>
            <a:ext cx="1343978" cy="1180465"/>
          </a:xfrm>
          <a:prstGeom prst="rect">
            <a:avLst/>
          </a:prstGeom>
        </p:spPr>
        <p:txBody>
          <a:bodyPr anchor="t" rtlCol="false" tIns="0" lIns="0" bIns="0" rIns="0">
            <a:spAutoFit/>
          </a:bodyPr>
          <a:lstStyle/>
          <a:p>
            <a:pPr algn="ctr">
              <a:lnSpc>
                <a:spcPts val="4759"/>
              </a:lnSpc>
            </a:pPr>
            <a:r>
              <a:rPr lang="en-US" sz="3399" b="true">
                <a:solidFill>
                  <a:srgbClr val="000000"/>
                </a:solidFill>
                <a:latin typeface="Noto Sans Bold"/>
                <a:ea typeface="Noto Sans Bold"/>
                <a:cs typeface="Noto Sans Bold"/>
                <a:sym typeface="Noto Sans Bold"/>
              </a:rPr>
              <a:t>cos_lr </a:t>
            </a:r>
          </a:p>
          <a:p>
            <a:pPr algn="ctr">
              <a:lnSpc>
                <a:spcPts val="4759"/>
              </a:lnSpc>
            </a:pPr>
            <a:r>
              <a:rPr lang="en-US" sz="3399" b="true">
                <a:solidFill>
                  <a:srgbClr val="000000"/>
                </a:solidFill>
                <a:latin typeface="Noto Sans Bold"/>
                <a:ea typeface="Noto Sans Bold"/>
                <a:cs typeface="Noto Sans Bold"/>
                <a:sym typeface="Noto Sans Bold"/>
              </a:rPr>
              <a:t>= True</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393700" y="1380313"/>
            <a:ext cx="15500600" cy="7750300"/>
          </a:xfrm>
          <a:custGeom>
            <a:avLst/>
            <a:gdLst/>
            <a:ahLst/>
            <a:cxnLst/>
            <a:rect r="r" b="b" t="t" l="l"/>
            <a:pathLst>
              <a:path h="7750300" w="15500600">
                <a:moveTo>
                  <a:pt x="0" y="0"/>
                </a:moveTo>
                <a:lnTo>
                  <a:pt x="15500600" y="0"/>
                </a:lnTo>
                <a:lnTo>
                  <a:pt x="15500600" y="7750300"/>
                </a:lnTo>
                <a:lnTo>
                  <a:pt x="0" y="7750300"/>
                </a:lnTo>
                <a:lnTo>
                  <a:pt x="0" y="0"/>
                </a:lnTo>
                <a:close/>
              </a:path>
            </a:pathLst>
          </a:custGeom>
          <a:blipFill>
            <a:blip r:embed="rId3"/>
            <a:stretch>
              <a:fillRect l="0" t="0" r="0" b="0"/>
            </a:stretch>
          </a:blipFill>
        </p:spPr>
      </p:sp>
      <p:sp>
        <p:nvSpPr>
          <p:cNvPr name="TextBox 4" id="4"/>
          <p:cNvSpPr txBox="true"/>
          <p:nvPr/>
        </p:nvSpPr>
        <p:spPr>
          <a:xfrm rot="0">
            <a:off x="5321109" y="165100"/>
            <a:ext cx="7645781" cy="863600"/>
          </a:xfrm>
          <a:prstGeom prst="rect">
            <a:avLst/>
          </a:prstGeom>
        </p:spPr>
        <p:txBody>
          <a:bodyPr anchor="t" rtlCol="false" tIns="0" lIns="0" bIns="0" rIns="0">
            <a:spAutoFit/>
          </a:bodyPr>
          <a:lstStyle/>
          <a:p>
            <a:pPr algn="ctr">
              <a:lnSpc>
                <a:spcPts val="7000"/>
              </a:lnSpc>
            </a:pPr>
            <a:r>
              <a:rPr lang="en-US" sz="5000" spc="-50">
                <a:solidFill>
                  <a:srgbClr val="348BFF"/>
                </a:solidFill>
                <a:latin typeface="Roboto"/>
                <a:ea typeface="Roboto"/>
                <a:cs typeface="Roboto"/>
                <a:sym typeface="Roboto"/>
              </a:rPr>
              <a:t>HUẤN LUYỆN YOLOV8</a:t>
            </a:r>
          </a:p>
        </p:txBody>
      </p:sp>
      <p:sp>
        <p:nvSpPr>
          <p:cNvPr name="TextBox 5" id="5"/>
          <p:cNvSpPr txBox="true"/>
          <p:nvPr/>
        </p:nvSpPr>
        <p:spPr>
          <a:xfrm rot="0">
            <a:off x="6358176" y="9434602"/>
            <a:ext cx="5571649" cy="422275"/>
          </a:xfrm>
          <a:prstGeom prst="rect">
            <a:avLst/>
          </a:prstGeom>
        </p:spPr>
        <p:txBody>
          <a:bodyPr anchor="t" rtlCol="false" tIns="0" lIns="0" bIns="0" rIns="0">
            <a:spAutoFit/>
          </a:bodyPr>
          <a:lstStyle/>
          <a:p>
            <a:pPr algn="ctr">
              <a:lnSpc>
                <a:spcPts val="3499"/>
              </a:lnSpc>
              <a:spcBef>
                <a:spcPct val="0"/>
              </a:spcBef>
            </a:pPr>
            <a:r>
              <a:rPr lang="en-US" sz="2499">
                <a:solidFill>
                  <a:srgbClr val="FFFFFF"/>
                </a:solidFill>
                <a:latin typeface="Canva Sans"/>
                <a:ea typeface="Canva Sans"/>
                <a:cs typeface="Canva Sans"/>
                <a:sym typeface="Canva Sans"/>
              </a:rPr>
              <a:t>Kết quả huấn luyện mô hình YOLOv8</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798912" y="1668161"/>
            <a:ext cx="13525594" cy="7174604"/>
          </a:xfrm>
          <a:custGeom>
            <a:avLst/>
            <a:gdLst/>
            <a:ahLst/>
            <a:cxnLst/>
            <a:rect r="r" b="b" t="t" l="l"/>
            <a:pathLst>
              <a:path h="7174604" w="13525594">
                <a:moveTo>
                  <a:pt x="0" y="0"/>
                </a:moveTo>
                <a:lnTo>
                  <a:pt x="13525593" y="0"/>
                </a:lnTo>
                <a:lnTo>
                  <a:pt x="13525593" y="7174605"/>
                </a:lnTo>
                <a:lnTo>
                  <a:pt x="0" y="7174605"/>
                </a:lnTo>
                <a:lnTo>
                  <a:pt x="0" y="0"/>
                </a:lnTo>
                <a:close/>
              </a:path>
            </a:pathLst>
          </a:custGeom>
          <a:blipFill>
            <a:blip r:embed="rId3"/>
            <a:stretch>
              <a:fillRect l="0" t="0" r="0" b="0"/>
            </a:stretch>
          </a:blipFill>
        </p:spPr>
      </p:sp>
      <p:sp>
        <p:nvSpPr>
          <p:cNvPr name="TextBox 4" id="4"/>
          <p:cNvSpPr txBox="true"/>
          <p:nvPr/>
        </p:nvSpPr>
        <p:spPr>
          <a:xfrm rot="0">
            <a:off x="5321109" y="165100"/>
            <a:ext cx="7645781" cy="863600"/>
          </a:xfrm>
          <a:prstGeom prst="rect">
            <a:avLst/>
          </a:prstGeom>
        </p:spPr>
        <p:txBody>
          <a:bodyPr anchor="t" rtlCol="false" tIns="0" lIns="0" bIns="0" rIns="0">
            <a:spAutoFit/>
          </a:bodyPr>
          <a:lstStyle/>
          <a:p>
            <a:pPr algn="ctr">
              <a:lnSpc>
                <a:spcPts val="7000"/>
              </a:lnSpc>
            </a:pPr>
            <a:r>
              <a:rPr lang="en-US" sz="5000" spc="-50">
                <a:solidFill>
                  <a:srgbClr val="348BFF"/>
                </a:solidFill>
                <a:latin typeface="Roboto"/>
                <a:ea typeface="Roboto"/>
                <a:cs typeface="Roboto"/>
                <a:sym typeface="Roboto"/>
              </a:rPr>
              <a:t>KIỂM THỬ YOLOV8</a:t>
            </a:r>
          </a:p>
        </p:txBody>
      </p:sp>
      <p:sp>
        <p:nvSpPr>
          <p:cNvPr name="TextBox 5" id="5"/>
          <p:cNvSpPr txBox="true"/>
          <p:nvPr/>
        </p:nvSpPr>
        <p:spPr>
          <a:xfrm rot="0">
            <a:off x="6534626" y="9434602"/>
            <a:ext cx="5218748" cy="422275"/>
          </a:xfrm>
          <a:prstGeom prst="rect">
            <a:avLst/>
          </a:prstGeom>
        </p:spPr>
        <p:txBody>
          <a:bodyPr anchor="t" rtlCol="false" tIns="0" lIns="0" bIns="0" rIns="0">
            <a:spAutoFit/>
          </a:bodyPr>
          <a:lstStyle/>
          <a:p>
            <a:pPr algn="ctr">
              <a:lnSpc>
                <a:spcPts val="3499"/>
              </a:lnSpc>
              <a:spcBef>
                <a:spcPct val="0"/>
              </a:spcBef>
            </a:pPr>
            <a:r>
              <a:rPr lang="en-US" sz="2499">
                <a:solidFill>
                  <a:srgbClr val="FFFFFF"/>
                </a:solidFill>
                <a:latin typeface="Canva Sans"/>
                <a:ea typeface="Canva Sans"/>
                <a:cs typeface="Canva Sans"/>
                <a:sym typeface="Canva Sans"/>
              </a:rPr>
              <a:t>Kết quả kiểm thử mô hình YOLOv8</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5487191" y="1241534"/>
            <a:ext cx="7479700" cy="7803932"/>
          </a:xfrm>
          <a:custGeom>
            <a:avLst/>
            <a:gdLst/>
            <a:ahLst/>
            <a:cxnLst/>
            <a:rect r="r" b="b" t="t" l="l"/>
            <a:pathLst>
              <a:path h="7803932" w="7479700">
                <a:moveTo>
                  <a:pt x="0" y="0"/>
                </a:moveTo>
                <a:lnTo>
                  <a:pt x="7479700" y="0"/>
                </a:lnTo>
                <a:lnTo>
                  <a:pt x="7479700" y="7803932"/>
                </a:lnTo>
                <a:lnTo>
                  <a:pt x="0" y="7803932"/>
                </a:lnTo>
                <a:lnTo>
                  <a:pt x="0" y="0"/>
                </a:lnTo>
                <a:close/>
              </a:path>
            </a:pathLst>
          </a:custGeom>
          <a:blipFill>
            <a:blip r:embed="rId3"/>
            <a:stretch>
              <a:fillRect l="0" t="0" r="0" b="0"/>
            </a:stretch>
          </a:blipFill>
        </p:spPr>
      </p:sp>
      <p:sp>
        <p:nvSpPr>
          <p:cNvPr name="TextBox 4" id="4"/>
          <p:cNvSpPr txBox="true"/>
          <p:nvPr/>
        </p:nvSpPr>
        <p:spPr>
          <a:xfrm rot="0">
            <a:off x="5321109" y="165100"/>
            <a:ext cx="7645781" cy="863600"/>
          </a:xfrm>
          <a:prstGeom prst="rect">
            <a:avLst/>
          </a:prstGeom>
        </p:spPr>
        <p:txBody>
          <a:bodyPr anchor="t" rtlCol="false" tIns="0" lIns="0" bIns="0" rIns="0">
            <a:spAutoFit/>
          </a:bodyPr>
          <a:lstStyle/>
          <a:p>
            <a:pPr algn="ctr">
              <a:lnSpc>
                <a:spcPts val="7000"/>
              </a:lnSpc>
            </a:pPr>
            <a:r>
              <a:rPr lang="en-US" sz="5000" spc="-50">
                <a:solidFill>
                  <a:srgbClr val="348BFF"/>
                </a:solidFill>
                <a:latin typeface="Roboto"/>
                <a:ea typeface="Roboto"/>
                <a:cs typeface="Roboto"/>
                <a:sym typeface="Roboto"/>
              </a:rPr>
              <a:t>KIỂM THỬ YOLOV8</a:t>
            </a:r>
          </a:p>
        </p:txBody>
      </p:sp>
      <p:sp>
        <p:nvSpPr>
          <p:cNvPr name="TextBox 5" id="5"/>
          <p:cNvSpPr txBox="true"/>
          <p:nvPr/>
        </p:nvSpPr>
        <p:spPr>
          <a:xfrm rot="0">
            <a:off x="6534626" y="9412190"/>
            <a:ext cx="5218748" cy="422275"/>
          </a:xfrm>
          <a:prstGeom prst="rect">
            <a:avLst/>
          </a:prstGeom>
        </p:spPr>
        <p:txBody>
          <a:bodyPr anchor="t" rtlCol="false" tIns="0" lIns="0" bIns="0" rIns="0">
            <a:spAutoFit/>
          </a:bodyPr>
          <a:lstStyle/>
          <a:p>
            <a:pPr algn="ctr">
              <a:lnSpc>
                <a:spcPts val="3499"/>
              </a:lnSpc>
              <a:spcBef>
                <a:spcPct val="0"/>
              </a:spcBef>
            </a:pPr>
            <a:r>
              <a:rPr lang="en-US" sz="2499">
                <a:solidFill>
                  <a:srgbClr val="FFFFFF"/>
                </a:solidFill>
                <a:latin typeface="Canva Sans"/>
                <a:ea typeface="Canva Sans"/>
                <a:cs typeface="Canva Sans"/>
                <a:sym typeface="Canva Sans"/>
              </a:rPr>
              <a:t>Kết quả kiểm thử mô hình YOLOv8</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18288000" cy="10109527"/>
            <a:chOff x="0" y="0"/>
            <a:chExt cx="4816593" cy="2662592"/>
          </a:xfrm>
        </p:grpSpPr>
        <p:sp>
          <p:nvSpPr>
            <p:cNvPr name="Freeform 4" id="4"/>
            <p:cNvSpPr/>
            <p:nvPr/>
          </p:nvSpPr>
          <p:spPr>
            <a:xfrm flipH="false" flipV="false" rot="0">
              <a:off x="0" y="0"/>
              <a:ext cx="4816592" cy="2662592"/>
            </a:xfrm>
            <a:custGeom>
              <a:avLst/>
              <a:gdLst/>
              <a:ahLst/>
              <a:cxnLst/>
              <a:rect r="r" b="b" t="t" l="l"/>
              <a:pathLst>
                <a:path h="2662592" w="4816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name="TextBox 5" id="5"/>
            <p:cNvSpPr txBox="true"/>
            <p:nvPr/>
          </p:nvSpPr>
          <p:spPr>
            <a:xfrm>
              <a:off x="0" y="-38100"/>
              <a:ext cx="4816593" cy="2700692"/>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028700" y="1239574"/>
            <a:ext cx="1480929" cy="1483627"/>
          </a:xfrm>
          <a:custGeom>
            <a:avLst/>
            <a:gdLst/>
            <a:ahLst/>
            <a:cxnLst/>
            <a:rect r="r" b="b" t="t" l="l"/>
            <a:pathLst>
              <a:path h="1483627" w="1480929">
                <a:moveTo>
                  <a:pt x="0" y="0"/>
                </a:moveTo>
                <a:lnTo>
                  <a:pt x="1480929" y="0"/>
                </a:lnTo>
                <a:lnTo>
                  <a:pt x="1480929" y="1483627"/>
                </a:lnTo>
                <a:lnTo>
                  <a:pt x="0" y="14836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true" flipV="true" rot="-10792239">
            <a:off x="-724606" y="8954135"/>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true" flipV="true" rot="-10792239">
            <a:off x="16612207" y="-936064"/>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9" id="9"/>
          <p:cNvGrpSpPr/>
          <p:nvPr/>
        </p:nvGrpSpPr>
        <p:grpSpPr>
          <a:xfrm rot="0">
            <a:off x="1028700" y="314559"/>
            <a:ext cx="560353" cy="652047"/>
            <a:chOff x="0" y="0"/>
            <a:chExt cx="698500" cy="812800"/>
          </a:xfrm>
        </p:grpSpPr>
        <p:sp>
          <p:nvSpPr>
            <p:cNvPr name="Freeform 10" id="10"/>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000000">
                <a:alpha val="0"/>
              </a:srgbClr>
            </a:solidFill>
            <a:ln w="95250" cap="sq">
              <a:solidFill>
                <a:srgbClr val="348BFF"/>
              </a:solidFill>
              <a:prstDash val="solid"/>
              <a:miter/>
            </a:ln>
          </p:spPr>
        </p:sp>
        <p:sp>
          <p:nvSpPr>
            <p:cNvPr name="TextBox 11" id="11"/>
            <p:cNvSpPr txBox="true"/>
            <p:nvPr/>
          </p:nvSpPr>
          <p:spPr>
            <a:xfrm>
              <a:off x="0" y="101600"/>
              <a:ext cx="698500" cy="571500"/>
            </a:xfrm>
            <a:prstGeom prst="rect">
              <a:avLst/>
            </a:prstGeom>
          </p:spPr>
          <p:txBody>
            <a:bodyPr anchor="ctr" rtlCol="false" tIns="27034" lIns="27034" bIns="27034" rIns="27034"/>
            <a:lstStyle/>
            <a:p>
              <a:pPr algn="ctr">
                <a:lnSpc>
                  <a:spcPts val="2659"/>
                </a:lnSpc>
              </a:pPr>
            </a:p>
          </p:txBody>
        </p:sp>
      </p:grpSp>
      <p:grpSp>
        <p:nvGrpSpPr>
          <p:cNvPr name="Group 12" id="12"/>
          <p:cNvGrpSpPr/>
          <p:nvPr/>
        </p:nvGrpSpPr>
        <p:grpSpPr>
          <a:xfrm rot="0">
            <a:off x="1308877" y="7046761"/>
            <a:ext cx="15670247" cy="2831160"/>
            <a:chOff x="0" y="0"/>
            <a:chExt cx="11379990" cy="2056035"/>
          </a:xfrm>
        </p:grpSpPr>
        <p:sp>
          <p:nvSpPr>
            <p:cNvPr name="Freeform 13" id="13"/>
            <p:cNvSpPr/>
            <p:nvPr/>
          </p:nvSpPr>
          <p:spPr>
            <a:xfrm flipH="false" flipV="false" rot="0">
              <a:off x="0" y="0"/>
              <a:ext cx="11379991" cy="2056035"/>
            </a:xfrm>
            <a:custGeom>
              <a:avLst/>
              <a:gdLst/>
              <a:ahLst/>
              <a:cxnLst/>
              <a:rect r="r" b="b" t="t" l="l"/>
              <a:pathLst>
                <a:path h="2056035" w="11379991">
                  <a:moveTo>
                    <a:pt x="0" y="1713362"/>
                  </a:moveTo>
                  <a:lnTo>
                    <a:pt x="0" y="342672"/>
                  </a:lnTo>
                  <a:cubicBezTo>
                    <a:pt x="0" y="153517"/>
                    <a:pt x="509824" y="0"/>
                    <a:pt x="1137999" y="0"/>
                  </a:cubicBezTo>
                  <a:lnTo>
                    <a:pt x="10241991" y="0"/>
                  </a:lnTo>
                  <a:cubicBezTo>
                    <a:pt x="10870167" y="0"/>
                    <a:pt x="11379991" y="153517"/>
                    <a:pt x="11379991" y="342672"/>
                  </a:cubicBezTo>
                  <a:lnTo>
                    <a:pt x="11379991" y="1713362"/>
                  </a:lnTo>
                  <a:cubicBezTo>
                    <a:pt x="11379991" y="1902517"/>
                    <a:pt x="10870167" y="2056035"/>
                    <a:pt x="10241991" y="2056035"/>
                  </a:cubicBezTo>
                  <a:lnTo>
                    <a:pt x="1137999" y="2056035"/>
                  </a:lnTo>
                  <a:cubicBezTo>
                    <a:pt x="509824" y="2056035"/>
                    <a:pt x="0" y="1902517"/>
                    <a:pt x="0" y="1713362"/>
                  </a:cubicBezTo>
                  <a:close/>
                </a:path>
              </a:pathLst>
            </a:custGeom>
            <a:blipFill>
              <a:blip r:embed="rId7"/>
              <a:stretch>
                <a:fillRect l="0" t="-100134" r="0" b="-100134"/>
              </a:stretch>
            </a:blipFill>
          </p:spPr>
        </p:sp>
      </p:grpSp>
      <p:sp>
        <p:nvSpPr>
          <p:cNvPr name="TextBox 14" id="14"/>
          <p:cNvSpPr txBox="true"/>
          <p:nvPr/>
        </p:nvSpPr>
        <p:spPr>
          <a:xfrm rot="0">
            <a:off x="2937042" y="3795786"/>
            <a:ext cx="14743244" cy="2957830"/>
          </a:xfrm>
          <a:prstGeom prst="rect">
            <a:avLst/>
          </a:prstGeom>
        </p:spPr>
        <p:txBody>
          <a:bodyPr anchor="t" rtlCol="false" tIns="0" lIns="0" bIns="0" rIns="0">
            <a:spAutoFit/>
          </a:bodyPr>
          <a:lstStyle/>
          <a:p>
            <a:pPr algn="l" marL="604519" indent="-302260" lvl="1">
              <a:lnSpc>
                <a:spcPts val="3919"/>
              </a:lnSpc>
              <a:spcBef>
                <a:spcPct val="0"/>
              </a:spcBef>
              <a:buFont typeface="Arial"/>
              <a:buChar char="•"/>
            </a:pPr>
            <a:r>
              <a:rPr lang="en-US" sz="2799">
                <a:solidFill>
                  <a:srgbClr val="FFFFFF"/>
                </a:solidFill>
                <a:latin typeface="Canva Sans"/>
                <a:ea typeface="Canva Sans"/>
                <a:cs typeface="Canva Sans"/>
                <a:sym typeface="Canva Sans"/>
              </a:rPr>
              <a:t>Kiến trúc mạng sâu, số</a:t>
            </a:r>
            <a:r>
              <a:rPr lang="en-US" sz="2799">
                <a:solidFill>
                  <a:srgbClr val="FFFFFF"/>
                </a:solidFill>
                <a:latin typeface="Canva Sans"/>
                <a:ea typeface="Canva Sans"/>
                <a:cs typeface="Canva Sans"/>
                <a:sym typeface="Canva Sans"/>
              </a:rPr>
              <a:t> lượng tham số lớn → khả năng học đặc trưng mạnh.</a:t>
            </a:r>
          </a:p>
          <a:p>
            <a:pPr algn="l" marL="604519" indent="-302260" lvl="1">
              <a:lnSpc>
                <a:spcPts val="3919"/>
              </a:lnSpc>
              <a:spcBef>
                <a:spcPct val="0"/>
              </a:spcBef>
              <a:buFont typeface="Arial"/>
              <a:buChar char="•"/>
            </a:pPr>
            <a:r>
              <a:rPr lang="en-US" sz="2799">
                <a:solidFill>
                  <a:srgbClr val="FFFFFF"/>
                </a:solidFill>
                <a:latin typeface="Canva Sans"/>
                <a:ea typeface="Canva Sans"/>
                <a:cs typeface="Canva Sans"/>
                <a:sym typeface="Canva Sans"/>
              </a:rPr>
              <a:t>Cải t</a:t>
            </a:r>
            <a:r>
              <a:rPr lang="en-US" sz="2799">
                <a:solidFill>
                  <a:srgbClr val="FFFFFF"/>
                </a:solidFill>
                <a:latin typeface="Canva Sans"/>
                <a:ea typeface="Canva Sans"/>
                <a:cs typeface="Canva Sans"/>
                <a:sym typeface="Canva Sans"/>
              </a:rPr>
              <a:t>iến backbone và neck giúp trích xuất đặc trưng tốt hơn và giữ thông tin không gian ở nhiều mức độ</a:t>
            </a:r>
          </a:p>
          <a:p>
            <a:pPr algn="l" marL="604519" indent="-302260" lvl="1">
              <a:lnSpc>
                <a:spcPts val="3919"/>
              </a:lnSpc>
              <a:spcBef>
                <a:spcPct val="0"/>
              </a:spcBef>
              <a:buFont typeface="Arial"/>
              <a:buChar char="•"/>
            </a:pPr>
            <a:r>
              <a:rPr lang="en-US" sz="2799">
                <a:solidFill>
                  <a:srgbClr val="FFFFFF"/>
                </a:solidFill>
                <a:latin typeface="Canva Sans"/>
                <a:ea typeface="Canva Sans"/>
                <a:cs typeface="Canva Sans"/>
                <a:sym typeface="Canva Sans"/>
              </a:rPr>
              <a:t>Hoạt động hiệu quả trên ảnh có: độ tương phản thấp,  nhiễu cao và đối tượng nhỏ (như khuyết tật mối hàn trên ảnh X-ray)</a:t>
            </a:r>
          </a:p>
          <a:p>
            <a:pPr algn="ctr">
              <a:lnSpc>
                <a:spcPts val="3919"/>
              </a:lnSpc>
              <a:spcBef>
                <a:spcPct val="0"/>
              </a:spcBef>
            </a:pPr>
          </a:p>
        </p:txBody>
      </p:sp>
      <p:sp>
        <p:nvSpPr>
          <p:cNvPr name="TextBox 15" id="15"/>
          <p:cNvSpPr txBox="true"/>
          <p:nvPr/>
        </p:nvSpPr>
        <p:spPr>
          <a:xfrm rot="0">
            <a:off x="2881253" y="1390749"/>
            <a:ext cx="5615734" cy="1235075"/>
          </a:xfrm>
          <a:prstGeom prst="rect">
            <a:avLst/>
          </a:prstGeom>
        </p:spPr>
        <p:txBody>
          <a:bodyPr anchor="t" rtlCol="false" tIns="0" lIns="0" bIns="0" rIns="0">
            <a:spAutoFit/>
          </a:bodyPr>
          <a:lstStyle/>
          <a:p>
            <a:pPr algn="l">
              <a:lnSpc>
                <a:spcPts val="4900"/>
              </a:lnSpc>
            </a:pPr>
            <a:r>
              <a:rPr lang="en-US" sz="3500" b="true">
                <a:solidFill>
                  <a:srgbClr val="FFFFFF"/>
                </a:solidFill>
                <a:latin typeface="Roboto Bold"/>
                <a:ea typeface="Roboto Bold"/>
                <a:cs typeface="Roboto Bold"/>
                <a:sym typeface="Roboto Bold"/>
              </a:rPr>
              <a:t>Mô hình sử dụng</a:t>
            </a:r>
          </a:p>
          <a:p>
            <a:pPr algn="l">
              <a:lnSpc>
                <a:spcPts val="4900"/>
              </a:lnSpc>
            </a:pPr>
          </a:p>
        </p:txBody>
      </p:sp>
      <p:sp>
        <p:nvSpPr>
          <p:cNvPr name="TextBox 16" id="16"/>
          <p:cNvSpPr txBox="true"/>
          <p:nvPr/>
        </p:nvSpPr>
        <p:spPr>
          <a:xfrm rot="0">
            <a:off x="2728289" y="315732"/>
            <a:ext cx="13342528" cy="1384300"/>
          </a:xfrm>
          <a:prstGeom prst="rect">
            <a:avLst/>
          </a:prstGeom>
        </p:spPr>
        <p:txBody>
          <a:bodyPr anchor="t" rtlCol="false" tIns="0" lIns="0" bIns="0" rIns="0">
            <a:spAutoFit/>
          </a:bodyPr>
          <a:lstStyle/>
          <a:p>
            <a:pPr algn="ctr">
              <a:lnSpc>
                <a:spcPts val="5599"/>
              </a:lnSpc>
            </a:pPr>
            <a:r>
              <a:rPr lang="en-US" sz="3999" spc="-39">
                <a:solidFill>
                  <a:srgbClr val="348BFF"/>
                </a:solidFill>
                <a:latin typeface="Roboto"/>
                <a:ea typeface="Roboto"/>
                <a:cs typeface="Roboto"/>
                <a:sym typeface="Roboto"/>
              </a:rPr>
              <a:t>PHÁT HIỆN LỖI MỐI HÀN BẰNG YOLOV11X</a:t>
            </a:r>
          </a:p>
          <a:p>
            <a:pPr algn="ctr">
              <a:lnSpc>
                <a:spcPts val="5599"/>
              </a:lnSpc>
            </a:pPr>
          </a:p>
        </p:txBody>
      </p:sp>
      <p:sp>
        <p:nvSpPr>
          <p:cNvPr name="TextBox 17" id="17"/>
          <p:cNvSpPr txBox="true"/>
          <p:nvPr/>
        </p:nvSpPr>
        <p:spPr>
          <a:xfrm rot="0">
            <a:off x="2881253" y="2087860"/>
            <a:ext cx="14799033" cy="1471930"/>
          </a:xfrm>
          <a:prstGeom prst="rect">
            <a:avLst/>
          </a:prstGeom>
        </p:spPr>
        <p:txBody>
          <a:bodyPr anchor="t" rtlCol="false" tIns="0" lIns="0" bIns="0" rIns="0">
            <a:spAutoFit/>
          </a:bodyPr>
          <a:lstStyle/>
          <a:p>
            <a:pPr algn="l">
              <a:lnSpc>
                <a:spcPts val="3919"/>
              </a:lnSpc>
              <a:spcBef>
                <a:spcPct val="0"/>
              </a:spcBef>
            </a:pPr>
            <a:r>
              <a:rPr lang="en-US" sz="2799">
                <a:solidFill>
                  <a:srgbClr val="FFFFFF"/>
                </a:solidFill>
                <a:latin typeface="Canva Sans"/>
                <a:ea typeface="Canva Sans"/>
                <a:cs typeface="Canva Sans"/>
                <a:sym typeface="Canva Sans"/>
              </a:rPr>
              <a:t>YOLOv11x</a:t>
            </a:r>
            <a:r>
              <a:rPr lang="en-US" sz="2799">
                <a:solidFill>
                  <a:srgbClr val="FFFFFF"/>
                </a:solidFill>
                <a:latin typeface="Canva Sans"/>
                <a:ea typeface="Canva Sans"/>
                <a:cs typeface="Canva Sans"/>
                <a:sym typeface="Canva Sans"/>
              </a:rPr>
              <a:t> là phiên bản kích thước lớn (extra-large) trong họ mô hình YOLOv11. Thuộc nhóm mô hình phát hiện đối tượng một giai đoạn (one-stage detector) và đ ược thiết kế để tối ưu độ chính xác, đặc biệt với đối tượng nhỏ và phức tạp</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353856"/>
            <a:ext cx="18288000" cy="10109527"/>
            <a:chOff x="0" y="0"/>
            <a:chExt cx="4816593" cy="2662592"/>
          </a:xfrm>
        </p:grpSpPr>
        <p:sp>
          <p:nvSpPr>
            <p:cNvPr name="Freeform 4" id="4"/>
            <p:cNvSpPr/>
            <p:nvPr/>
          </p:nvSpPr>
          <p:spPr>
            <a:xfrm flipH="false" flipV="false" rot="0">
              <a:off x="0" y="0"/>
              <a:ext cx="4816592" cy="2662592"/>
            </a:xfrm>
            <a:custGeom>
              <a:avLst/>
              <a:gdLst/>
              <a:ahLst/>
              <a:cxnLst/>
              <a:rect r="r" b="b" t="t" l="l"/>
              <a:pathLst>
                <a:path h="2662592" w="4816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name="TextBox 5" id="5"/>
            <p:cNvSpPr txBox="true"/>
            <p:nvPr/>
          </p:nvSpPr>
          <p:spPr>
            <a:xfrm>
              <a:off x="0" y="-38100"/>
              <a:ext cx="4816593" cy="2700692"/>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626738" y="1225884"/>
            <a:ext cx="1480929" cy="1483627"/>
          </a:xfrm>
          <a:custGeom>
            <a:avLst/>
            <a:gdLst/>
            <a:ahLst/>
            <a:cxnLst/>
            <a:rect r="r" b="b" t="t" l="l"/>
            <a:pathLst>
              <a:path h="1483627" w="1480929">
                <a:moveTo>
                  <a:pt x="0" y="0"/>
                </a:moveTo>
                <a:lnTo>
                  <a:pt x="1480929" y="0"/>
                </a:lnTo>
                <a:lnTo>
                  <a:pt x="1480929" y="1483626"/>
                </a:lnTo>
                <a:lnTo>
                  <a:pt x="0" y="14836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true" flipV="true" rot="-10792239">
            <a:off x="-724606" y="8954135"/>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true" flipV="true" rot="-10792239">
            <a:off x="16612207" y="-936064"/>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9" id="9"/>
          <p:cNvGrpSpPr/>
          <p:nvPr/>
        </p:nvGrpSpPr>
        <p:grpSpPr>
          <a:xfrm rot="0">
            <a:off x="1028700" y="314559"/>
            <a:ext cx="560353" cy="652047"/>
            <a:chOff x="0" y="0"/>
            <a:chExt cx="698500" cy="812800"/>
          </a:xfrm>
        </p:grpSpPr>
        <p:sp>
          <p:nvSpPr>
            <p:cNvPr name="Freeform 10" id="10"/>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000000">
                <a:alpha val="0"/>
              </a:srgbClr>
            </a:solidFill>
            <a:ln w="95250" cap="sq">
              <a:solidFill>
                <a:srgbClr val="348BFF"/>
              </a:solidFill>
              <a:prstDash val="solid"/>
              <a:miter/>
            </a:ln>
          </p:spPr>
        </p:sp>
        <p:sp>
          <p:nvSpPr>
            <p:cNvPr name="TextBox 11" id="11"/>
            <p:cNvSpPr txBox="true"/>
            <p:nvPr/>
          </p:nvSpPr>
          <p:spPr>
            <a:xfrm>
              <a:off x="0" y="101600"/>
              <a:ext cx="698500" cy="571500"/>
            </a:xfrm>
            <a:prstGeom prst="rect">
              <a:avLst/>
            </a:prstGeom>
          </p:spPr>
          <p:txBody>
            <a:bodyPr anchor="ctr" rtlCol="false" tIns="27034" lIns="27034" bIns="27034" rIns="27034"/>
            <a:lstStyle/>
            <a:p>
              <a:pPr algn="ctr">
                <a:lnSpc>
                  <a:spcPts val="2659"/>
                </a:lnSpc>
              </a:pPr>
            </a:p>
          </p:txBody>
        </p:sp>
      </p:grpSp>
      <p:graphicFrame>
        <p:nvGraphicFramePr>
          <p:cNvPr name="Table 12" id="12"/>
          <p:cNvGraphicFramePr>
            <a:graphicFrameLocks noGrp="true"/>
          </p:cNvGraphicFramePr>
          <p:nvPr/>
        </p:nvGraphicFramePr>
        <p:xfrm>
          <a:off x="2375085" y="2485392"/>
          <a:ext cx="14628307" cy="7391400"/>
        </p:xfrm>
        <a:graphic>
          <a:graphicData uri="http://schemas.openxmlformats.org/drawingml/2006/table">
            <a:tbl>
              <a:tblPr/>
              <a:tblGrid>
                <a:gridCol w="5031426"/>
                <a:gridCol w="9596881"/>
              </a:tblGrid>
              <a:tr h="1024456">
                <a:tc>
                  <a:txBody>
                    <a:bodyPr anchor="t" rtlCol="false"/>
                    <a:lstStyle/>
                    <a:p>
                      <a:pPr algn="ctr">
                        <a:lnSpc>
                          <a:spcPts val="3640"/>
                        </a:lnSpc>
                        <a:defRPr/>
                      </a:pPr>
                      <a:r>
                        <a:rPr lang="en-US" sz="2600">
                          <a:solidFill>
                            <a:srgbClr val="428DFF"/>
                          </a:solidFill>
                          <a:latin typeface="Canva Sans"/>
                          <a:ea typeface="Canva Sans"/>
                          <a:cs typeface="Canva Sans"/>
                          <a:sym typeface="Canva Sans"/>
                        </a:rPr>
                        <a:t>Đặc điểm của YOLOv11x</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640"/>
                        </a:lnSpc>
                        <a:defRPr/>
                      </a:pPr>
                      <a:r>
                        <a:rPr lang="en-US" sz="2600">
                          <a:solidFill>
                            <a:srgbClr val="428DFF"/>
                          </a:solidFill>
                          <a:latin typeface="Canva Sans"/>
                          <a:ea typeface="Canva Sans"/>
                          <a:cs typeface="Canva Sans"/>
                          <a:sym typeface="Canva Sans"/>
                        </a:rPr>
                        <a:t>Lợi ích</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273389">
                <a:tc>
                  <a:txBody>
                    <a:bodyPr anchor="t" rtlCol="false"/>
                    <a:lstStyle/>
                    <a:p>
                      <a:pPr algn="l">
                        <a:lnSpc>
                          <a:spcPts val="3220"/>
                        </a:lnSpc>
                        <a:defRPr/>
                      </a:pPr>
                      <a:r>
                        <a:rPr lang="en-US" sz="2300">
                          <a:solidFill>
                            <a:srgbClr val="F2EDED"/>
                          </a:solidFill>
                          <a:latin typeface="Canva Sans"/>
                          <a:ea typeface="Canva Sans"/>
                          <a:cs typeface="Canva Sans"/>
                          <a:sym typeface="Canva Sans"/>
                        </a:rPr>
                        <a:t>Mô hình kích thước lớn (extra-large) với số lượng tham số cao</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3220"/>
                        </a:lnSpc>
                        <a:defRPr/>
                      </a:pPr>
                      <a:r>
                        <a:rPr lang="en-US" sz="2300">
                          <a:solidFill>
                            <a:srgbClr val="FFFFFF"/>
                          </a:solidFill>
                          <a:latin typeface="Canva Sans"/>
                          <a:ea typeface="Canva Sans"/>
                          <a:cs typeface="Canva Sans"/>
                          <a:sym typeface="Canva Sans"/>
                        </a:rPr>
                        <a:t>Khả năng học đặc trưng mạnh, giúp phát hiện các khuyết tật nhỏ, mờ như nứt (Crack) và rỗ khí (Porosity)</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273389">
                <a:tc>
                  <a:txBody>
                    <a:bodyPr anchor="t" rtlCol="false"/>
                    <a:lstStyle/>
                    <a:p>
                      <a:pPr algn="l">
                        <a:lnSpc>
                          <a:spcPts val="3220"/>
                        </a:lnSpc>
                        <a:defRPr/>
                      </a:pPr>
                      <a:r>
                        <a:rPr lang="en-US" sz="2300">
                          <a:solidFill>
                            <a:srgbClr val="FFFFFF"/>
                          </a:solidFill>
                          <a:latin typeface="Canva Sans"/>
                          <a:ea typeface="Canva Sans"/>
                          <a:cs typeface="Canva Sans"/>
                          <a:sym typeface="Canva Sans"/>
                        </a:rPr>
                        <a:t>Kiến trúc mạng sâu, trích xuất đặc trưng đa tầng</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3220"/>
                        </a:lnSpc>
                        <a:defRPr/>
                      </a:pPr>
                      <a:r>
                        <a:rPr lang="en-US" sz="2300">
                          <a:solidFill>
                            <a:srgbClr val="FFFFFF"/>
                          </a:solidFill>
                          <a:latin typeface="Canva Sans"/>
                          <a:ea typeface="Canva Sans"/>
                          <a:cs typeface="Canva Sans"/>
                          <a:sym typeface="Canva Sans"/>
                        </a:rPr>
                        <a:t>Giữ được thông tin chi tiết ở nhiều mức tỷ lệ, nâng cao độ chính xác khi khuyết tật có kích thước không đồng đều</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273389">
                <a:tc>
                  <a:txBody>
                    <a:bodyPr anchor="t" rtlCol="false"/>
                    <a:lstStyle/>
                    <a:p>
                      <a:pPr algn="l">
                        <a:lnSpc>
                          <a:spcPts val="3220"/>
                        </a:lnSpc>
                        <a:defRPr/>
                      </a:pPr>
                      <a:r>
                        <a:rPr lang="en-US" sz="2300">
                          <a:solidFill>
                            <a:srgbClr val="F2EDED"/>
                          </a:solidFill>
                          <a:latin typeface="Canva Sans"/>
                          <a:ea typeface="Canva Sans"/>
                          <a:cs typeface="Canva Sans"/>
                          <a:sym typeface="Canva Sans"/>
                        </a:rPr>
                        <a:t>Backbone và Neck được cải tiến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3220"/>
                        </a:lnSpc>
                        <a:defRPr/>
                      </a:pPr>
                      <a:r>
                        <a:rPr lang="en-US" sz="2300">
                          <a:solidFill>
                            <a:srgbClr val="FFFFFF"/>
                          </a:solidFill>
                          <a:latin typeface="Canva Sans"/>
                          <a:ea typeface="Canva Sans"/>
                          <a:cs typeface="Canva Sans"/>
                          <a:sym typeface="Canva Sans"/>
                        </a:rPr>
                        <a:t>Tăng</a:t>
                      </a:r>
                      <a:r>
                        <a:rPr lang="en-US" sz="2300">
                          <a:solidFill>
                            <a:srgbClr val="FFFFFF"/>
                          </a:solidFill>
                          <a:latin typeface="Canva Sans"/>
                          <a:ea typeface="Canva Sans"/>
                          <a:cs typeface="Canva Sans"/>
                          <a:sym typeface="Canva Sans"/>
                        </a:rPr>
                        <a:t> khả năng biểu diễn đặc trưng hình thái phức tạp của mối hàn trên ảnh X-ray</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273389">
                <a:tc>
                  <a:txBody>
                    <a:bodyPr anchor="t" rtlCol="false"/>
                    <a:lstStyle/>
                    <a:p>
                      <a:pPr algn="l">
                        <a:lnSpc>
                          <a:spcPts val="3220"/>
                        </a:lnSpc>
                        <a:defRPr/>
                      </a:pPr>
                      <a:r>
                        <a:rPr lang="en-US" sz="2300">
                          <a:solidFill>
                            <a:srgbClr val="FFFFFF"/>
                          </a:solidFill>
                          <a:latin typeface="Canva Sans"/>
                          <a:ea typeface="Canva Sans"/>
                          <a:cs typeface="Canva Sans"/>
                          <a:sym typeface="Canva Sans"/>
                        </a:rPr>
                        <a:t>Khả năng phát hiện đối tượng nhỏ tốt</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3220"/>
                        </a:lnSpc>
                        <a:defRPr/>
                      </a:pPr>
                      <a:r>
                        <a:rPr lang="en-US" sz="2300">
                          <a:solidFill>
                            <a:srgbClr val="F2EDED"/>
                          </a:solidFill>
                          <a:latin typeface="Canva Sans"/>
                          <a:ea typeface="Canva Sans"/>
                          <a:cs typeface="Canva Sans"/>
                          <a:sym typeface="Canva Sans"/>
                        </a:rPr>
                        <a:t>Giảm bỏ sót lỗi (False Negative), đặc biệt với các khuyết tật mảnh và dài</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273389">
                <a:tc>
                  <a:txBody>
                    <a:bodyPr anchor="t" rtlCol="false"/>
                    <a:lstStyle/>
                    <a:p>
                      <a:pPr algn="l">
                        <a:lnSpc>
                          <a:spcPts val="3220"/>
                        </a:lnSpc>
                        <a:defRPr/>
                      </a:pPr>
                      <a:r>
                        <a:rPr lang="en-US" sz="2300">
                          <a:solidFill>
                            <a:srgbClr val="FFFFFF"/>
                          </a:solidFill>
                          <a:latin typeface="Canva Sans"/>
                          <a:ea typeface="Canva Sans"/>
                          <a:cs typeface="Canva Sans"/>
                          <a:sym typeface="Canva Sans"/>
                        </a:rPr>
                        <a:t>Hoạt động ổn định với ảnh có độ tương phản thấp và nhiễu cao</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3220"/>
                        </a:lnSpc>
                        <a:defRPr/>
                      </a:pPr>
                      <a:r>
                        <a:rPr lang="en-US" sz="2300">
                          <a:solidFill>
                            <a:srgbClr val="FFFFFF"/>
                          </a:solidFill>
                          <a:latin typeface="Canva Sans"/>
                          <a:ea typeface="Canva Sans"/>
                          <a:cs typeface="Canva Sans"/>
                          <a:sym typeface="Canva Sans"/>
                        </a:rPr>
                        <a:t>Phù hợp với đặc thù ảnh X-ray mối hàn công nghiệp</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sp>
        <p:nvSpPr>
          <p:cNvPr name="TextBox 13" id="13"/>
          <p:cNvSpPr txBox="true"/>
          <p:nvPr/>
        </p:nvSpPr>
        <p:spPr>
          <a:xfrm rot="0">
            <a:off x="2375085" y="1502559"/>
            <a:ext cx="5615734" cy="615950"/>
          </a:xfrm>
          <a:prstGeom prst="rect">
            <a:avLst/>
          </a:prstGeom>
        </p:spPr>
        <p:txBody>
          <a:bodyPr anchor="t" rtlCol="false" tIns="0" lIns="0" bIns="0" rIns="0">
            <a:spAutoFit/>
          </a:bodyPr>
          <a:lstStyle/>
          <a:p>
            <a:pPr algn="l">
              <a:lnSpc>
                <a:spcPts val="4900"/>
              </a:lnSpc>
            </a:pPr>
            <a:r>
              <a:rPr lang="en-US" sz="3500" b="true">
                <a:solidFill>
                  <a:srgbClr val="FFFFFF"/>
                </a:solidFill>
                <a:latin typeface="Roboto Bold"/>
                <a:ea typeface="Roboto Bold"/>
                <a:cs typeface="Roboto Bold"/>
                <a:sym typeface="Roboto Bold"/>
              </a:rPr>
              <a:t>Lý do sử dụng</a:t>
            </a:r>
          </a:p>
        </p:txBody>
      </p:sp>
      <p:sp>
        <p:nvSpPr>
          <p:cNvPr name="TextBox 14" id="14"/>
          <p:cNvSpPr txBox="true"/>
          <p:nvPr/>
        </p:nvSpPr>
        <p:spPr>
          <a:xfrm rot="0">
            <a:off x="2728289" y="315732"/>
            <a:ext cx="13342528" cy="1384300"/>
          </a:xfrm>
          <a:prstGeom prst="rect">
            <a:avLst/>
          </a:prstGeom>
        </p:spPr>
        <p:txBody>
          <a:bodyPr anchor="t" rtlCol="false" tIns="0" lIns="0" bIns="0" rIns="0">
            <a:spAutoFit/>
          </a:bodyPr>
          <a:lstStyle/>
          <a:p>
            <a:pPr algn="ctr">
              <a:lnSpc>
                <a:spcPts val="5599"/>
              </a:lnSpc>
            </a:pPr>
            <a:r>
              <a:rPr lang="en-US" sz="3999" spc="-39">
                <a:solidFill>
                  <a:srgbClr val="348BFF"/>
                </a:solidFill>
                <a:latin typeface="Roboto"/>
                <a:ea typeface="Roboto"/>
                <a:cs typeface="Roboto"/>
                <a:sym typeface="Roboto"/>
              </a:rPr>
              <a:t>PHÁT HIỆN LỖI MỐI HÀN BẰNG YOLOV11X</a:t>
            </a:r>
          </a:p>
          <a:p>
            <a:pPr algn="ctr">
              <a:lnSpc>
                <a:spcPts val="5599"/>
              </a:lnSpc>
            </a:pP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5195785" y="1550528"/>
            <a:ext cx="8070222" cy="8470653"/>
          </a:xfrm>
          <a:custGeom>
            <a:avLst/>
            <a:gdLst/>
            <a:ahLst/>
            <a:cxnLst/>
            <a:rect r="r" b="b" t="t" l="l"/>
            <a:pathLst>
              <a:path h="8470653" w="8070222">
                <a:moveTo>
                  <a:pt x="0" y="0"/>
                </a:moveTo>
                <a:lnTo>
                  <a:pt x="8070223" y="0"/>
                </a:lnTo>
                <a:lnTo>
                  <a:pt x="8070223" y="8470653"/>
                </a:lnTo>
                <a:lnTo>
                  <a:pt x="0" y="847065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5321109" y="165100"/>
            <a:ext cx="7645781" cy="863600"/>
          </a:xfrm>
          <a:prstGeom prst="rect">
            <a:avLst/>
          </a:prstGeom>
        </p:spPr>
        <p:txBody>
          <a:bodyPr anchor="t" rtlCol="false" tIns="0" lIns="0" bIns="0" rIns="0">
            <a:spAutoFit/>
          </a:bodyPr>
          <a:lstStyle/>
          <a:p>
            <a:pPr algn="ctr">
              <a:lnSpc>
                <a:spcPts val="7000"/>
              </a:lnSpc>
            </a:pPr>
            <a:r>
              <a:rPr lang="en-US" sz="5000" spc="-50">
                <a:solidFill>
                  <a:srgbClr val="348BFF"/>
                </a:solidFill>
                <a:latin typeface="Roboto"/>
                <a:ea typeface="Roboto"/>
                <a:cs typeface="Roboto"/>
                <a:sym typeface="Roboto"/>
              </a:rPr>
              <a:t>HUẤN LUYỆN YOLOV11X</a:t>
            </a:r>
          </a:p>
        </p:txBody>
      </p:sp>
      <p:sp>
        <p:nvSpPr>
          <p:cNvPr name="TextBox 5" id="5"/>
          <p:cNvSpPr txBox="true"/>
          <p:nvPr/>
        </p:nvSpPr>
        <p:spPr>
          <a:xfrm rot="0">
            <a:off x="9536673" y="2646026"/>
            <a:ext cx="2027039" cy="580390"/>
          </a:xfrm>
          <a:prstGeom prst="rect">
            <a:avLst/>
          </a:prstGeom>
        </p:spPr>
        <p:txBody>
          <a:bodyPr anchor="t" rtlCol="false" tIns="0" lIns="0" bIns="0" rIns="0">
            <a:spAutoFit/>
          </a:bodyPr>
          <a:lstStyle/>
          <a:p>
            <a:pPr algn="ctr">
              <a:lnSpc>
                <a:spcPts val="4759"/>
              </a:lnSpc>
            </a:pPr>
            <a:r>
              <a:rPr lang="en-US" sz="3399" b="true">
                <a:solidFill>
                  <a:srgbClr val="000000"/>
                </a:solidFill>
                <a:latin typeface="Noto Sans Bold"/>
                <a:ea typeface="Noto Sans Bold"/>
                <a:cs typeface="Noto Sans Bold"/>
                <a:sym typeface="Noto Sans Bold"/>
              </a:rPr>
              <a:t>i</a:t>
            </a:r>
            <a:r>
              <a:rPr lang="en-US" b="true" sz="3399">
                <a:solidFill>
                  <a:srgbClr val="000000"/>
                </a:solidFill>
                <a:latin typeface="Noto Sans Bold"/>
                <a:ea typeface="Noto Sans Bold"/>
                <a:cs typeface="Noto Sans Bold"/>
                <a:sym typeface="Noto Sans Bold"/>
              </a:rPr>
              <a:t>mgz=640</a:t>
            </a:r>
          </a:p>
        </p:txBody>
      </p:sp>
      <p:sp>
        <p:nvSpPr>
          <p:cNvPr name="TextBox 6" id="6"/>
          <p:cNvSpPr txBox="true"/>
          <p:nvPr/>
        </p:nvSpPr>
        <p:spPr>
          <a:xfrm rot="0">
            <a:off x="5368839" y="3963035"/>
            <a:ext cx="2288858" cy="580390"/>
          </a:xfrm>
          <a:prstGeom prst="rect">
            <a:avLst/>
          </a:prstGeom>
        </p:spPr>
        <p:txBody>
          <a:bodyPr anchor="t" rtlCol="false" tIns="0" lIns="0" bIns="0" rIns="0">
            <a:spAutoFit/>
          </a:bodyPr>
          <a:lstStyle/>
          <a:p>
            <a:pPr algn="ctr">
              <a:lnSpc>
                <a:spcPts val="4759"/>
              </a:lnSpc>
            </a:pPr>
            <a:r>
              <a:rPr lang="en-US" sz="3399" b="true">
                <a:solidFill>
                  <a:srgbClr val="000000"/>
                </a:solidFill>
                <a:latin typeface="Noto Sans Bold"/>
                <a:ea typeface="Noto Sans Bold"/>
                <a:cs typeface="Noto Sans Bold"/>
                <a:sym typeface="Noto Sans Bold"/>
              </a:rPr>
              <a:t>epoch=100</a:t>
            </a:r>
          </a:p>
        </p:txBody>
      </p:sp>
      <p:sp>
        <p:nvSpPr>
          <p:cNvPr name="TextBox 7" id="7"/>
          <p:cNvSpPr txBox="true"/>
          <p:nvPr/>
        </p:nvSpPr>
        <p:spPr>
          <a:xfrm rot="0">
            <a:off x="7019921" y="8124545"/>
            <a:ext cx="1720929" cy="580390"/>
          </a:xfrm>
          <a:prstGeom prst="rect">
            <a:avLst/>
          </a:prstGeom>
        </p:spPr>
        <p:txBody>
          <a:bodyPr anchor="t" rtlCol="false" tIns="0" lIns="0" bIns="0" rIns="0">
            <a:spAutoFit/>
          </a:bodyPr>
          <a:lstStyle/>
          <a:p>
            <a:pPr algn="ctr">
              <a:lnSpc>
                <a:spcPts val="4759"/>
              </a:lnSpc>
            </a:pPr>
            <a:r>
              <a:rPr lang="en-US" sz="3399" b="true">
                <a:solidFill>
                  <a:srgbClr val="000000"/>
                </a:solidFill>
                <a:latin typeface="Noto Sans Bold"/>
                <a:ea typeface="Noto Sans Bold"/>
                <a:cs typeface="Noto Sans Bold"/>
                <a:sym typeface="Noto Sans Bold"/>
              </a:rPr>
              <a:t>batch=6</a:t>
            </a:r>
          </a:p>
        </p:txBody>
      </p:sp>
      <p:sp>
        <p:nvSpPr>
          <p:cNvPr name="TextBox 8" id="8"/>
          <p:cNvSpPr txBox="true"/>
          <p:nvPr/>
        </p:nvSpPr>
        <p:spPr>
          <a:xfrm rot="0">
            <a:off x="10550192" y="6572848"/>
            <a:ext cx="2715816" cy="1180465"/>
          </a:xfrm>
          <a:prstGeom prst="rect">
            <a:avLst/>
          </a:prstGeom>
        </p:spPr>
        <p:txBody>
          <a:bodyPr anchor="t" rtlCol="false" tIns="0" lIns="0" bIns="0" rIns="0">
            <a:spAutoFit/>
          </a:bodyPr>
          <a:lstStyle/>
          <a:p>
            <a:pPr algn="ctr">
              <a:lnSpc>
                <a:spcPts val="4759"/>
              </a:lnSpc>
            </a:pPr>
            <a:r>
              <a:rPr lang="en-US" sz="3399" b="true">
                <a:solidFill>
                  <a:srgbClr val="000000"/>
                </a:solidFill>
                <a:latin typeface="Noto Sans Bold"/>
                <a:ea typeface="Noto Sans Bold"/>
                <a:cs typeface="Noto Sans Bold"/>
                <a:sym typeface="Noto Sans Bold"/>
              </a:rPr>
              <a:t>model </a:t>
            </a:r>
          </a:p>
          <a:p>
            <a:pPr algn="ctr">
              <a:lnSpc>
                <a:spcPts val="4759"/>
              </a:lnSpc>
            </a:pPr>
            <a:r>
              <a:rPr lang="en-US" sz="3399" b="true">
                <a:solidFill>
                  <a:srgbClr val="000000"/>
                </a:solidFill>
                <a:latin typeface="Noto Sans Bold"/>
                <a:ea typeface="Noto Sans Bold"/>
                <a:cs typeface="Noto Sans Bold"/>
                <a:sym typeface="Noto Sans Bold"/>
              </a:rPr>
              <a:t>='yolo11x.pt'</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924547" y="1529912"/>
            <a:ext cx="14902206" cy="7451103"/>
          </a:xfrm>
          <a:custGeom>
            <a:avLst/>
            <a:gdLst/>
            <a:ahLst/>
            <a:cxnLst/>
            <a:rect r="r" b="b" t="t" l="l"/>
            <a:pathLst>
              <a:path h="7451103" w="14902206">
                <a:moveTo>
                  <a:pt x="0" y="0"/>
                </a:moveTo>
                <a:lnTo>
                  <a:pt x="14902206" y="0"/>
                </a:lnTo>
                <a:lnTo>
                  <a:pt x="14902206" y="7451103"/>
                </a:lnTo>
                <a:lnTo>
                  <a:pt x="0" y="7451103"/>
                </a:lnTo>
                <a:lnTo>
                  <a:pt x="0" y="0"/>
                </a:lnTo>
                <a:close/>
              </a:path>
            </a:pathLst>
          </a:custGeom>
          <a:blipFill>
            <a:blip r:embed="rId3"/>
            <a:stretch>
              <a:fillRect l="0" t="0" r="0" b="0"/>
            </a:stretch>
          </a:blipFill>
        </p:spPr>
      </p:sp>
      <p:sp>
        <p:nvSpPr>
          <p:cNvPr name="TextBox 4" id="4"/>
          <p:cNvSpPr txBox="true"/>
          <p:nvPr/>
        </p:nvSpPr>
        <p:spPr>
          <a:xfrm rot="0">
            <a:off x="5321109" y="165100"/>
            <a:ext cx="7645781" cy="863600"/>
          </a:xfrm>
          <a:prstGeom prst="rect">
            <a:avLst/>
          </a:prstGeom>
        </p:spPr>
        <p:txBody>
          <a:bodyPr anchor="t" rtlCol="false" tIns="0" lIns="0" bIns="0" rIns="0">
            <a:spAutoFit/>
          </a:bodyPr>
          <a:lstStyle/>
          <a:p>
            <a:pPr algn="ctr">
              <a:lnSpc>
                <a:spcPts val="7000"/>
              </a:lnSpc>
            </a:pPr>
            <a:r>
              <a:rPr lang="en-US" sz="5000" spc="-50">
                <a:solidFill>
                  <a:srgbClr val="348BFF"/>
                </a:solidFill>
                <a:latin typeface="Roboto"/>
                <a:ea typeface="Roboto"/>
                <a:cs typeface="Roboto"/>
                <a:sym typeface="Roboto"/>
              </a:rPr>
              <a:t>HUẤN LUYỆN YOLOV11X</a:t>
            </a:r>
          </a:p>
        </p:txBody>
      </p:sp>
      <p:sp>
        <p:nvSpPr>
          <p:cNvPr name="TextBox 5" id="5"/>
          <p:cNvSpPr txBox="true"/>
          <p:nvPr/>
        </p:nvSpPr>
        <p:spPr>
          <a:xfrm rot="0">
            <a:off x="6205418" y="9434602"/>
            <a:ext cx="5877163" cy="422275"/>
          </a:xfrm>
          <a:prstGeom prst="rect">
            <a:avLst/>
          </a:prstGeom>
        </p:spPr>
        <p:txBody>
          <a:bodyPr anchor="t" rtlCol="false" tIns="0" lIns="0" bIns="0" rIns="0">
            <a:spAutoFit/>
          </a:bodyPr>
          <a:lstStyle/>
          <a:p>
            <a:pPr algn="ctr">
              <a:lnSpc>
                <a:spcPts val="3499"/>
              </a:lnSpc>
              <a:spcBef>
                <a:spcPct val="0"/>
              </a:spcBef>
            </a:pPr>
            <a:r>
              <a:rPr lang="en-US" sz="2499">
                <a:solidFill>
                  <a:srgbClr val="FFFFFF"/>
                </a:solidFill>
                <a:latin typeface="Canva Sans"/>
                <a:ea typeface="Canva Sans"/>
                <a:cs typeface="Canva Sans"/>
                <a:sym typeface="Canva Sans"/>
              </a:rPr>
              <a:t>Kết quả huấn luyện mô hình YOLOv11x</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3030278" y="2035308"/>
            <a:ext cx="12227444" cy="6768763"/>
          </a:xfrm>
          <a:custGeom>
            <a:avLst/>
            <a:gdLst/>
            <a:ahLst/>
            <a:cxnLst/>
            <a:rect r="r" b="b" t="t" l="l"/>
            <a:pathLst>
              <a:path h="6768763" w="12227444">
                <a:moveTo>
                  <a:pt x="0" y="0"/>
                </a:moveTo>
                <a:lnTo>
                  <a:pt x="12227444" y="0"/>
                </a:lnTo>
                <a:lnTo>
                  <a:pt x="12227444" y="6768763"/>
                </a:lnTo>
                <a:lnTo>
                  <a:pt x="0" y="6768763"/>
                </a:lnTo>
                <a:lnTo>
                  <a:pt x="0" y="0"/>
                </a:lnTo>
                <a:close/>
              </a:path>
            </a:pathLst>
          </a:custGeom>
          <a:blipFill>
            <a:blip r:embed="rId3"/>
            <a:stretch>
              <a:fillRect l="0" t="0" r="0" b="0"/>
            </a:stretch>
          </a:blipFill>
        </p:spPr>
      </p:sp>
      <p:sp>
        <p:nvSpPr>
          <p:cNvPr name="TextBox 4" id="4"/>
          <p:cNvSpPr txBox="true"/>
          <p:nvPr/>
        </p:nvSpPr>
        <p:spPr>
          <a:xfrm rot="0">
            <a:off x="5321109" y="165100"/>
            <a:ext cx="7645781" cy="863600"/>
          </a:xfrm>
          <a:prstGeom prst="rect">
            <a:avLst/>
          </a:prstGeom>
        </p:spPr>
        <p:txBody>
          <a:bodyPr anchor="t" rtlCol="false" tIns="0" lIns="0" bIns="0" rIns="0">
            <a:spAutoFit/>
          </a:bodyPr>
          <a:lstStyle/>
          <a:p>
            <a:pPr algn="ctr">
              <a:lnSpc>
                <a:spcPts val="7000"/>
              </a:lnSpc>
            </a:pPr>
            <a:r>
              <a:rPr lang="en-US" sz="5000" spc="-50">
                <a:solidFill>
                  <a:srgbClr val="348BFF"/>
                </a:solidFill>
                <a:latin typeface="Roboto"/>
                <a:ea typeface="Roboto"/>
                <a:cs typeface="Roboto"/>
                <a:sym typeface="Roboto"/>
              </a:rPr>
              <a:t>KIỂM THỬ YOLOV11X</a:t>
            </a:r>
          </a:p>
        </p:txBody>
      </p:sp>
      <p:sp>
        <p:nvSpPr>
          <p:cNvPr name="TextBox 5" id="5"/>
          <p:cNvSpPr txBox="true"/>
          <p:nvPr/>
        </p:nvSpPr>
        <p:spPr>
          <a:xfrm rot="0">
            <a:off x="6381869" y="9434602"/>
            <a:ext cx="5524262" cy="422275"/>
          </a:xfrm>
          <a:prstGeom prst="rect">
            <a:avLst/>
          </a:prstGeom>
        </p:spPr>
        <p:txBody>
          <a:bodyPr anchor="t" rtlCol="false" tIns="0" lIns="0" bIns="0" rIns="0">
            <a:spAutoFit/>
          </a:bodyPr>
          <a:lstStyle/>
          <a:p>
            <a:pPr algn="ctr">
              <a:lnSpc>
                <a:spcPts val="3499"/>
              </a:lnSpc>
              <a:spcBef>
                <a:spcPct val="0"/>
              </a:spcBef>
            </a:pPr>
            <a:r>
              <a:rPr lang="en-US" sz="2499">
                <a:solidFill>
                  <a:srgbClr val="FFFFFF"/>
                </a:solidFill>
                <a:latin typeface="Canva Sans"/>
                <a:ea typeface="Canva Sans"/>
                <a:cs typeface="Canva Sans"/>
                <a:sym typeface="Canva Sans"/>
              </a:rPr>
              <a:t>Kết quả kiểm thử mô hình YOLOv11x</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5321109" y="1237695"/>
            <a:ext cx="7421029" cy="7811609"/>
          </a:xfrm>
          <a:custGeom>
            <a:avLst/>
            <a:gdLst/>
            <a:ahLst/>
            <a:cxnLst/>
            <a:rect r="r" b="b" t="t" l="l"/>
            <a:pathLst>
              <a:path h="7811609" w="7421029">
                <a:moveTo>
                  <a:pt x="0" y="0"/>
                </a:moveTo>
                <a:lnTo>
                  <a:pt x="7421029" y="0"/>
                </a:lnTo>
                <a:lnTo>
                  <a:pt x="7421029" y="7811610"/>
                </a:lnTo>
                <a:lnTo>
                  <a:pt x="0" y="7811610"/>
                </a:lnTo>
                <a:lnTo>
                  <a:pt x="0" y="0"/>
                </a:lnTo>
                <a:close/>
              </a:path>
            </a:pathLst>
          </a:custGeom>
          <a:blipFill>
            <a:blip r:embed="rId3"/>
            <a:stretch>
              <a:fillRect l="0" t="0" r="0" b="0"/>
            </a:stretch>
          </a:blipFill>
        </p:spPr>
      </p:sp>
      <p:sp>
        <p:nvSpPr>
          <p:cNvPr name="TextBox 4" id="4"/>
          <p:cNvSpPr txBox="true"/>
          <p:nvPr/>
        </p:nvSpPr>
        <p:spPr>
          <a:xfrm rot="0">
            <a:off x="5321109" y="165100"/>
            <a:ext cx="7645781" cy="863600"/>
          </a:xfrm>
          <a:prstGeom prst="rect">
            <a:avLst/>
          </a:prstGeom>
        </p:spPr>
        <p:txBody>
          <a:bodyPr anchor="t" rtlCol="false" tIns="0" lIns="0" bIns="0" rIns="0">
            <a:spAutoFit/>
          </a:bodyPr>
          <a:lstStyle/>
          <a:p>
            <a:pPr algn="ctr">
              <a:lnSpc>
                <a:spcPts val="7000"/>
              </a:lnSpc>
            </a:pPr>
            <a:r>
              <a:rPr lang="en-US" sz="5000" spc="-50">
                <a:solidFill>
                  <a:srgbClr val="348BFF"/>
                </a:solidFill>
                <a:latin typeface="Roboto"/>
                <a:ea typeface="Roboto"/>
                <a:cs typeface="Roboto"/>
                <a:sym typeface="Roboto"/>
              </a:rPr>
              <a:t>KIỂM THỬ YOLOV11X</a:t>
            </a:r>
          </a:p>
        </p:txBody>
      </p:sp>
      <p:sp>
        <p:nvSpPr>
          <p:cNvPr name="TextBox 5" id="5"/>
          <p:cNvSpPr txBox="true"/>
          <p:nvPr/>
        </p:nvSpPr>
        <p:spPr>
          <a:xfrm rot="0">
            <a:off x="6381869" y="9412190"/>
            <a:ext cx="5524262" cy="422275"/>
          </a:xfrm>
          <a:prstGeom prst="rect">
            <a:avLst/>
          </a:prstGeom>
        </p:spPr>
        <p:txBody>
          <a:bodyPr anchor="t" rtlCol="false" tIns="0" lIns="0" bIns="0" rIns="0">
            <a:spAutoFit/>
          </a:bodyPr>
          <a:lstStyle/>
          <a:p>
            <a:pPr algn="ctr">
              <a:lnSpc>
                <a:spcPts val="3499"/>
              </a:lnSpc>
              <a:spcBef>
                <a:spcPct val="0"/>
              </a:spcBef>
            </a:pPr>
            <a:r>
              <a:rPr lang="en-US" sz="2499">
                <a:solidFill>
                  <a:srgbClr val="FFFFFF"/>
                </a:solidFill>
                <a:latin typeface="Canva Sans"/>
                <a:ea typeface="Canva Sans"/>
                <a:cs typeface="Canva Sans"/>
                <a:sym typeface="Canva Sans"/>
              </a:rPr>
              <a:t>Kết quả kiểm thử mô hình YOLOv11x</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18288000" cy="10109527"/>
            <a:chOff x="0" y="0"/>
            <a:chExt cx="4816593" cy="2662592"/>
          </a:xfrm>
        </p:grpSpPr>
        <p:sp>
          <p:nvSpPr>
            <p:cNvPr name="Freeform 4" id="4"/>
            <p:cNvSpPr/>
            <p:nvPr/>
          </p:nvSpPr>
          <p:spPr>
            <a:xfrm flipH="false" flipV="false" rot="0">
              <a:off x="0" y="0"/>
              <a:ext cx="4816592" cy="2662592"/>
            </a:xfrm>
            <a:custGeom>
              <a:avLst/>
              <a:gdLst/>
              <a:ahLst/>
              <a:cxnLst/>
              <a:rect r="r" b="b" t="t" l="l"/>
              <a:pathLst>
                <a:path h="2662592" w="4816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name="TextBox 5" id="5"/>
            <p:cNvSpPr txBox="true"/>
            <p:nvPr/>
          </p:nvSpPr>
          <p:spPr>
            <a:xfrm>
              <a:off x="0" y="-38100"/>
              <a:ext cx="4816593" cy="2700692"/>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028700" y="1239574"/>
            <a:ext cx="1480929" cy="1483627"/>
          </a:xfrm>
          <a:custGeom>
            <a:avLst/>
            <a:gdLst/>
            <a:ahLst/>
            <a:cxnLst/>
            <a:rect r="r" b="b" t="t" l="l"/>
            <a:pathLst>
              <a:path h="1483627" w="1480929">
                <a:moveTo>
                  <a:pt x="0" y="0"/>
                </a:moveTo>
                <a:lnTo>
                  <a:pt x="1480929" y="0"/>
                </a:lnTo>
                <a:lnTo>
                  <a:pt x="1480929" y="1483627"/>
                </a:lnTo>
                <a:lnTo>
                  <a:pt x="0" y="14836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true" flipV="true" rot="-10792239">
            <a:off x="-724606" y="8954135"/>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true" flipV="true" rot="-10792239">
            <a:off x="16612207" y="-936064"/>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9" id="9"/>
          <p:cNvGrpSpPr/>
          <p:nvPr/>
        </p:nvGrpSpPr>
        <p:grpSpPr>
          <a:xfrm rot="0">
            <a:off x="1028700" y="314559"/>
            <a:ext cx="560353" cy="652047"/>
            <a:chOff x="0" y="0"/>
            <a:chExt cx="698500" cy="812800"/>
          </a:xfrm>
        </p:grpSpPr>
        <p:sp>
          <p:nvSpPr>
            <p:cNvPr name="Freeform 10" id="10"/>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000000">
                <a:alpha val="0"/>
              </a:srgbClr>
            </a:solidFill>
            <a:ln w="95250" cap="sq">
              <a:solidFill>
                <a:srgbClr val="348BFF"/>
              </a:solidFill>
              <a:prstDash val="solid"/>
              <a:miter/>
            </a:ln>
          </p:spPr>
        </p:sp>
        <p:sp>
          <p:nvSpPr>
            <p:cNvPr name="TextBox 11" id="11"/>
            <p:cNvSpPr txBox="true"/>
            <p:nvPr/>
          </p:nvSpPr>
          <p:spPr>
            <a:xfrm>
              <a:off x="0" y="101600"/>
              <a:ext cx="698500" cy="571500"/>
            </a:xfrm>
            <a:prstGeom prst="rect">
              <a:avLst/>
            </a:prstGeom>
          </p:spPr>
          <p:txBody>
            <a:bodyPr anchor="ctr" rtlCol="false" tIns="27034" lIns="27034" bIns="27034" rIns="27034"/>
            <a:lstStyle/>
            <a:p>
              <a:pPr algn="ctr">
                <a:lnSpc>
                  <a:spcPts val="2659"/>
                </a:lnSpc>
              </a:pPr>
            </a:p>
          </p:txBody>
        </p:sp>
      </p:grpSp>
      <p:grpSp>
        <p:nvGrpSpPr>
          <p:cNvPr name="Group 12" id="12"/>
          <p:cNvGrpSpPr/>
          <p:nvPr/>
        </p:nvGrpSpPr>
        <p:grpSpPr>
          <a:xfrm rot="0">
            <a:off x="1308877" y="6593840"/>
            <a:ext cx="15670247" cy="3284081"/>
            <a:chOff x="0" y="0"/>
            <a:chExt cx="11379990" cy="2384953"/>
          </a:xfrm>
        </p:grpSpPr>
        <p:sp>
          <p:nvSpPr>
            <p:cNvPr name="Freeform 13" id="13"/>
            <p:cNvSpPr/>
            <p:nvPr/>
          </p:nvSpPr>
          <p:spPr>
            <a:xfrm flipH="false" flipV="false" rot="0">
              <a:off x="0" y="0"/>
              <a:ext cx="11379991" cy="2384953"/>
            </a:xfrm>
            <a:custGeom>
              <a:avLst/>
              <a:gdLst/>
              <a:ahLst/>
              <a:cxnLst/>
              <a:rect r="r" b="b" t="t" l="l"/>
              <a:pathLst>
                <a:path h="2384953" w="11379991">
                  <a:moveTo>
                    <a:pt x="0" y="1987461"/>
                  </a:moveTo>
                  <a:lnTo>
                    <a:pt x="0" y="397492"/>
                  </a:lnTo>
                  <a:cubicBezTo>
                    <a:pt x="0" y="178076"/>
                    <a:pt x="509824" y="0"/>
                    <a:pt x="1137999" y="0"/>
                  </a:cubicBezTo>
                  <a:lnTo>
                    <a:pt x="10241991" y="0"/>
                  </a:lnTo>
                  <a:cubicBezTo>
                    <a:pt x="10870167" y="0"/>
                    <a:pt x="11379991" y="178076"/>
                    <a:pt x="11379991" y="397492"/>
                  </a:cubicBezTo>
                  <a:lnTo>
                    <a:pt x="11379991" y="1987461"/>
                  </a:lnTo>
                  <a:cubicBezTo>
                    <a:pt x="11379991" y="2206877"/>
                    <a:pt x="10870167" y="2384953"/>
                    <a:pt x="10241991" y="2384953"/>
                  </a:cubicBezTo>
                  <a:lnTo>
                    <a:pt x="1137999" y="2384953"/>
                  </a:lnTo>
                  <a:cubicBezTo>
                    <a:pt x="509824" y="2384953"/>
                    <a:pt x="0" y="2206877"/>
                    <a:pt x="0" y="1987461"/>
                  </a:cubicBezTo>
                  <a:close/>
                </a:path>
              </a:pathLst>
            </a:custGeom>
            <a:blipFill>
              <a:blip r:embed="rId7"/>
              <a:stretch>
                <a:fillRect l="0" t="-51396" r="0" b="-51396"/>
              </a:stretch>
            </a:blipFill>
          </p:spPr>
        </p:sp>
      </p:grpSp>
      <p:sp>
        <p:nvSpPr>
          <p:cNvPr name="TextBox 14" id="14"/>
          <p:cNvSpPr txBox="true"/>
          <p:nvPr/>
        </p:nvSpPr>
        <p:spPr>
          <a:xfrm rot="0">
            <a:off x="2881253" y="3636010"/>
            <a:ext cx="14743244" cy="2957830"/>
          </a:xfrm>
          <a:prstGeom prst="rect">
            <a:avLst/>
          </a:prstGeom>
        </p:spPr>
        <p:txBody>
          <a:bodyPr anchor="t" rtlCol="false" tIns="0" lIns="0" bIns="0" rIns="0">
            <a:spAutoFit/>
          </a:bodyPr>
          <a:lstStyle/>
          <a:p>
            <a:pPr algn="l" marL="604519" indent="-302260" lvl="1">
              <a:lnSpc>
                <a:spcPts val="3919"/>
              </a:lnSpc>
              <a:spcBef>
                <a:spcPct val="0"/>
              </a:spcBef>
              <a:buFont typeface="Arial"/>
              <a:buChar char="•"/>
            </a:pPr>
            <a:r>
              <a:rPr lang="en-US" sz="2799">
                <a:solidFill>
                  <a:srgbClr val="FFFFFF"/>
                </a:solidFill>
                <a:latin typeface="Canva Sans"/>
                <a:ea typeface="Canva Sans"/>
                <a:cs typeface="Canva Sans"/>
                <a:sym typeface="Canva Sans"/>
              </a:rPr>
              <a:t>Sử dụng Tr</a:t>
            </a:r>
            <a:r>
              <a:rPr lang="en-US" sz="2799">
                <a:solidFill>
                  <a:srgbClr val="FFFFFF"/>
                </a:solidFill>
                <a:latin typeface="Canva Sans"/>
                <a:ea typeface="Canva Sans"/>
                <a:cs typeface="Canva Sans"/>
                <a:sym typeface="Canva Sans"/>
              </a:rPr>
              <a:t>ansformer</a:t>
            </a:r>
            <a:r>
              <a:rPr lang="en-US" sz="2799">
                <a:solidFill>
                  <a:srgbClr val="FFFFFF"/>
                </a:solidFill>
                <a:latin typeface="Canva Sans"/>
                <a:ea typeface="Canva Sans"/>
                <a:cs typeface="Canva Sans"/>
                <a:sym typeface="Canva Sans"/>
              </a:rPr>
              <a:t> E</a:t>
            </a:r>
            <a:r>
              <a:rPr lang="en-US" sz="2799">
                <a:solidFill>
                  <a:srgbClr val="FFFFFF"/>
                </a:solidFill>
                <a:latin typeface="Canva Sans"/>
                <a:ea typeface="Canva Sans"/>
                <a:cs typeface="Canva Sans"/>
                <a:sym typeface="Canva Sans"/>
              </a:rPr>
              <a:t>ncoder–Decoder để trích xuất đặc trưng</a:t>
            </a:r>
          </a:p>
          <a:p>
            <a:pPr algn="l" marL="604519" indent="-302260" lvl="1">
              <a:lnSpc>
                <a:spcPts val="3919"/>
              </a:lnSpc>
              <a:spcBef>
                <a:spcPct val="0"/>
              </a:spcBef>
              <a:buFont typeface="Arial"/>
              <a:buChar char="•"/>
            </a:pPr>
            <a:r>
              <a:rPr lang="en-US" sz="2799">
                <a:solidFill>
                  <a:srgbClr val="FFFFFF"/>
                </a:solidFill>
                <a:latin typeface="Canva Sans"/>
                <a:ea typeface="Canva Sans"/>
                <a:cs typeface="Canva Sans"/>
                <a:sym typeface="Canva Sans"/>
              </a:rPr>
              <a:t>Khả năng học quan hệ ngữ cảnh toàn cục trong ảnh</a:t>
            </a:r>
          </a:p>
          <a:p>
            <a:pPr algn="l" marL="604519" indent="-302260" lvl="1">
              <a:lnSpc>
                <a:spcPts val="3919"/>
              </a:lnSpc>
              <a:spcBef>
                <a:spcPct val="0"/>
              </a:spcBef>
              <a:buFont typeface="Arial"/>
              <a:buChar char="•"/>
            </a:pPr>
            <a:r>
              <a:rPr lang="en-US" sz="2799">
                <a:solidFill>
                  <a:srgbClr val="FFFFFF"/>
                </a:solidFill>
                <a:latin typeface="Canva Sans"/>
                <a:ea typeface="Canva Sans"/>
                <a:cs typeface="Canva Sans"/>
                <a:sym typeface="Canva Sans"/>
              </a:rPr>
              <a:t>Không phụ thuộc hoàn toàn vào anchor box như YOLO</a:t>
            </a:r>
          </a:p>
          <a:p>
            <a:pPr algn="l" marL="604519" indent="-302260" lvl="1">
              <a:lnSpc>
                <a:spcPts val="3919"/>
              </a:lnSpc>
              <a:spcBef>
                <a:spcPct val="0"/>
              </a:spcBef>
              <a:buFont typeface="Arial"/>
              <a:buChar char="•"/>
            </a:pPr>
            <a:r>
              <a:rPr lang="en-US" sz="2799">
                <a:solidFill>
                  <a:srgbClr val="FFFFFF"/>
                </a:solidFill>
                <a:latin typeface="Canva Sans"/>
                <a:ea typeface="Canva Sans"/>
                <a:cs typeface="Canva Sans"/>
                <a:sym typeface="Canva Sans"/>
              </a:rPr>
              <a:t>Giảm hiện tượng trùng lặp bounding box</a:t>
            </a:r>
          </a:p>
          <a:p>
            <a:pPr algn="l" marL="604519" indent="-302260" lvl="1">
              <a:lnSpc>
                <a:spcPts val="3919"/>
              </a:lnSpc>
              <a:spcBef>
                <a:spcPct val="0"/>
              </a:spcBef>
              <a:buFont typeface="Arial"/>
              <a:buChar char="•"/>
            </a:pPr>
            <a:r>
              <a:rPr lang="en-US" sz="2799">
                <a:solidFill>
                  <a:srgbClr val="FFFFFF"/>
                </a:solidFill>
                <a:latin typeface="Canva Sans"/>
                <a:ea typeface="Canva Sans"/>
                <a:cs typeface="Canva Sans"/>
                <a:sym typeface="Canva Sans"/>
              </a:rPr>
              <a:t>Cho kết quả ổn định với ảnh phức tạp và nhiều nhiễu</a:t>
            </a:r>
          </a:p>
          <a:p>
            <a:pPr algn="ctr">
              <a:lnSpc>
                <a:spcPts val="3919"/>
              </a:lnSpc>
              <a:spcBef>
                <a:spcPct val="0"/>
              </a:spcBef>
            </a:pPr>
          </a:p>
        </p:txBody>
      </p:sp>
      <p:sp>
        <p:nvSpPr>
          <p:cNvPr name="TextBox 15" id="15"/>
          <p:cNvSpPr txBox="true"/>
          <p:nvPr/>
        </p:nvSpPr>
        <p:spPr>
          <a:xfrm rot="0">
            <a:off x="2881253" y="1390749"/>
            <a:ext cx="5615734" cy="1235075"/>
          </a:xfrm>
          <a:prstGeom prst="rect">
            <a:avLst/>
          </a:prstGeom>
        </p:spPr>
        <p:txBody>
          <a:bodyPr anchor="t" rtlCol="false" tIns="0" lIns="0" bIns="0" rIns="0">
            <a:spAutoFit/>
          </a:bodyPr>
          <a:lstStyle/>
          <a:p>
            <a:pPr algn="l">
              <a:lnSpc>
                <a:spcPts val="4900"/>
              </a:lnSpc>
            </a:pPr>
            <a:r>
              <a:rPr lang="en-US" sz="3500" b="true">
                <a:solidFill>
                  <a:srgbClr val="FFFFFF"/>
                </a:solidFill>
                <a:latin typeface="Roboto Bold"/>
                <a:ea typeface="Roboto Bold"/>
                <a:cs typeface="Roboto Bold"/>
                <a:sym typeface="Roboto Bold"/>
              </a:rPr>
              <a:t>Mô hình sử dụng</a:t>
            </a:r>
          </a:p>
          <a:p>
            <a:pPr algn="l">
              <a:lnSpc>
                <a:spcPts val="4900"/>
              </a:lnSpc>
            </a:pPr>
          </a:p>
        </p:txBody>
      </p:sp>
      <p:sp>
        <p:nvSpPr>
          <p:cNvPr name="TextBox 16" id="16"/>
          <p:cNvSpPr txBox="true"/>
          <p:nvPr/>
        </p:nvSpPr>
        <p:spPr>
          <a:xfrm rot="0">
            <a:off x="2728289" y="315732"/>
            <a:ext cx="13342528" cy="1384300"/>
          </a:xfrm>
          <a:prstGeom prst="rect">
            <a:avLst/>
          </a:prstGeom>
        </p:spPr>
        <p:txBody>
          <a:bodyPr anchor="t" rtlCol="false" tIns="0" lIns="0" bIns="0" rIns="0">
            <a:spAutoFit/>
          </a:bodyPr>
          <a:lstStyle/>
          <a:p>
            <a:pPr algn="ctr">
              <a:lnSpc>
                <a:spcPts val="5599"/>
              </a:lnSpc>
            </a:pPr>
            <a:r>
              <a:rPr lang="en-US" sz="3999" spc="-39">
                <a:solidFill>
                  <a:srgbClr val="348BFF"/>
                </a:solidFill>
                <a:latin typeface="Roboto"/>
                <a:ea typeface="Roboto"/>
                <a:cs typeface="Roboto"/>
                <a:sym typeface="Roboto"/>
              </a:rPr>
              <a:t>PHÁT HIỆN LỖI MỐI HÀN BẰNG RT-DETR</a:t>
            </a:r>
          </a:p>
          <a:p>
            <a:pPr algn="ctr">
              <a:lnSpc>
                <a:spcPts val="5599"/>
              </a:lnSpc>
            </a:pPr>
          </a:p>
        </p:txBody>
      </p:sp>
      <p:sp>
        <p:nvSpPr>
          <p:cNvPr name="TextBox 17" id="17"/>
          <p:cNvSpPr txBox="true"/>
          <p:nvPr/>
        </p:nvSpPr>
        <p:spPr>
          <a:xfrm rot="0">
            <a:off x="2881253" y="2259330"/>
            <a:ext cx="14799033" cy="976630"/>
          </a:xfrm>
          <a:prstGeom prst="rect">
            <a:avLst/>
          </a:prstGeom>
        </p:spPr>
        <p:txBody>
          <a:bodyPr anchor="t" rtlCol="false" tIns="0" lIns="0" bIns="0" rIns="0">
            <a:spAutoFit/>
          </a:bodyPr>
          <a:lstStyle/>
          <a:p>
            <a:pPr algn="l">
              <a:lnSpc>
                <a:spcPts val="3919"/>
              </a:lnSpc>
              <a:spcBef>
                <a:spcPct val="0"/>
              </a:spcBef>
            </a:pPr>
            <a:r>
              <a:rPr lang="en-US" sz="2799">
                <a:solidFill>
                  <a:srgbClr val="FFFFFF"/>
                </a:solidFill>
                <a:latin typeface="Canva Sans"/>
                <a:ea typeface="Canva Sans"/>
                <a:cs typeface="Canva Sans"/>
                <a:sym typeface="Canva Sans"/>
              </a:rPr>
              <a:t>RT-DETR</a:t>
            </a:r>
            <a:r>
              <a:rPr lang="en-US" sz="2799">
                <a:solidFill>
                  <a:srgbClr val="FFFFFF"/>
                </a:solidFill>
                <a:latin typeface="Canva Sans"/>
                <a:ea typeface="Canva Sans"/>
                <a:cs typeface="Canva Sans"/>
                <a:sym typeface="Canva Sans"/>
              </a:rPr>
              <a:t> (Real-Time Detection Transformer) là mô hình phát hiện đối tượng dựa trên Transformer</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353856"/>
            <a:ext cx="18288000" cy="10109527"/>
            <a:chOff x="0" y="0"/>
            <a:chExt cx="4816593" cy="2662592"/>
          </a:xfrm>
        </p:grpSpPr>
        <p:sp>
          <p:nvSpPr>
            <p:cNvPr name="Freeform 4" id="4"/>
            <p:cNvSpPr/>
            <p:nvPr/>
          </p:nvSpPr>
          <p:spPr>
            <a:xfrm flipH="false" flipV="false" rot="0">
              <a:off x="0" y="0"/>
              <a:ext cx="4816592" cy="2662592"/>
            </a:xfrm>
            <a:custGeom>
              <a:avLst/>
              <a:gdLst/>
              <a:ahLst/>
              <a:cxnLst/>
              <a:rect r="r" b="b" t="t" l="l"/>
              <a:pathLst>
                <a:path h="2662592" w="4816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name="TextBox 5" id="5"/>
            <p:cNvSpPr txBox="true"/>
            <p:nvPr/>
          </p:nvSpPr>
          <p:spPr>
            <a:xfrm>
              <a:off x="0" y="-38100"/>
              <a:ext cx="4816593" cy="2700692"/>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626738" y="1225884"/>
            <a:ext cx="1480929" cy="1483627"/>
          </a:xfrm>
          <a:custGeom>
            <a:avLst/>
            <a:gdLst/>
            <a:ahLst/>
            <a:cxnLst/>
            <a:rect r="r" b="b" t="t" l="l"/>
            <a:pathLst>
              <a:path h="1483627" w="1480929">
                <a:moveTo>
                  <a:pt x="0" y="0"/>
                </a:moveTo>
                <a:lnTo>
                  <a:pt x="1480929" y="0"/>
                </a:lnTo>
                <a:lnTo>
                  <a:pt x="1480929" y="1483626"/>
                </a:lnTo>
                <a:lnTo>
                  <a:pt x="0" y="14836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true" flipV="true" rot="-10792239">
            <a:off x="-724606" y="8954135"/>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true" flipV="true" rot="-10792239">
            <a:off x="16612207" y="-936064"/>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9" id="9"/>
          <p:cNvGrpSpPr/>
          <p:nvPr/>
        </p:nvGrpSpPr>
        <p:grpSpPr>
          <a:xfrm rot="0">
            <a:off x="1028700" y="314559"/>
            <a:ext cx="560353" cy="652047"/>
            <a:chOff x="0" y="0"/>
            <a:chExt cx="698500" cy="812800"/>
          </a:xfrm>
        </p:grpSpPr>
        <p:sp>
          <p:nvSpPr>
            <p:cNvPr name="Freeform 10" id="10"/>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000000">
                <a:alpha val="0"/>
              </a:srgbClr>
            </a:solidFill>
            <a:ln w="95250" cap="sq">
              <a:solidFill>
                <a:srgbClr val="348BFF"/>
              </a:solidFill>
              <a:prstDash val="solid"/>
              <a:miter/>
            </a:ln>
          </p:spPr>
        </p:sp>
        <p:sp>
          <p:nvSpPr>
            <p:cNvPr name="TextBox 11" id="11"/>
            <p:cNvSpPr txBox="true"/>
            <p:nvPr/>
          </p:nvSpPr>
          <p:spPr>
            <a:xfrm>
              <a:off x="0" y="101600"/>
              <a:ext cx="698500" cy="571500"/>
            </a:xfrm>
            <a:prstGeom prst="rect">
              <a:avLst/>
            </a:prstGeom>
          </p:spPr>
          <p:txBody>
            <a:bodyPr anchor="ctr" rtlCol="false" tIns="27034" lIns="27034" bIns="27034" rIns="27034"/>
            <a:lstStyle/>
            <a:p>
              <a:pPr algn="ctr">
                <a:lnSpc>
                  <a:spcPts val="2659"/>
                </a:lnSpc>
              </a:pPr>
            </a:p>
          </p:txBody>
        </p:sp>
      </p:grpSp>
      <p:graphicFrame>
        <p:nvGraphicFramePr>
          <p:cNvPr name="Table 12" id="12"/>
          <p:cNvGraphicFramePr>
            <a:graphicFrameLocks noGrp="true"/>
          </p:cNvGraphicFramePr>
          <p:nvPr/>
        </p:nvGraphicFramePr>
        <p:xfrm>
          <a:off x="2375085" y="2485392"/>
          <a:ext cx="14628307" cy="7391400"/>
        </p:xfrm>
        <a:graphic>
          <a:graphicData uri="http://schemas.openxmlformats.org/drawingml/2006/table">
            <a:tbl>
              <a:tblPr/>
              <a:tblGrid>
                <a:gridCol w="5031426"/>
                <a:gridCol w="9596881"/>
              </a:tblGrid>
              <a:tr h="1024456">
                <a:tc>
                  <a:txBody>
                    <a:bodyPr anchor="t" rtlCol="false"/>
                    <a:lstStyle/>
                    <a:p>
                      <a:pPr algn="ctr">
                        <a:lnSpc>
                          <a:spcPts val="3640"/>
                        </a:lnSpc>
                        <a:defRPr/>
                      </a:pPr>
                      <a:r>
                        <a:rPr lang="en-US" sz="2600">
                          <a:solidFill>
                            <a:srgbClr val="428DFF"/>
                          </a:solidFill>
                          <a:latin typeface="Canva Sans"/>
                          <a:ea typeface="Canva Sans"/>
                          <a:cs typeface="Canva Sans"/>
                          <a:sym typeface="Canva Sans"/>
                        </a:rPr>
                        <a:t>Đặc điểm của YOLOv11x</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640"/>
                        </a:lnSpc>
                        <a:defRPr/>
                      </a:pPr>
                      <a:r>
                        <a:rPr lang="en-US" sz="2600">
                          <a:solidFill>
                            <a:srgbClr val="428DFF"/>
                          </a:solidFill>
                          <a:latin typeface="Canva Sans"/>
                          <a:ea typeface="Canva Sans"/>
                          <a:cs typeface="Canva Sans"/>
                          <a:sym typeface="Canva Sans"/>
                        </a:rPr>
                        <a:t>Lợi ích</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273389">
                <a:tc>
                  <a:txBody>
                    <a:bodyPr anchor="t" rtlCol="false"/>
                    <a:lstStyle/>
                    <a:p>
                      <a:pPr algn="l">
                        <a:lnSpc>
                          <a:spcPts val="3220"/>
                        </a:lnSpc>
                        <a:defRPr/>
                      </a:pPr>
                      <a:r>
                        <a:rPr lang="en-US" sz="2300">
                          <a:solidFill>
                            <a:srgbClr val="F2EDED"/>
                          </a:solidFill>
                          <a:latin typeface="Canva Sans"/>
                          <a:ea typeface="Canva Sans"/>
                          <a:cs typeface="Canva Sans"/>
                          <a:sym typeface="Canva Sans"/>
                        </a:rPr>
                        <a:t>Mô hình phát hiện đối tượng dựa trên Transformer</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3220"/>
                        </a:lnSpc>
                        <a:defRPr/>
                      </a:pPr>
                      <a:r>
                        <a:rPr lang="en-US" sz="2300">
                          <a:solidFill>
                            <a:srgbClr val="FFFFFF"/>
                          </a:solidFill>
                          <a:latin typeface="Canva Sans"/>
                          <a:ea typeface="Canva Sans"/>
                          <a:cs typeface="Canva Sans"/>
                          <a:sym typeface="Canva Sans"/>
                        </a:rPr>
                        <a:t>Học được ngữ cảnh toàn cục, giúp phân biệt khuyết tật với nền mối hàn phức tạp</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273389">
                <a:tc>
                  <a:txBody>
                    <a:bodyPr anchor="t" rtlCol="false"/>
                    <a:lstStyle/>
                    <a:p>
                      <a:pPr algn="l">
                        <a:lnSpc>
                          <a:spcPts val="3220"/>
                        </a:lnSpc>
                        <a:defRPr/>
                      </a:pPr>
                      <a:r>
                        <a:rPr lang="en-US" sz="2300">
                          <a:solidFill>
                            <a:srgbClr val="FFFFFF"/>
                          </a:solidFill>
                          <a:latin typeface="Canva Sans"/>
                          <a:ea typeface="Canva Sans"/>
                          <a:cs typeface="Canva Sans"/>
                          <a:sym typeface="Canva Sans"/>
                        </a:rPr>
                        <a:t>Kiến trúc Encoder–Decoder</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3220"/>
                        </a:lnSpc>
                        <a:defRPr/>
                      </a:pPr>
                      <a:r>
                        <a:rPr lang="en-US" sz="2300">
                          <a:solidFill>
                            <a:srgbClr val="FFFFFF"/>
                          </a:solidFill>
                          <a:latin typeface="Canva Sans"/>
                          <a:ea typeface="Canva Sans"/>
                          <a:cs typeface="Canva Sans"/>
                          <a:sym typeface="Canva Sans"/>
                        </a:rPr>
                        <a:t>Khả năng mô hình hóa mối quan hệ không gian giữa mối hàn và vùng lỗi</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273389">
                <a:tc>
                  <a:txBody>
                    <a:bodyPr anchor="t" rtlCol="false"/>
                    <a:lstStyle/>
                    <a:p>
                      <a:pPr algn="l">
                        <a:lnSpc>
                          <a:spcPts val="3220"/>
                        </a:lnSpc>
                        <a:defRPr/>
                      </a:pPr>
                      <a:r>
                        <a:rPr lang="en-US" sz="2300">
                          <a:solidFill>
                            <a:srgbClr val="F2EDED"/>
                          </a:solidFill>
                          <a:latin typeface="Canva Sans"/>
                          <a:ea typeface="Canva Sans"/>
                          <a:cs typeface="Canva Sans"/>
                          <a:sym typeface="Canva Sans"/>
                        </a:rPr>
                        <a:t>Không phụ thuộc hoàn toàn vào anchor box</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3220"/>
                        </a:lnSpc>
                        <a:defRPr/>
                      </a:pPr>
                      <a:r>
                        <a:rPr lang="en-US" sz="2300">
                          <a:solidFill>
                            <a:srgbClr val="FFFFFF"/>
                          </a:solidFill>
                          <a:latin typeface="Canva Sans"/>
                          <a:ea typeface="Canva Sans"/>
                          <a:cs typeface="Canva Sans"/>
                          <a:sym typeface="Canva Sans"/>
                        </a:rPr>
                        <a:t>Giảm</a:t>
                      </a:r>
                      <a:r>
                        <a:rPr lang="en-US" sz="2300">
                          <a:solidFill>
                            <a:srgbClr val="FFFFFF"/>
                          </a:solidFill>
                          <a:latin typeface="Canva Sans"/>
                          <a:ea typeface="Canva Sans"/>
                          <a:cs typeface="Canva Sans"/>
                          <a:sym typeface="Canva Sans"/>
                        </a:rPr>
                        <a:t> hiện tượng trùng lặp bounding box, kết quả phát hiện ổn định hơn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273389">
                <a:tc>
                  <a:txBody>
                    <a:bodyPr anchor="t" rtlCol="false"/>
                    <a:lstStyle/>
                    <a:p>
                      <a:pPr algn="l">
                        <a:lnSpc>
                          <a:spcPts val="3220"/>
                        </a:lnSpc>
                        <a:defRPr/>
                      </a:pPr>
                      <a:r>
                        <a:rPr lang="en-US" sz="2300">
                          <a:solidFill>
                            <a:srgbClr val="FFFFFF"/>
                          </a:solidFill>
                          <a:latin typeface="Canva Sans"/>
                          <a:ea typeface="Canva Sans"/>
                          <a:cs typeface="Canva Sans"/>
                          <a:sym typeface="Canva Sans"/>
                        </a:rPr>
                        <a:t>Cơ chế Attention toàn cục</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3220"/>
                        </a:lnSpc>
                        <a:defRPr/>
                      </a:pPr>
                      <a:r>
                        <a:rPr lang="en-US" sz="2300">
                          <a:solidFill>
                            <a:srgbClr val="F2EDED"/>
                          </a:solidFill>
                          <a:latin typeface="Canva Sans"/>
                          <a:ea typeface="Canva Sans"/>
                          <a:cs typeface="Canva Sans"/>
                          <a:sym typeface="Canva Sans"/>
                        </a:rPr>
                        <a:t>Nhận diện tốt các khuyết tật có hình dạng bất quy tắc</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273389">
                <a:tc>
                  <a:txBody>
                    <a:bodyPr anchor="t" rtlCol="false"/>
                    <a:lstStyle/>
                    <a:p>
                      <a:pPr algn="l">
                        <a:lnSpc>
                          <a:spcPts val="3220"/>
                        </a:lnSpc>
                        <a:defRPr/>
                      </a:pPr>
                      <a:r>
                        <a:rPr lang="en-US" sz="2300">
                          <a:solidFill>
                            <a:srgbClr val="FFFFFF"/>
                          </a:solidFill>
                          <a:latin typeface="Canva Sans"/>
                          <a:ea typeface="Canva Sans"/>
                          <a:cs typeface="Canva Sans"/>
                          <a:sym typeface="Canva Sans"/>
                        </a:rPr>
                        <a:t>Hoạt động hiệu quả với ảnh nhiễu và tương phản thấp</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3220"/>
                        </a:lnSpc>
                        <a:defRPr/>
                      </a:pPr>
                      <a:r>
                        <a:rPr lang="en-US" sz="2300">
                          <a:solidFill>
                            <a:srgbClr val="FFFFFF"/>
                          </a:solidFill>
                          <a:latin typeface="Canva Sans"/>
                          <a:ea typeface="Canva Sans"/>
                          <a:cs typeface="Canva Sans"/>
                          <a:sym typeface="Canva Sans"/>
                        </a:rPr>
                        <a:t>Phù hợp với đặc thù ảnh X-ray mối hàn công nghiệp</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sp>
        <p:nvSpPr>
          <p:cNvPr name="TextBox 13" id="13"/>
          <p:cNvSpPr txBox="true"/>
          <p:nvPr/>
        </p:nvSpPr>
        <p:spPr>
          <a:xfrm rot="0">
            <a:off x="2375085" y="1502559"/>
            <a:ext cx="5615734" cy="615950"/>
          </a:xfrm>
          <a:prstGeom prst="rect">
            <a:avLst/>
          </a:prstGeom>
        </p:spPr>
        <p:txBody>
          <a:bodyPr anchor="t" rtlCol="false" tIns="0" lIns="0" bIns="0" rIns="0">
            <a:spAutoFit/>
          </a:bodyPr>
          <a:lstStyle/>
          <a:p>
            <a:pPr algn="l">
              <a:lnSpc>
                <a:spcPts val="4900"/>
              </a:lnSpc>
            </a:pPr>
            <a:r>
              <a:rPr lang="en-US" sz="3500" b="true">
                <a:solidFill>
                  <a:srgbClr val="FFFFFF"/>
                </a:solidFill>
                <a:latin typeface="Roboto Bold"/>
                <a:ea typeface="Roboto Bold"/>
                <a:cs typeface="Roboto Bold"/>
                <a:sym typeface="Roboto Bold"/>
              </a:rPr>
              <a:t>Lý do sử dụng</a:t>
            </a:r>
          </a:p>
        </p:txBody>
      </p:sp>
      <p:sp>
        <p:nvSpPr>
          <p:cNvPr name="TextBox 14" id="14"/>
          <p:cNvSpPr txBox="true"/>
          <p:nvPr/>
        </p:nvSpPr>
        <p:spPr>
          <a:xfrm rot="0">
            <a:off x="2728289" y="315732"/>
            <a:ext cx="13342528" cy="679450"/>
          </a:xfrm>
          <a:prstGeom prst="rect">
            <a:avLst/>
          </a:prstGeom>
        </p:spPr>
        <p:txBody>
          <a:bodyPr anchor="t" rtlCol="false" tIns="0" lIns="0" bIns="0" rIns="0">
            <a:spAutoFit/>
          </a:bodyPr>
          <a:lstStyle/>
          <a:p>
            <a:pPr algn="ctr">
              <a:lnSpc>
                <a:spcPts val="5599"/>
              </a:lnSpc>
            </a:pPr>
            <a:r>
              <a:rPr lang="en-US" sz="3999" spc="-39">
                <a:solidFill>
                  <a:srgbClr val="348BFF"/>
                </a:solidFill>
                <a:latin typeface="Roboto"/>
                <a:ea typeface="Roboto"/>
                <a:cs typeface="Roboto"/>
                <a:sym typeface="Roboto"/>
              </a:rPr>
              <a:t>PHÁT HIỆN LỖI MỐI HÀN BẰNG RT-DETR</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4324847" y="1164485"/>
            <a:ext cx="9076861" cy="8911828"/>
          </a:xfrm>
          <a:custGeom>
            <a:avLst/>
            <a:gdLst/>
            <a:ahLst/>
            <a:cxnLst/>
            <a:rect r="r" b="b" t="t" l="l"/>
            <a:pathLst>
              <a:path h="8911828" w="9076861">
                <a:moveTo>
                  <a:pt x="0" y="0"/>
                </a:moveTo>
                <a:lnTo>
                  <a:pt x="9076861" y="0"/>
                </a:lnTo>
                <a:lnTo>
                  <a:pt x="9076861" y="8911827"/>
                </a:lnTo>
                <a:lnTo>
                  <a:pt x="0" y="89118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5321109" y="165100"/>
            <a:ext cx="7645781" cy="863600"/>
          </a:xfrm>
          <a:prstGeom prst="rect">
            <a:avLst/>
          </a:prstGeom>
        </p:spPr>
        <p:txBody>
          <a:bodyPr anchor="t" rtlCol="false" tIns="0" lIns="0" bIns="0" rIns="0">
            <a:spAutoFit/>
          </a:bodyPr>
          <a:lstStyle/>
          <a:p>
            <a:pPr algn="ctr">
              <a:lnSpc>
                <a:spcPts val="7000"/>
              </a:lnSpc>
            </a:pPr>
            <a:r>
              <a:rPr lang="en-US" sz="5000" spc="-50">
                <a:solidFill>
                  <a:srgbClr val="348BFF"/>
                </a:solidFill>
                <a:latin typeface="Roboto"/>
                <a:ea typeface="Roboto"/>
                <a:cs typeface="Roboto"/>
                <a:sym typeface="Roboto"/>
              </a:rPr>
              <a:t>HUẤN LUYỆN RT-DETR</a:t>
            </a:r>
          </a:p>
        </p:txBody>
      </p:sp>
      <p:sp>
        <p:nvSpPr>
          <p:cNvPr name="TextBox 5" id="5"/>
          <p:cNvSpPr txBox="true"/>
          <p:nvPr/>
        </p:nvSpPr>
        <p:spPr>
          <a:xfrm rot="0">
            <a:off x="6763299" y="2035903"/>
            <a:ext cx="1788795" cy="514350"/>
          </a:xfrm>
          <a:prstGeom prst="rect">
            <a:avLst/>
          </a:prstGeom>
        </p:spPr>
        <p:txBody>
          <a:bodyPr anchor="t" rtlCol="false" tIns="0" lIns="0" bIns="0" rIns="0">
            <a:spAutoFit/>
          </a:bodyPr>
          <a:lstStyle/>
          <a:p>
            <a:pPr algn="ctr">
              <a:lnSpc>
                <a:spcPts val="4200"/>
              </a:lnSpc>
            </a:pPr>
            <a:r>
              <a:rPr lang="en-US" sz="3000" b="true">
                <a:solidFill>
                  <a:srgbClr val="000000"/>
                </a:solidFill>
                <a:latin typeface="Noto Sans Bold"/>
                <a:ea typeface="Noto Sans Bold"/>
                <a:cs typeface="Noto Sans Bold"/>
                <a:sym typeface="Noto Sans Bold"/>
              </a:rPr>
              <a:t>i</a:t>
            </a:r>
            <a:r>
              <a:rPr lang="en-US" b="true" sz="3000">
                <a:solidFill>
                  <a:srgbClr val="000000"/>
                </a:solidFill>
                <a:latin typeface="Noto Sans Bold"/>
                <a:ea typeface="Noto Sans Bold"/>
                <a:cs typeface="Noto Sans Bold"/>
                <a:sym typeface="Noto Sans Bold"/>
              </a:rPr>
              <a:t>mgz=640</a:t>
            </a:r>
          </a:p>
        </p:txBody>
      </p:sp>
      <p:sp>
        <p:nvSpPr>
          <p:cNvPr name="TextBox 6" id="6"/>
          <p:cNvSpPr txBox="true"/>
          <p:nvPr/>
        </p:nvSpPr>
        <p:spPr>
          <a:xfrm rot="0">
            <a:off x="4489801" y="4107031"/>
            <a:ext cx="2019895" cy="514350"/>
          </a:xfrm>
          <a:prstGeom prst="rect">
            <a:avLst/>
          </a:prstGeom>
        </p:spPr>
        <p:txBody>
          <a:bodyPr anchor="t" rtlCol="false" tIns="0" lIns="0" bIns="0" rIns="0">
            <a:spAutoFit/>
          </a:bodyPr>
          <a:lstStyle/>
          <a:p>
            <a:pPr algn="ctr">
              <a:lnSpc>
                <a:spcPts val="4200"/>
              </a:lnSpc>
            </a:pPr>
            <a:r>
              <a:rPr lang="en-US" sz="3000" b="true">
                <a:solidFill>
                  <a:srgbClr val="000000"/>
                </a:solidFill>
                <a:latin typeface="Noto Sans Bold"/>
                <a:ea typeface="Noto Sans Bold"/>
                <a:cs typeface="Noto Sans Bold"/>
                <a:sym typeface="Noto Sans Bold"/>
              </a:rPr>
              <a:t>epoch=100</a:t>
            </a:r>
          </a:p>
        </p:txBody>
      </p:sp>
      <p:sp>
        <p:nvSpPr>
          <p:cNvPr name="TextBox 7" id="7"/>
          <p:cNvSpPr txBox="true"/>
          <p:nvPr/>
        </p:nvSpPr>
        <p:spPr>
          <a:xfrm rot="0">
            <a:off x="4889911" y="6882410"/>
            <a:ext cx="1518642" cy="514350"/>
          </a:xfrm>
          <a:prstGeom prst="rect">
            <a:avLst/>
          </a:prstGeom>
        </p:spPr>
        <p:txBody>
          <a:bodyPr anchor="t" rtlCol="false" tIns="0" lIns="0" bIns="0" rIns="0">
            <a:spAutoFit/>
          </a:bodyPr>
          <a:lstStyle/>
          <a:p>
            <a:pPr algn="ctr">
              <a:lnSpc>
                <a:spcPts val="4200"/>
              </a:lnSpc>
            </a:pPr>
            <a:r>
              <a:rPr lang="en-US" sz="3000" b="true">
                <a:solidFill>
                  <a:srgbClr val="000000"/>
                </a:solidFill>
                <a:latin typeface="Noto Sans Bold"/>
                <a:ea typeface="Noto Sans Bold"/>
                <a:cs typeface="Noto Sans Bold"/>
                <a:sym typeface="Noto Sans Bold"/>
              </a:rPr>
              <a:t>batch=6</a:t>
            </a:r>
          </a:p>
        </p:txBody>
      </p:sp>
      <p:sp>
        <p:nvSpPr>
          <p:cNvPr name="TextBox 8" id="8"/>
          <p:cNvSpPr txBox="true"/>
          <p:nvPr/>
        </p:nvSpPr>
        <p:spPr>
          <a:xfrm rot="0">
            <a:off x="6971943" y="8352902"/>
            <a:ext cx="2114907" cy="1047750"/>
          </a:xfrm>
          <a:prstGeom prst="rect">
            <a:avLst/>
          </a:prstGeom>
        </p:spPr>
        <p:txBody>
          <a:bodyPr anchor="t" rtlCol="false" tIns="0" lIns="0" bIns="0" rIns="0">
            <a:spAutoFit/>
          </a:bodyPr>
          <a:lstStyle/>
          <a:p>
            <a:pPr algn="ctr">
              <a:lnSpc>
                <a:spcPts val="4200"/>
              </a:lnSpc>
            </a:pPr>
            <a:r>
              <a:rPr lang="en-US" sz="3000" b="true">
                <a:solidFill>
                  <a:srgbClr val="000000"/>
                </a:solidFill>
                <a:latin typeface="Noto Sans Bold"/>
                <a:ea typeface="Noto Sans Bold"/>
                <a:cs typeface="Noto Sans Bold"/>
                <a:sym typeface="Noto Sans Bold"/>
              </a:rPr>
              <a:t>model</a:t>
            </a:r>
          </a:p>
          <a:p>
            <a:pPr algn="ctr">
              <a:lnSpc>
                <a:spcPts val="4200"/>
              </a:lnSpc>
            </a:pPr>
            <a:r>
              <a:rPr lang="en-US" sz="3000" b="true">
                <a:solidFill>
                  <a:srgbClr val="000000"/>
                </a:solidFill>
                <a:latin typeface="Noto Sans Bold"/>
                <a:ea typeface="Noto Sans Bold"/>
                <a:cs typeface="Noto Sans Bold"/>
                <a:sym typeface="Noto Sans Bold"/>
              </a:rPr>
              <a:t>=rtdetr-l.pt</a:t>
            </a:r>
          </a:p>
        </p:txBody>
      </p:sp>
      <p:sp>
        <p:nvSpPr>
          <p:cNvPr name="TextBox 9" id="9"/>
          <p:cNvSpPr txBox="true"/>
          <p:nvPr/>
        </p:nvSpPr>
        <p:spPr>
          <a:xfrm rot="0">
            <a:off x="10408170" y="7857602"/>
            <a:ext cx="1185982" cy="1047750"/>
          </a:xfrm>
          <a:prstGeom prst="rect">
            <a:avLst/>
          </a:prstGeom>
        </p:spPr>
        <p:txBody>
          <a:bodyPr anchor="t" rtlCol="false" tIns="0" lIns="0" bIns="0" rIns="0">
            <a:spAutoFit/>
          </a:bodyPr>
          <a:lstStyle/>
          <a:p>
            <a:pPr algn="ctr">
              <a:lnSpc>
                <a:spcPts val="4200"/>
              </a:lnSpc>
            </a:pPr>
            <a:r>
              <a:rPr lang="en-US" sz="3000" b="true">
                <a:solidFill>
                  <a:srgbClr val="000000"/>
                </a:solidFill>
                <a:latin typeface="Noto Sans Bold"/>
                <a:ea typeface="Noto Sans Bold"/>
                <a:cs typeface="Noto Sans Bold"/>
                <a:sym typeface="Noto Sans Bold"/>
              </a:rPr>
              <a:t>cos_lr</a:t>
            </a:r>
          </a:p>
          <a:p>
            <a:pPr algn="ctr">
              <a:lnSpc>
                <a:spcPts val="4200"/>
              </a:lnSpc>
            </a:pPr>
            <a:r>
              <a:rPr lang="en-US" sz="3000" b="true">
                <a:solidFill>
                  <a:srgbClr val="000000"/>
                </a:solidFill>
                <a:latin typeface="Noto Sans Bold"/>
                <a:ea typeface="Noto Sans Bold"/>
                <a:cs typeface="Noto Sans Bold"/>
                <a:sym typeface="Noto Sans Bold"/>
              </a:rPr>
              <a:t>= True</a:t>
            </a:r>
          </a:p>
        </p:txBody>
      </p:sp>
      <p:sp>
        <p:nvSpPr>
          <p:cNvPr name="TextBox 10" id="10"/>
          <p:cNvSpPr txBox="true"/>
          <p:nvPr/>
        </p:nvSpPr>
        <p:spPr>
          <a:xfrm rot="0">
            <a:off x="11347983" y="5413478"/>
            <a:ext cx="1932384" cy="514350"/>
          </a:xfrm>
          <a:prstGeom prst="rect">
            <a:avLst/>
          </a:prstGeom>
        </p:spPr>
        <p:txBody>
          <a:bodyPr anchor="t" rtlCol="false" tIns="0" lIns="0" bIns="0" rIns="0">
            <a:spAutoFit/>
          </a:bodyPr>
          <a:lstStyle/>
          <a:p>
            <a:pPr algn="ctr">
              <a:lnSpc>
                <a:spcPts val="4200"/>
              </a:lnSpc>
            </a:pPr>
            <a:r>
              <a:rPr lang="en-US" sz="3000" b="true">
                <a:solidFill>
                  <a:srgbClr val="000000"/>
                </a:solidFill>
                <a:latin typeface="Noto Sans Bold"/>
                <a:ea typeface="Noto Sans Bold"/>
                <a:cs typeface="Noto Sans Bold"/>
                <a:sym typeface="Noto Sans Bold"/>
              </a:rPr>
              <a:t>amp=True</a:t>
            </a:r>
          </a:p>
        </p:txBody>
      </p:sp>
      <p:sp>
        <p:nvSpPr>
          <p:cNvPr name="TextBox 11" id="11"/>
          <p:cNvSpPr txBox="true"/>
          <p:nvPr/>
        </p:nvSpPr>
        <p:spPr>
          <a:xfrm rot="0">
            <a:off x="9771371" y="2626453"/>
            <a:ext cx="1994535" cy="514350"/>
          </a:xfrm>
          <a:prstGeom prst="rect">
            <a:avLst/>
          </a:prstGeom>
        </p:spPr>
        <p:txBody>
          <a:bodyPr anchor="t" rtlCol="false" tIns="0" lIns="0" bIns="0" rIns="0">
            <a:spAutoFit/>
          </a:bodyPr>
          <a:lstStyle/>
          <a:p>
            <a:pPr algn="ctr">
              <a:lnSpc>
                <a:spcPts val="4200"/>
              </a:lnSpc>
            </a:pPr>
            <a:r>
              <a:rPr lang="en-US" sz="3000" b="true">
                <a:solidFill>
                  <a:srgbClr val="000000"/>
                </a:solidFill>
                <a:latin typeface="Noto Sans Bold"/>
                <a:ea typeface="Noto Sans Bold"/>
                <a:cs typeface="Noto Sans Bold"/>
                <a:sym typeface="Noto Sans Bold"/>
              </a:rPr>
              <a:t>workers=0</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229782" y="1483407"/>
            <a:ext cx="15088224" cy="7544112"/>
          </a:xfrm>
          <a:custGeom>
            <a:avLst/>
            <a:gdLst/>
            <a:ahLst/>
            <a:cxnLst/>
            <a:rect r="r" b="b" t="t" l="l"/>
            <a:pathLst>
              <a:path h="7544112" w="15088224">
                <a:moveTo>
                  <a:pt x="0" y="0"/>
                </a:moveTo>
                <a:lnTo>
                  <a:pt x="15088224" y="0"/>
                </a:lnTo>
                <a:lnTo>
                  <a:pt x="15088224" y="7544112"/>
                </a:lnTo>
                <a:lnTo>
                  <a:pt x="0" y="7544112"/>
                </a:lnTo>
                <a:lnTo>
                  <a:pt x="0" y="0"/>
                </a:lnTo>
                <a:close/>
              </a:path>
            </a:pathLst>
          </a:custGeom>
          <a:blipFill>
            <a:blip r:embed="rId3"/>
            <a:stretch>
              <a:fillRect l="0" t="0" r="0" b="0"/>
            </a:stretch>
          </a:blipFill>
        </p:spPr>
      </p:sp>
      <p:sp>
        <p:nvSpPr>
          <p:cNvPr name="TextBox 4" id="4"/>
          <p:cNvSpPr txBox="true"/>
          <p:nvPr/>
        </p:nvSpPr>
        <p:spPr>
          <a:xfrm rot="0">
            <a:off x="5321109" y="165100"/>
            <a:ext cx="7645781" cy="863600"/>
          </a:xfrm>
          <a:prstGeom prst="rect">
            <a:avLst/>
          </a:prstGeom>
        </p:spPr>
        <p:txBody>
          <a:bodyPr anchor="t" rtlCol="false" tIns="0" lIns="0" bIns="0" rIns="0">
            <a:spAutoFit/>
          </a:bodyPr>
          <a:lstStyle/>
          <a:p>
            <a:pPr algn="ctr">
              <a:lnSpc>
                <a:spcPts val="7000"/>
              </a:lnSpc>
            </a:pPr>
            <a:r>
              <a:rPr lang="en-US" sz="5000" spc="-50">
                <a:solidFill>
                  <a:srgbClr val="348BFF"/>
                </a:solidFill>
                <a:latin typeface="Roboto"/>
                <a:ea typeface="Roboto"/>
                <a:cs typeface="Roboto"/>
                <a:sym typeface="Roboto"/>
              </a:rPr>
              <a:t>HUẤN LUYỆN RT-DETR</a:t>
            </a:r>
          </a:p>
        </p:txBody>
      </p:sp>
      <p:sp>
        <p:nvSpPr>
          <p:cNvPr name="TextBox 5" id="5"/>
          <p:cNvSpPr txBox="true"/>
          <p:nvPr/>
        </p:nvSpPr>
        <p:spPr>
          <a:xfrm rot="0">
            <a:off x="6309241" y="9434602"/>
            <a:ext cx="5669518" cy="422275"/>
          </a:xfrm>
          <a:prstGeom prst="rect">
            <a:avLst/>
          </a:prstGeom>
        </p:spPr>
        <p:txBody>
          <a:bodyPr anchor="t" rtlCol="false" tIns="0" lIns="0" bIns="0" rIns="0">
            <a:spAutoFit/>
          </a:bodyPr>
          <a:lstStyle/>
          <a:p>
            <a:pPr algn="ctr">
              <a:lnSpc>
                <a:spcPts val="3499"/>
              </a:lnSpc>
              <a:spcBef>
                <a:spcPct val="0"/>
              </a:spcBef>
            </a:pPr>
            <a:r>
              <a:rPr lang="en-US" sz="2499">
                <a:solidFill>
                  <a:srgbClr val="FFFFFF"/>
                </a:solidFill>
                <a:latin typeface="Canva Sans"/>
                <a:ea typeface="Canva Sans"/>
                <a:cs typeface="Canva Sans"/>
                <a:sym typeface="Canva Sans"/>
              </a:rPr>
              <a:t>Kết quả huấn luyện mô hình RT-DETR</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3041327" y="2488547"/>
            <a:ext cx="12729862" cy="6488522"/>
          </a:xfrm>
          <a:custGeom>
            <a:avLst/>
            <a:gdLst/>
            <a:ahLst/>
            <a:cxnLst/>
            <a:rect r="r" b="b" t="t" l="l"/>
            <a:pathLst>
              <a:path h="6488522" w="12729862">
                <a:moveTo>
                  <a:pt x="0" y="0"/>
                </a:moveTo>
                <a:lnTo>
                  <a:pt x="12729862" y="0"/>
                </a:lnTo>
                <a:lnTo>
                  <a:pt x="12729862" y="6488522"/>
                </a:lnTo>
                <a:lnTo>
                  <a:pt x="0" y="6488522"/>
                </a:lnTo>
                <a:lnTo>
                  <a:pt x="0" y="0"/>
                </a:lnTo>
                <a:close/>
              </a:path>
            </a:pathLst>
          </a:custGeom>
          <a:blipFill>
            <a:blip r:embed="rId3"/>
            <a:stretch>
              <a:fillRect l="0" t="0" r="0" b="0"/>
            </a:stretch>
          </a:blipFill>
        </p:spPr>
      </p:sp>
      <p:sp>
        <p:nvSpPr>
          <p:cNvPr name="TextBox 4" id="4"/>
          <p:cNvSpPr txBox="true"/>
          <p:nvPr/>
        </p:nvSpPr>
        <p:spPr>
          <a:xfrm rot="0">
            <a:off x="5321109" y="165100"/>
            <a:ext cx="7645781" cy="863600"/>
          </a:xfrm>
          <a:prstGeom prst="rect">
            <a:avLst/>
          </a:prstGeom>
        </p:spPr>
        <p:txBody>
          <a:bodyPr anchor="t" rtlCol="false" tIns="0" lIns="0" bIns="0" rIns="0">
            <a:spAutoFit/>
          </a:bodyPr>
          <a:lstStyle/>
          <a:p>
            <a:pPr algn="ctr">
              <a:lnSpc>
                <a:spcPts val="7000"/>
              </a:lnSpc>
            </a:pPr>
            <a:r>
              <a:rPr lang="en-US" sz="5000" spc="-50">
                <a:solidFill>
                  <a:srgbClr val="348BFF"/>
                </a:solidFill>
                <a:latin typeface="Roboto"/>
                <a:ea typeface="Roboto"/>
                <a:cs typeface="Roboto"/>
                <a:sym typeface="Roboto"/>
              </a:rPr>
              <a:t>KIỂM THỬ RT-DETR</a:t>
            </a:r>
          </a:p>
        </p:txBody>
      </p:sp>
      <p:sp>
        <p:nvSpPr>
          <p:cNvPr name="TextBox 5" id="5"/>
          <p:cNvSpPr txBox="true"/>
          <p:nvPr/>
        </p:nvSpPr>
        <p:spPr>
          <a:xfrm rot="0">
            <a:off x="6485692" y="9434602"/>
            <a:ext cx="5316617" cy="422275"/>
          </a:xfrm>
          <a:prstGeom prst="rect">
            <a:avLst/>
          </a:prstGeom>
        </p:spPr>
        <p:txBody>
          <a:bodyPr anchor="t" rtlCol="false" tIns="0" lIns="0" bIns="0" rIns="0">
            <a:spAutoFit/>
          </a:bodyPr>
          <a:lstStyle/>
          <a:p>
            <a:pPr algn="ctr">
              <a:lnSpc>
                <a:spcPts val="3499"/>
              </a:lnSpc>
              <a:spcBef>
                <a:spcPct val="0"/>
              </a:spcBef>
            </a:pPr>
            <a:r>
              <a:rPr lang="en-US" sz="2499">
                <a:solidFill>
                  <a:srgbClr val="FFFFFF"/>
                </a:solidFill>
                <a:latin typeface="Canva Sans"/>
                <a:ea typeface="Canva Sans"/>
                <a:cs typeface="Canva Sans"/>
                <a:sym typeface="Canva Sans"/>
              </a:rPr>
              <a:t>Kết quả kiểm thử mô hình RT-DETR</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5493558" y="1441714"/>
            <a:ext cx="7300884" cy="7605087"/>
          </a:xfrm>
          <a:custGeom>
            <a:avLst/>
            <a:gdLst/>
            <a:ahLst/>
            <a:cxnLst/>
            <a:rect r="r" b="b" t="t" l="l"/>
            <a:pathLst>
              <a:path h="7605087" w="7300884">
                <a:moveTo>
                  <a:pt x="0" y="0"/>
                </a:moveTo>
                <a:lnTo>
                  <a:pt x="7300884" y="0"/>
                </a:lnTo>
                <a:lnTo>
                  <a:pt x="7300884" y="7605087"/>
                </a:lnTo>
                <a:lnTo>
                  <a:pt x="0" y="7605087"/>
                </a:lnTo>
                <a:lnTo>
                  <a:pt x="0" y="0"/>
                </a:lnTo>
                <a:close/>
              </a:path>
            </a:pathLst>
          </a:custGeom>
          <a:blipFill>
            <a:blip r:embed="rId3"/>
            <a:stretch>
              <a:fillRect l="0" t="0" r="0" b="0"/>
            </a:stretch>
          </a:blipFill>
        </p:spPr>
      </p:sp>
      <p:sp>
        <p:nvSpPr>
          <p:cNvPr name="TextBox 4" id="4"/>
          <p:cNvSpPr txBox="true"/>
          <p:nvPr/>
        </p:nvSpPr>
        <p:spPr>
          <a:xfrm rot="0">
            <a:off x="5321109" y="165100"/>
            <a:ext cx="7645781" cy="863600"/>
          </a:xfrm>
          <a:prstGeom prst="rect">
            <a:avLst/>
          </a:prstGeom>
        </p:spPr>
        <p:txBody>
          <a:bodyPr anchor="t" rtlCol="false" tIns="0" lIns="0" bIns="0" rIns="0">
            <a:spAutoFit/>
          </a:bodyPr>
          <a:lstStyle/>
          <a:p>
            <a:pPr algn="ctr">
              <a:lnSpc>
                <a:spcPts val="7000"/>
              </a:lnSpc>
            </a:pPr>
            <a:r>
              <a:rPr lang="en-US" sz="5000" spc="-50">
                <a:solidFill>
                  <a:srgbClr val="348BFF"/>
                </a:solidFill>
                <a:latin typeface="Roboto"/>
                <a:ea typeface="Roboto"/>
                <a:cs typeface="Roboto"/>
                <a:sym typeface="Roboto"/>
              </a:rPr>
              <a:t>KIỂM THỬ  RT-DETR</a:t>
            </a:r>
          </a:p>
        </p:txBody>
      </p:sp>
      <p:sp>
        <p:nvSpPr>
          <p:cNvPr name="TextBox 5" id="5"/>
          <p:cNvSpPr txBox="true"/>
          <p:nvPr/>
        </p:nvSpPr>
        <p:spPr>
          <a:xfrm rot="0">
            <a:off x="6485692" y="9412190"/>
            <a:ext cx="5316617" cy="422275"/>
          </a:xfrm>
          <a:prstGeom prst="rect">
            <a:avLst/>
          </a:prstGeom>
        </p:spPr>
        <p:txBody>
          <a:bodyPr anchor="t" rtlCol="false" tIns="0" lIns="0" bIns="0" rIns="0">
            <a:spAutoFit/>
          </a:bodyPr>
          <a:lstStyle/>
          <a:p>
            <a:pPr algn="ctr">
              <a:lnSpc>
                <a:spcPts val="3499"/>
              </a:lnSpc>
              <a:spcBef>
                <a:spcPct val="0"/>
              </a:spcBef>
            </a:pPr>
            <a:r>
              <a:rPr lang="en-US" sz="2499">
                <a:solidFill>
                  <a:srgbClr val="FFFFFF"/>
                </a:solidFill>
                <a:latin typeface="Canva Sans"/>
                <a:ea typeface="Canva Sans"/>
                <a:cs typeface="Canva Sans"/>
                <a:sym typeface="Canva Sans"/>
              </a:rPr>
              <a:t>Kết quả kiểm thử mô hình RT-DETR</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aphicFrame>
        <p:nvGraphicFramePr>
          <p:cNvPr name="Object 3" id="3"/>
          <p:cNvGraphicFramePr/>
          <p:nvPr/>
        </p:nvGraphicFramePr>
        <p:xfrm>
          <a:off x="934571" y="1396253"/>
          <a:ext cx="7543800" cy="5029200"/>
        </p:xfrm>
        <a:graphic>
          <a:graphicData uri="http://schemas.openxmlformats.org/presentationml/2006/ole">
            <p:oleObj imgW="9042400" imgH="65278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4" id="4"/>
          <p:cNvSpPr txBox="true"/>
          <p:nvPr/>
        </p:nvSpPr>
        <p:spPr>
          <a:xfrm rot="0">
            <a:off x="5321109" y="165100"/>
            <a:ext cx="7645781" cy="863600"/>
          </a:xfrm>
          <a:prstGeom prst="rect">
            <a:avLst/>
          </a:prstGeom>
        </p:spPr>
        <p:txBody>
          <a:bodyPr anchor="t" rtlCol="false" tIns="0" lIns="0" bIns="0" rIns="0">
            <a:spAutoFit/>
          </a:bodyPr>
          <a:lstStyle/>
          <a:p>
            <a:pPr algn="ctr">
              <a:lnSpc>
                <a:spcPts val="7000"/>
              </a:lnSpc>
            </a:pPr>
            <a:r>
              <a:rPr lang="en-US" sz="5000" spc="-50">
                <a:solidFill>
                  <a:srgbClr val="348BFF"/>
                </a:solidFill>
                <a:latin typeface="Roboto"/>
                <a:ea typeface="Roboto"/>
                <a:cs typeface="Roboto"/>
                <a:sym typeface="Roboto"/>
              </a:rPr>
              <a:t>SO SÁNH 3 MÔ HÌNH</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aphicFrame>
        <p:nvGraphicFramePr>
          <p:cNvPr name="Object 3" id="3"/>
          <p:cNvGraphicFramePr/>
          <p:nvPr/>
        </p:nvGraphicFramePr>
        <p:xfrm>
          <a:off x="934571" y="1485900"/>
          <a:ext cx="7543800" cy="5029200"/>
        </p:xfrm>
        <a:graphic>
          <a:graphicData uri="http://schemas.openxmlformats.org/presentationml/2006/ole">
            <p:oleObj imgW="9042400" imgH="65278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4" id="4"/>
          <p:cNvSpPr txBox="true"/>
          <p:nvPr/>
        </p:nvSpPr>
        <p:spPr>
          <a:xfrm rot="0">
            <a:off x="5321109" y="165100"/>
            <a:ext cx="7645781" cy="863600"/>
          </a:xfrm>
          <a:prstGeom prst="rect">
            <a:avLst/>
          </a:prstGeom>
        </p:spPr>
        <p:txBody>
          <a:bodyPr anchor="t" rtlCol="false" tIns="0" lIns="0" bIns="0" rIns="0">
            <a:spAutoFit/>
          </a:bodyPr>
          <a:lstStyle/>
          <a:p>
            <a:pPr algn="ctr">
              <a:lnSpc>
                <a:spcPts val="7000"/>
              </a:lnSpc>
            </a:pPr>
            <a:r>
              <a:rPr lang="en-US" sz="5000" spc="-50">
                <a:solidFill>
                  <a:srgbClr val="348BFF"/>
                </a:solidFill>
                <a:latin typeface="Roboto"/>
                <a:ea typeface="Roboto"/>
                <a:cs typeface="Roboto"/>
                <a:sym typeface="Roboto"/>
              </a:rPr>
              <a:t>SO SÁNH 3 MÔ HÌNH</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750794" y="6329082"/>
            <a:ext cx="4628098" cy="4114800"/>
          </a:xfrm>
          <a:custGeom>
            <a:avLst/>
            <a:gdLst/>
            <a:ahLst/>
            <a:cxnLst/>
            <a:rect r="r" b="b" t="t" l="l"/>
            <a:pathLst>
              <a:path h="4114800" w="4628098">
                <a:moveTo>
                  <a:pt x="0" y="0"/>
                </a:moveTo>
                <a:lnTo>
                  <a:pt x="4628098" y="0"/>
                </a:lnTo>
                <a:lnTo>
                  <a:pt x="4628098"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5321109" y="165100"/>
            <a:ext cx="7645781" cy="863600"/>
          </a:xfrm>
          <a:prstGeom prst="rect">
            <a:avLst/>
          </a:prstGeom>
        </p:spPr>
        <p:txBody>
          <a:bodyPr anchor="t" rtlCol="false" tIns="0" lIns="0" bIns="0" rIns="0">
            <a:spAutoFit/>
          </a:bodyPr>
          <a:lstStyle/>
          <a:p>
            <a:pPr algn="ctr">
              <a:lnSpc>
                <a:spcPts val="7000"/>
              </a:lnSpc>
            </a:pPr>
            <a:r>
              <a:rPr lang="en-US" sz="5000" spc="-50">
                <a:solidFill>
                  <a:srgbClr val="348BFF"/>
                </a:solidFill>
                <a:latin typeface="Roboto"/>
                <a:ea typeface="Roboto"/>
                <a:cs typeface="Roboto"/>
                <a:sym typeface="Roboto"/>
              </a:rPr>
              <a:t>MÔ HÌNH LỰA CHỌN</a:t>
            </a:r>
          </a:p>
        </p:txBody>
      </p:sp>
      <p:sp>
        <p:nvSpPr>
          <p:cNvPr name="TextBox 5" id="5"/>
          <p:cNvSpPr txBox="true"/>
          <p:nvPr/>
        </p:nvSpPr>
        <p:spPr>
          <a:xfrm rot="0">
            <a:off x="1119471" y="1675279"/>
            <a:ext cx="15645646" cy="587375"/>
          </a:xfrm>
          <a:prstGeom prst="rect">
            <a:avLst/>
          </a:prstGeom>
        </p:spPr>
        <p:txBody>
          <a:bodyPr anchor="t" rtlCol="false" tIns="0" lIns="0" bIns="0" rIns="0">
            <a:spAutoFit/>
          </a:bodyPr>
          <a:lstStyle/>
          <a:p>
            <a:pPr algn="ctr">
              <a:lnSpc>
                <a:spcPts val="4899"/>
              </a:lnSpc>
              <a:spcBef>
                <a:spcPct val="0"/>
              </a:spcBef>
            </a:pPr>
            <a:r>
              <a:rPr lang="en-US" b="true" sz="3499">
                <a:solidFill>
                  <a:srgbClr val="FF5757"/>
                </a:solidFill>
                <a:latin typeface="Noto Sans Bold"/>
                <a:ea typeface="Noto Sans Bold"/>
                <a:cs typeface="Noto Sans Bold"/>
                <a:sym typeface="Noto Sans Bold"/>
              </a:rPr>
              <a:t> YOLOv8s là lựa chọn tố</a:t>
            </a:r>
            <a:r>
              <a:rPr lang="en-US" b="true" sz="3499">
                <a:solidFill>
                  <a:srgbClr val="FF5757"/>
                </a:solidFill>
                <a:latin typeface="Noto Sans Bold"/>
                <a:ea typeface="Noto Sans Bold"/>
                <a:cs typeface="Noto Sans Bold"/>
                <a:sym typeface="Noto Sans Bold"/>
              </a:rPr>
              <a:t>i ưu giữa độ chính xác – tốc độ – tính thực tiễn.</a:t>
            </a:r>
          </a:p>
        </p:txBody>
      </p:sp>
      <p:sp>
        <p:nvSpPr>
          <p:cNvPr name="Freeform 6" id="6"/>
          <p:cNvSpPr/>
          <p:nvPr/>
        </p:nvSpPr>
        <p:spPr>
          <a:xfrm flipH="false" flipV="false" rot="0">
            <a:off x="3185102" y="2189629"/>
            <a:ext cx="13387649" cy="8097371"/>
          </a:xfrm>
          <a:custGeom>
            <a:avLst/>
            <a:gdLst/>
            <a:ahLst/>
            <a:cxnLst/>
            <a:rect r="r" b="b" t="t" l="l"/>
            <a:pathLst>
              <a:path h="8097371" w="13387649">
                <a:moveTo>
                  <a:pt x="0" y="0"/>
                </a:moveTo>
                <a:lnTo>
                  <a:pt x="13387649" y="0"/>
                </a:lnTo>
                <a:lnTo>
                  <a:pt x="13387649" y="8097371"/>
                </a:lnTo>
                <a:lnTo>
                  <a:pt x="0" y="8097371"/>
                </a:lnTo>
                <a:lnTo>
                  <a:pt x="0" y="0"/>
                </a:lnTo>
                <a:close/>
              </a:path>
            </a:pathLst>
          </a:custGeom>
          <a:blipFill>
            <a:blip r:embed="rId5"/>
            <a:stretch>
              <a:fillRect l="-1512" t="0" r="-1512" b="0"/>
            </a:stretch>
          </a:blipFill>
        </p:spPr>
      </p:sp>
      <p:sp>
        <p:nvSpPr>
          <p:cNvPr name="TextBox 7" id="7"/>
          <p:cNvSpPr txBox="true"/>
          <p:nvPr/>
        </p:nvSpPr>
        <p:spPr>
          <a:xfrm rot="0">
            <a:off x="6248008" y="2843680"/>
            <a:ext cx="9544492" cy="1893570"/>
          </a:xfrm>
          <a:prstGeom prst="rect">
            <a:avLst/>
          </a:prstGeom>
        </p:spPr>
        <p:txBody>
          <a:bodyPr anchor="t" rtlCol="false" tIns="0" lIns="0" bIns="0" rIns="0">
            <a:spAutoFit/>
          </a:bodyPr>
          <a:lstStyle/>
          <a:p>
            <a:pPr algn="l">
              <a:lnSpc>
                <a:spcPts val="3779"/>
              </a:lnSpc>
              <a:spcBef>
                <a:spcPct val="0"/>
              </a:spcBef>
            </a:pPr>
            <a:r>
              <a:rPr lang="en-US" b="true" sz="2700">
                <a:solidFill>
                  <a:srgbClr val="000000"/>
                </a:solidFill>
                <a:latin typeface="Canva Sans Bold"/>
                <a:ea typeface="Canva Sans Bold"/>
                <a:cs typeface="Canva Sans Bold"/>
                <a:sym typeface="Canva Sans Bold"/>
              </a:rPr>
              <a:t>K</a:t>
            </a:r>
            <a:r>
              <a:rPr lang="en-US" b="true" sz="2700">
                <a:solidFill>
                  <a:srgbClr val="000000"/>
                </a:solidFill>
                <a:latin typeface="Canva Sans Bold"/>
                <a:ea typeface="Canva Sans Bold"/>
                <a:cs typeface="Canva Sans Bold"/>
                <a:sym typeface="Canva Sans Bold"/>
              </a:rPr>
              <a:t>iến trúc gọn nhẹ, one-stage → tốc độ cao, ổn định, phù hợp triển khai thực tế</a:t>
            </a:r>
          </a:p>
          <a:p>
            <a:pPr algn="l">
              <a:lnSpc>
                <a:spcPts val="3779"/>
              </a:lnSpc>
              <a:spcBef>
                <a:spcPct val="0"/>
              </a:spcBef>
            </a:pPr>
            <a:r>
              <a:rPr lang="en-US" b="true" sz="2700">
                <a:solidFill>
                  <a:srgbClr val="000000"/>
                </a:solidFill>
                <a:latin typeface="Canva Sans Bold"/>
                <a:ea typeface="Canva Sans Bold"/>
                <a:cs typeface="Canva Sans Bold"/>
                <a:sym typeface="Canva Sans Bold"/>
              </a:rPr>
              <a:t>Hội tụ nhanh, loss giảm đều → huấn luyện ổn định, không overfitting</a:t>
            </a:r>
          </a:p>
        </p:txBody>
      </p:sp>
      <p:sp>
        <p:nvSpPr>
          <p:cNvPr name="TextBox 8" id="8"/>
          <p:cNvSpPr txBox="true"/>
          <p:nvPr/>
        </p:nvSpPr>
        <p:spPr>
          <a:xfrm rot="0">
            <a:off x="6248008" y="5318275"/>
            <a:ext cx="9544492" cy="1893570"/>
          </a:xfrm>
          <a:prstGeom prst="rect">
            <a:avLst/>
          </a:prstGeom>
        </p:spPr>
        <p:txBody>
          <a:bodyPr anchor="t" rtlCol="false" tIns="0" lIns="0" bIns="0" rIns="0">
            <a:spAutoFit/>
          </a:bodyPr>
          <a:lstStyle/>
          <a:p>
            <a:pPr algn="l">
              <a:lnSpc>
                <a:spcPts val="3779"/>
              </a:lnSpc>
              <a:spcBef>
                <a:spcPct val="0"/>
              </a:spcBef>
            </a:pPr>
            <a:r>
              <a:rPr lang="en-US" b="true" sz="2700">
                <a:solidFill>
                  <a:srgbClr val="000000"/>
                </a:solidFill>
                <a:latin typeface="Canva Sans Bold"/>
                <a:ea typeface="Canva Sans Bold"/>
                <a:cs typeface="Canva Sans Bold"/>
                <a:sym typeface="Canva Sans Bold"/>
              </a:rPr>
              <a:t>Prec</a:t>
            </a:r>
            <a:r>
              <a:rPr lang="en-US" b="true" sz="2700">
                <a:solidFill>
                  <a:srgbClr val="000000"/>
                </a:solidFill>
                <a:latin typeface="Canva Sans Bold"/>
                <a:ea typeface="Canva Sans Bold"/>
                <a:cs typeface="Canva Sans Bold"/>
                <a:sym typeface="Canva Sans Bold"/>
              </a:rPr>
              <a:t>ision rất cao (~0.95) → giảm cảnh báo giả, phù hợp môi trường công nghiệp</a:t>
            </a:r>
          </a:p>
          <a:p>
            <a:pPr algn="l">
              <a:lnSpc>
                <a:spcPts val="3779"/>
              </a:lnSpc>
              <a:spcBef>
                <a:spcPct val="0"/>
              </a:spcBef>
            </a:pPr>
            <a:r>
              <a:rPr lang="en-US" b="true" sz="2700">
                <a:solidFill>
                  <a:srgbClr val="000000"/>
                </a:solidFill>
                <a:latin typeface="Canva Sans Bold"/>
                <a:ea typeface="Canva Sans Bold"/>
                <a:cs typeface="Canva Sans Bold"/>
                <a:sym typeface="Canva Sans Bold"/>
              </a:rPr>
              <a:t>mAP@0.5 và mAP@0.5–0.95 cao nhất → định vị chính xác trên nhiều ngưỡng IoU</a:t>
            </a:r>
          </a:p>
        </p:txBody>
      </p:sp>
      <p:sp>
        <p:nvSpPr>
          <p:cNvPr name="TextBox 9" id="9"/>
          <p:cNvSpPr txBox="true"/>
          <p:nvPr/>
        </p:nvSpPr>
        <p:spPr>
          <a:xfrm rot="0">
            <a:off x="6248008" y="7745245"/>
            <a:ext cx="9544492" cy="1893570"/>
          </a:xfrm>
          <a:prstGeom prst="rect">
            <a:avLst/>
          </a:prstGeom>
        </p:spPr>
        <p:txBody>
          <a:bodyPr anchor="t" rtlCol="false" tIns="0" lIns="0" bIns="0" rIns="0">
            <a:spAutoFit/>
          </a:bodyPr>
          <a:lstStyle/>
          <a:p>
            <a:pPr algn="l">
              <a:lnSpc>
                <a:spcPts val="3779"/>
              </a:lnSpc>
              <a:spcBef>
                <a:spcPct val="0"/>
              </a:spcBef>
            </a:pPr>
            <a:r>
              <a:rPr lang="en-US" b="true" sz="2700">
                <a:solidFill>
                  <a:srgbClr val="000000"/>
                </a:solidFill>
                <a:latin typeface="Canva Sans Bold"/>
                <a:ea typeface="Canva Sans Bold"/>
                <a:cs typeface="Canva Sans Bold"/>
                <a:sym typeface="Canva Sans Bold"/>
              </a:rPr>
              <a:t>FP</a:t>
            </a:r>
            <a:r>
              <a:rPr lang="en-US" b="true" sz="2700">
                <a:solidFill>
                  <a:srgbClr val="000000"/>
                </a:solidFill>
                <a:latin typeface="Canva Sans Bold"/>
                <a:ea typeface="Canva Sans Bold"/>
                <a:cs typeface="Canva Sans Bold"/>
                <a:sym typeface="Canva Sans Bold"/>
              </a:rPr>
              <a:t> thấp, FN chấp nhận được → độ tin cậy cao khi vận hành</a:t>
            </a:r>
          </a:p>
          <a:p>
            <a:pPr algn="l">
              <a:lnSpc>
                <a:spcPts val="3779"/>
              </a:lnSpc>
              <a:spcBef>
                <a:spcPct val="0"/>
              </a:spcBef>
            </a:pPr>
            <a:r>
              <a:rPr lang="en-US" b="true" sz="2700">
                <a:solidFill>
                  <a:srgbClr val="000000"/>
                </a:solidFill>
                <a:latin typeface="Canva Sans Bold"/>
                <a:ea typeface="Canva Sans Bold"/>
                <a:cs typeface="Canva Sans Bold"/>
                <a:sym typeface="Canva Sans Bold"/>
              </a:rPr>
              <a:t>Yêu cầu phần cứng thấp, dễ tích hợp → sẵn sàng cho ứng dụng kiểm tra mối hàn thực tế</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18288000" cy="10109527"/>
            <a:chOff x="0" y="0"/>
            <a:chExt cx="4816593" cy="2662592"/>
          </a:xfrm>
        </p:grpSpPr>
        <p:sp>
          <p:nvSpPr>
            <p:cNvPr name="Freeform 4" id="4"/>
            <p:cNvSpPr/>
            <p:nvPr/>
          </p:nvSpPr>
          <p:spPr>
            <a:xfrm flipH="false" flipV="false" rot="0">
              <a:off x="0" y="0"/>
              <a:ext cx="4816592" cy="2662592"/>
            </a:xfrm>
            <a:custGeom>
              <a:avLst/>
              <a:gdLst/>
              <a:ahLst/>
              <a:cxnLst/>
              <a:rect r="r" b="b" t="t" l="l"/>
              <a:pathLst>
                <a:path h="2662592" w="4816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name="TextBox 5" id="5"/>
            <p:cNvSpPr txBox="true"/>
            <p:nvPr/>
          </p:nvSpPr>
          <p:spPr>
            <a:xfrm>
              <a:off x="0" y="-38100"/>
              <a:ext cx="4816593" cy="2700692"/>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true" flipV="true" rot="-10792239">
            <a:off x="-724606" y="8954135"/>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true" flipV="true" rot="-10792239">
            <a:off x="16612207" y="-936064"/>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1028700" y="314559"/>
            <a:ext cx="560353" cy="652047"/>
            <a:chOff x="0" y="0"/>
            <a:chExt cx="698500" cy="812800"/>
          </a:xfrm>
        </p:grpSpPr>
        <p:sp>
          <p:nvSpPr>
            <p:cNvPr name="Freeform 9" id="9"/>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000000">
                <a:alpha val="0"/>
              </a:srgbClr>
            </a:solidFill>
            <a:ln w="95250" cap="sq">
              <a:solidFill>
                <a:srgbClr val="348BFF"/>
              </a:solidFill>
              <a:prstDash val="solid"/>
              <a:miter/>
            </a:ln>
          </p:spPr>
        </p:sp>
        <p:sp>
          <p:nvSpPr>
            <p:cNvPr name="TextBox 10" id="10"/>
            <p:cNvSpPr txBox="true"/>
            <p:nvPr/>
          </p:nvSpPr>
          <p:spPr>
            <a:xfrm>
              <a:off x="0" y="101600"/>
              <a:ext cx="698500" cy="571500"/>
            </a:xfrm>
            <a:prstGeom prst="rect">
              <a:avLst/>
            </a:prstGeom>
          </p:spPr>
          <p:txBody>
            <a:bodyPr anchor="ctr" rtlCol="false" tIns="27034" lIns="27034" bIns="27034" rIns="27034"/>
            <a:lstStyle/>
            <a:p>
              <a:pPr algn="ctr">
                <a:lnSpc>
                  <a:spcPts val="2659"/>
                </a:lnSpc>
              </a:pPr>
            </a:p>
          </p:txBody>
        </p:sp>
      </p:grpSp>
      <p:grpSp>
        <p:nvGrpSpPr>
          <p:cNvPr name="Group 11" id="11"/>
          <p:cNvGrpSpPr/>
          <p:nvPr/>
        </p:nvGrpSpPr>
        <p:grpSpPr>
          <a:xfrm rot="0">
            <a:off x="9940424" y="2431579"/>
            <a:ext cx="7702125" cy="5246370"/>
            <a:chOff x="0" y="0"/>
            <a:chExt cx="5593410" cy="3810000"/>
          </a:xfrm>
        </p:grpSpPr>
        <p:sp>
          <p:nvSpPr>
            <p:cNvPr name="Freeform 12" id="12"/>
            <p:cNvSpPr/>
            <p:nvPr/>
          </p:nvSpPr>
          <p:spPr>
            <a:xfrm flipH="false" flipV="false" rot="0">
              <a:off x="0" y="0"/>
              <a:ext cx="5593410" cy="3810000"/>
            </a:xfrm>
            <a:custGeom>
              <a:avLst/>
              <a:gdLst/>
              <a:ahLst/>
              <a:cxnLst/>
              <a:rect r="r" b="b" t="t" l="l"/>
              <a:pathLst>
                <a:path h="3810000" w="5593410">
                  <a:moveTo>
                    <a:pt x="0" y="3175000"/>
                  </a:moveTo>
                  <a:lnTo>
                    <a:pt x="0" y="635000"/>
                  </a:lnTo>
                  <a:cubicBezTo>
                    <a:pt x="0" y="284480"/>
                    <a:pt x="250585" y="0"/>
                    <a:pt x="559341" y="0"/>
                  </a:cubicBezTo>
                  <a:lnTo>
                    <a:pt x="5034069" y="0"/>
                  </a:lnTo>
                  <a:cubicBezTo>
                    <a:pt x="5342825" y="0"/>
                    <a:pt x="5593410" y="284480"/>
                    <a:pt x="5593410" y="635000"/>
                  </a:cubicBezTo>
                  <a:lnTo>
                    <a:pt x="5593410" y="3175000"/>
                  </a:lnTo>
                  <a:cubicBezTo>
                    <a:pt x="5593410" y="3525520"/>
                    <a:pt x="5342825" y="3810000"/>
                    <a:pt x="5034069" y="3810000"/>
                  </a:cubicBezTo>
                  <a:lnTo>
                    <a:pt x="559341" y="3810000"/>
                  </a:lnTo>
                  <a:cubicBezTo>
                    <a:pt x="250585" y="3810000"/>
                    <a:pt x="0" y="3525520"/>
                    <a:pt x="0" y="3175000"/>
                  </a:cubicBezTo>
                  <a:close/>
                </a:path>
              </a:pathLst>
            </a:custGeom>
            <a:blipFill>
              <a:blip r:embed="rId5"/>
              <a:stretch>
                <a:fillRect l="0" t="-15566" r="0" b="-15566"/>
              </a:stretch>
            </a:blipFill>
          </p:spPr>
        </p:sp>
      </p:grpSp>
      <p:sp>
        <p:nvSpPr>
          <p:cNvPr name="TextBox 13" id="13"/>
          <p:cNvSpPr txBox="true"/>
          <p:nvPr/>
        </p:nvSpPr>
        <p:spPr>
          <a:xfrm rot="0">
            <a:off x="5435017" y="413985"/>
            <a:ext cx="7645781" cy="863600"/>
          </a:xfrm>
          <a:prstGeom prst="rect">
            <a:avLst/>
          </a:prstGeom>
        </p:spPr>
        <p:txBody>
          <a:bodyPr anchor="t" rtlCol="false" tIns="0" lIns="0" bIns="0" rIns="0">
            <a:spAutoFit/>
          </a:bodyPr>
          <a:lstStyle/>
          <a:p>
            <a:pPr algn="ctr">
              <a:lnSpc>
                <a:spcPts val="7000"/>
              </a:lnSpc>
            </a:pPr>
            <a:r>
              <a:rPr lang="en-US" sz="5000" spc="-50">
                <a:solidFill>
                  <a:srgbClr val="348BFF"/>
                </a:solidFill>
                <a:latin typeface="Roboto"/>
                <a:ea typeface="Roboto"/>
                <a:cs typeface="Roboto"/>
                <a:sym typeface="Roboto"/>
              </a:rPr>
              <a:t>PHÁT HIỆN LỖI</a:t>
            </a:r>
          </a:p>
        </p:txBody>
      </p:sp>
      <p:sp>
        <p:nvSpPr>
          <p:cNvPr name="TextBox 14" id="14"/>
          <p:cNvSpPr txBox="true"/>
          <p:nvPr/>
        </p:nvSpPr>
        <p:spPr>
          <a:xfrm rot="0">
            <a:off x="1028700" y="1971839"/>
            <a:ext cx="8229207" cy="6118225"/>
          </a:xfrm>
          <a:prstGeom prst="rect">
            <a:avLst/>
          </a:prstGeom>
        </p:spPr>
        <p:txBody>
          <a:bodyPr anchor="t" rtlCol="false" tIns="0" lIns="0" bIns="0" rIns="0">
            <a:spAutoFit/>
          </a:bodyPr>
          <a:lstStyle/>
          <a:p>
            <a:pPr algn="l" marL="539749" indent="-269875" lvl="1">
              <a:lnSpc>
                <a:spcPts val="3499"/>
              </a:lnSpc>
              <a:spcBef>
                <a:spcPct val="0"/>
              </a:spcBef>
              <a:buFont typeface="Arial"/>
              <a:buChar char="•"/>
            </a:pPr>
            <a:r>
              <a:rPr lang="en-US" sz="2499">
                <a:solidFill>
                  <a:srgbClr val="FFFFFF"/>
                </a:solidFill>
                <a:latin typeface="Canva Sans"/>
                <a:ea typeface="Canva Sans"/>
                <a:cs typeface="Canva Sans"/>
                <a:sym typeface="Canva Sans"/>
              </a:rPr>
              <a:t>Ảnh X-ray đầu vào được resize và chuẩn hóa.</a:t>
            </a:r>
          </a:p>
          <a:p>
            <a:pPr algn="l">
              <a:lnSpc>
                <a:spcPts val="3499"/>
              </a:lnSpc>
              <a:spcBef>
                <a:spcPct val="0"/>
              </a:spcBef>
            </a:pPr>
          </a:p>
          <a:p>
            <a:pPr algn="l" marL="539749" indent="-269875" lvl="1">
              <a:lnSpc>
                <a:spcPts val="3499"/>
              </a:lnSpc>
              <a:spcBef>
                <a:spcPct val="0"/>
              </a:spcBef>
              <a:buFont typeface="Arial"/>
              <a:buChar char="•"/>
            </a:pPr>
            <a:r>
              <a:rPr lang="en-US" sz="2499">
                <a:solidFill>
                  <a:srgbClr val="FFFFFF"/>
                </a:solidFill>
                <a:latin typeface="Canva Sans"/>
                <a:ea typeface="Canva Sans"/>
                <a:cs typeface="Canva Sans"/>
                <a:sym typeface="Canva Sans"/>
              </a:rPr>
              <a:t>YOLOv8 (anchor-free) dự đoán trực tiếp tọa độ tâm, kích thước, lớp và độ tin cậy (confidence).</a:t>
            </a:r>
          </a:p>
          <a:p>
            <a:pPr algn="l">
              <a:lnSpc>
                <a:spcPts val="3499"/>
              </a:lnSpc>
              <a:spcBef>
                <a:spcPct val="0"/>
              </a:spcBef>
            </a:pPr>
          </a:p>
          <a:p>
            <a:pPr algn="l" marL="539749" indent="-269875" lvl="1">
              <a:lnSpc>
                <a:spcPts val="3499"/>
              </a:lnSpc>
              <a:spcBef>
                <a:spcPct val="0"/>
              </a:spcBef>
              <a:buFont typeface="Arial"/>
              <a:buChar char="•"/>
            </a:pPr>
            <a:r>
              <a:rPr lang="en-US" sz="2499">
                <a:solidFill>
                  <a:srgbClr val="FFFFFF"/>
                </a:solidFill>
                <a:latin typeface="Canva Sans"/>
                <a:ea typeface="Canva Sans"/>
                <a:cs typeface="Canva Sans"/>
                <a:sym typeface="Canva Sans"/>
              </a:rPr>
              <a:t>Áp dụng Non-Maximum Suppression (NMS) để loại bỏ vùng trùng lặp.</a:t>
            </a:r>
          </a:p>
          <a:p>
            <a:pPr algn="l">
              <a:lnSpc>
                <a:spcPts val="3499"/>
              </a:lnSpc>
              <a:spcBef>
                <a:spcPct val="0"/>
              </a:spcBef>
            </a:pPr>
          </a:p>
          <a:p>
            <a:pPr algn="l" marL="539749" indent="-269875" lvl="1">
              <a:lnSpc>
                <a:spcPts val="3499"/>
              </a:lnSpc>
              <a:spcBef>
                <a:spcPct val="0"/>
              </a:spcBef>
              <a:buFont typeface="Arial"/>
              <a:buChar char="•"/>
            </a:pPr>
            <a:r>
              <a:rPr lang="en-US" sz="2499">
                <a:solidFill>
                  <a:srgbClr val="FFFFFF"/>
                </a:solidFill>
                <a:latin typeface="Canva Sans"/>
                <a:ea typeface="Canva Sans"/>
                <a:cs typeface="Canva Sans"/>
                <a:sym typeface="Canva Sans"/>
              </a:rPr>
              <a:t>Kết quả lưu dạng .txt (class, x_center, y_center, w, h, conf) và vẽ bounding box trên ảnh.</a:t>
            </a:r>
          </a:p>
          <a:p>
            <a:pPr algn="l">
              <a:lnSpc>
                <a:spcPts val="3499"/>
              </a:lnSpc>
              <a:spcBef>
                <a:spcPct val="0"/>
              </a:spcBef>
            </a:pPr>
          </a:p>
          <a:p>
            <a:pPr algn="l" marL="539749" indent="-269875" lvl="1">
              <a:lnSpc>
                <a:spcPts val="3499"/>
              </a:lnSpc>
              <a:spcBef>
                <a:spcPct val="0"/>
              </a:spcBef>
              <a:buFont typeface="Arial"/>
              <a:buChar char="•"/>
            </a:pPr>
            <a:r>
              <a:rPr lang="en-US" sz="2499">
                <a:solidFill>
                  <a:srgbClr val="FFFFFF"/>
                </a:solidFill>
                <a:latin typeface="Canva Sans"/>
                <a:ea typeface="Canva Sans"/>
                <a:cs typeface="Canva Sans"/>
                <a:sym typeface="Canva Sans"/>
              </a:rPr>
              <a:t>Màu phân lớp: LOP – xanh dương đậm, Crack – xanh lá, Porosity – đỏ, Slag – xanh nhạt.</a:t>
            </a:r>
          </a:p>
          <a:p>
            <a:pPr algn="l">
              <a:lnSpc>
                <a:spcPts val="3499"/>
              </a:lnSpc>
              <a:spcBef>
                <a:spcPct val="0"/>
              </a:spcBef>
            </a:pP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true" flipV="true" rot="-10792239">
            <a:off x="-724606" y="8954135"/>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10792239">
            <a:off x="16612207" y="-936064"/>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028700" y="314559"/>
            <a:ext cx="560353" cy="652047"/>
            <a:chOff x="0" y="0"/>
            <a:chExt cx="698500" cy="812800"/>
          </a:xfrm>
        </p:grpSpPr>
        <p:sp>
          <p:nvSpPr>
            <p:cNvPr name="Freeform 6" id="6"/>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000000">
                <a:alpha val="0"/>
              </a:srgbClr>
            </a:solidFill>
            <a:ln w="95250" cap="sq">
              <a:solidFill>
                <a:srgbClr val="348BFF"/>
              </a:solidFill>
              <a:prstDash val="solid"/>
              <a:miter/>
            </a:ln>
          </p:spPr>
        </p:sp>
        <p:sp>
          <p:nvSpPr>
            <p:cNvPr name="TextBox 7" id="7"/>
            <p:cNvSpPr txBox="true"/>
            <p:nvPr/>
          </p:nvSpPr>
          <p:spPr>
            <a:xfrm>
              <a:off x="0" y="101600"/>
              <a:ext cx="698500" cy="571500"/>
            </a:xfrm>
            <a:prstGeom prst="rect">
              <a:avLst/>
            </a:prstGeom>
          </p:spPr>
          <p:txBody>
            <a:bodyPr anchor="ctr" rtlCol="false" tIns="27034" lIns="27034" bIns="27034" rIns="27034"/>
            <a:lstStyle/>
            <a:p>
              <a:pPr algn="ctr">
                <a:lnSpc>
                  <a:spcPts val="2659"/>
                </a:lnSpc>
              </a:pPr>
            </a:p>
          </p:txBody>
        </p:sp>
      </p:grpSp>
      <p:grpSp>
        <p:nvGrpSpPr>
          <p:cNvPr name="Group 8" id="8"/>
          <p:cNvGrpSpPr/>
          <p:nvPr/>
        </p:nvGrpSpPr>
        <p:grpSpPr>
          <a:xfrm rot="0">
            <a:off x="9557175" y="1277585"/>
            <a:ext cx="8406376" cy="8763262"/>
            <a:chOff x="0" y="0"/>
            <a:chExt cx="5593410" cy="5830873"/>
          </a:xfrm>
        </p:grpSpPr>
        <p:sp>
          <p:nvSpPr>
            <p:cNvPr name="Freeform 9" id="9"/>
            <p:cNvSpPr/>
            <p:nvPr/>
          </p:nvSpPr>
          <p:spPr>
            <a:xfrm flipH="false" flipV="false" rot="0">
              <a:off x="0" y="0"/>
              <a:ext cx="5593410" cy="5830873"/>
            </a:xfrm>
            <a:custGeom>
              <a:avLst/>
              <a:gdLst/>
              <a:ahLst/>
              <a:cxnLst/>
              <a:rect r="r" b="b" t="t" l="l"/>
              <a:pathLst>
                <a:path h="5830873" w="5593410">
                  <a:moveTo>
                    <a:pt x="0" y="4859061"/>
                  </a:moveTo>
                  <a:lnTo>
                    <a:pt x="0" y="971812"/>
                  </a:lnTo>
                  <a:cubicBezTo>
                    <a:pt x="0" y="435372"/>
                    <a:pt x="250585" y="0"/>
                    <a:pt x="559341" y="0"/>
                  </a:cubicBezTo>
                  <a:lnTo>
                    <a:pt x="5034069" y="0"/>
                  </a:lnTo>
                  <a:cubicBezTo>
                    <a:pt x="5342825" y="0"/>
                    <a:pt x="5593410" y="435372"/>
                    <a:pt x="5593410" y="971812"/>
                  </a:cubicBezTo>
                  <a:lnTo>
                    <a:pt x="5593410" y="4859061"/>
                  </a:lnTo>
                  <a:cubicBezTo>
                    <a:pt x="5593410" y="5395502"/>
                    <a:pt x="5342825" y="5830873"/>
                    <a:pt x="5034069" y="5830873"/>
                  </a:cubicBezTo>
                  <a:lnTo>
                    <a:pt x="559341" y="5830873"/>
                  </a:lnTo>
                  <a:cubicBezTo>
                    <a:pt x="250585" y="5830873"/>
                    <a:pt x="0" y="5395502"/>
                    <a:pt x="0" y="4859061"/>
                  </a:cubicBezTo>
                  <a:close/>
                </a:path>
              </a:pathLst>
            </a:custGeom>
            <a:blipFill>
              <a:blip r:embed="rId5"/>
              <a:stretch>
                <a:fillRect l="-3820" t="0" r="-3820" b="0"/>
              </a:stretch>
            </a:blipFill>
          </p:spPr>
        </p:sp>
      </p:grpSp>
      <p:sp>
        <p:nvSpPr>
          <p:cNvPr name="Freeform 10" id="10"/>
          <p:cNvSpPr/>
          <p:nvPr/>
        </p:nvSpPr>
        <p:spPr>
          <a:xfrm flipH="false" flipV="false" rot="0">
            <a:off x="2055240" y="7738009"/>
            <a:ext cx="3633058" cy="2108998"/>
          </a:xfrm>
          <a:custGeom>
            <a:avLst/>
            <a:gdLst/>
            <a:ahLst/>
            <a:cxnLst/>
            <a:rect r="r" b="b" t="t" l="l"/>
            <a:pathLst>
              <a:path h="2108998" w="3633058">
                <a:moveTo>
                  <a:pt x="0" y="0"/>
                </a:moveTo>
                <a:lnTo>
                  <a:pt x="3633058" y="0"/>
                </a:lnTo>
                <a:lnTo>
                  <a:pt x="3633058" y="2108997"/>
                </a:lnTo>
                <a:lnTo>
                  <a:pt x="0" y="2108997"/>
                </a:lnTo>
                <a:lnTo>
                  <a:pt x="0" y="0"/>
                </a:lnTo>
                <a:close/>
              </a:path>
            </a:pathLst>
          </a:custGeom>
          <a:blipFill>
            <a:blip r:embed="rId6"/>
            <a:stretch>
              <a:fillRect l="-5913" t="0" r="-5913" b="0"/>
            </a:stretch>
          </a:blipFill>
        </p:spPr>
      </p:sp>
      <p:sp>
        <p:nvSpPr>
          <p:cNvPr name="Freeform 11" id="11"/>
          <p:cNvSpPr/>
          <p:nvPr/>
        </p:nvSpPr>
        <p:spPr>
          <a:xfrm flipH="false" flipV="false" rot="0">
            <a:off x="1589053" y="6410907"/>
            <a:ext cx="845362" cy="955626"/>
          </a:xfrm>
          <a:custGeom>
            <a:avLst/>
            <a:gdLst/>
            <a:ahLst/>
            <a:cxnLst/>
            <a:rect r="r" b="b" t="t" l="l"/>
            <a:pathLst>
              <a:path h="955626" w="845362">
                <a:moveTo>
                  <a:pt x="0" y="0"/>
                </a:moveTo>
                <a:lnTo>
                  <a:pt x="845362" y="0"/>
                </a:lnTo>
                <a:lnTo>
                  <a:pt x="845362" y="955627"/>
                </a:lnTo>
                <a:lnTo>
                  <a:pt x="0" y="955627"/>
                </a:lnTo>
                <a:lnTo>
                  <a:pt x="0" y="0"/>
                </a:lnTo>
                <a:close/>
              </a:path>
            </a:pathLst>
          </a:custGeom>
          <a:blipFill>
            <a:blip r:embed="rId7"/>
            <a:stretch>
              <a:fillRect l="0" t="0" r="0" b="0"/>
            </a:stretch>
          </a:blipFill>
        </p:spPr>
      </p:sp>
      <p:sp>
        <p:nvSpPr>
          <p:cNvPr name="Freeform 12" id="12"/>
          <p:cNvSpPr/>
          <p:nvPr/>
        </p:nvSpPr>
        <p:spPr>
          <a:xfrm flipH="false" flipV="false" rot="0">
            <a:off x="3205296" y="6465835"/>
            <a:ext cx="940242" cy="875398"/>
          </a:xfrm>
          <a:custGeom>
            <a:avLst/>
            <a:gdLst/>
            <a:ahLst/>
            <a:cxnLst/>
            <a:rect r="r" b="b" t="t" l="l"/>
            <a:pathLst>
              <a:path h="875398" w="940242">
                <a:moveTo>
                  <a:pt x="0" y="0"/>
                </a:moveTo>
                <a:lnTo>
                  <a:pt x="940242" y="0"/>
                </a:lnTo>
                <a:lnTo>
                  <a:pt x="940242" y="875397"/>
                </a:lnTo>
                <a:lnTo>
                  <a:pt x="0" y="875397"/>
                </a:lnTo>
                <a:lnTo>
                  <a:pt x="0" y="0"/>
                </a:lnTo>
                <a:close/>
              </a:path>
            </a:pathLst>
          </a:custGeom>
          <a:blipFill>
            <a:blip r:embed="rId8"/>
            <a:stretch>
              <a:fillRect l="0" t="0" r="0" b="0"/>
            </a:stretch>
          </a:blipFill>
        </p:spPr>
      </p:sp>
      <p:sp>
        <p:nvSpPr>
          <p:cNvPr name="Freeform 13" id="13"/>
          <p:cNvSpPr/>
          <p:nvPr/>
        </p:nvSpPr>
        <p:spPr>
          <a:xfrm flipH="false" flipV="false" rot="0">
            <a:off x="4933064" y="6465835"/>
            <a:ext cx="1000454" cy="875398"/>
          </a:xfrm>
          <a:custGeom>
            <a:avLst/>
            <a:gdLst/>
            <a:ahLst/>
            <a:cxnLst/>
            <a:rect r="r" b="b" t="t" l="l"/>
            <a:pathLst>
              <a:path h="875398" w="1000454">
                <a:moveTo>
                  <a:pt x="0" y="0"/>
                </a:moveTo>
                <a:lnTo>
                  <a:pt x="1000455" y="0"/>
                </a:lnTo>
                <a:lnTo>
                  <a:pt x="1000455" y="875397"/>
                </a:lnTo>
                <a:lnTo>
                  <a:pt x="0" y="875397"/>
                </a:lnTo>
                <a:lnTo>
                  <a:pt x="0" y="0"/>
                </a:lnTo>
                <a:close/>
              </a:path>
            </a:pathLst>
          </a:custGeom>
          <a:blipFill>
            <a:blip r:embed="rId9"/>
            <a:stretch>
              <a:fillRect l="0" t="0" r="0" b="0"/>
            </a:stretch>
          </a:blipFill>
        </p:spPr>
      </p:sp>
      <p:sp>
        <p:nvSpPr>
          <p:cNvPr name="Freeform 14" id="14"/>
          <p:cNvSpPr/>
          <p:nvPr/>
        </p:nvSpPr>
        <p:spPr>
          <a:xfrm flipH="false" flipV="false" rot="0">
            <a:off x="1980991" y="1277585"/>
            <a:ext cx="3781555" cy="3377795"/>
          </a:xfrm>
          <a:custGeom>
            <a:avLst/>
            <a:gdLst/>
            <a:ahLst/>
            <a:cxnLst/>
            <a:rect r="r" b="b" t="t" l="l"/>
            <a:pathLst>
              <a:path h="3377795" w="3781555">
                <a:moveTo>
                  <a:pt x="0" y="0"/>
                </a:moveTo>
                <a:lnTo>
                  <a:pt x="3781555" y="0"/>
                </a:lnTo>
                <a:lnTo>
                  <a:pt x="3781555" y="3377795"/>
                </a:lnTo>
                <a:lnTo>
                  <a:pt x="0" y="3377795"/>
                </a:lnTo>
                <a:lnTo>
                  <a:pt x="0" y="0"/>
                </a:lnTo>
                <a:close/>
              </a:path>
            </a:pathLst>
          </a:custGeom>
          <a:blipFill>
            <a:blip r:embed="rId10"/>
            <a:stretch>
              <a:fillRect l="0" t="0" r="0" b="0"/>
            </a:stretch>
          </a:blipFill>
        </p:spPr>
      </p:sp>
      <p:sp>
        <p:nvSpPr>
          <p:cNvPr name="Freeform 15" id="15"/>
          <p:cNvSpPr/>
          <p:nvPr/>
        </p:nvSpPr>
        <p:spPr>
          <a:xfrm flipH="false" flipV="false" rot="5811054">
            <a:off x="3415890" y="5361087"/>
            <a:ext cx="1060254" cy="399041"/>
          </a:xfrm>
          <a:custGeom>
            <a:avLst/>
            <a:gdLst/>
            <a:ahLst/>
            <a:cxnLst/>
            <a:rect r="r" b="b" t="t" l="l"/>
            <a:pathLst>
              <a:path h="399041" w="1060254">
                <a:moveTo>
                  <a:pt x="0" y="0"/>
                </a:moveTo>
                <a:lnTo>
                  <a:pt x="1060254" y="0"/>
                </a:lnTo>
                <a:lnTo>
                  <a:pt x="1060254" y="399041"/>
                </a:lnTo>
                <a:lnTo>
                  <a:pt x="0" y="39904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6" id="16"/>
          <p:cNvSpPr txBox="true"/>
          <p:nvPr/>
        </p:nvSpPr>
        <p:spPr>
          <a:xfrm rot="0">
            <a:off x="5435017" y="413985"/>
            <a:ext cx="7645781" cy="863600"/>
          </a:xfrm>
          <a:prstGeom prst="rect">
            <a:avLst/>
          </a:prstGeom>
        </p:spPr>
        <p:txBody>
          <a:bodyPr anchor="t" rtlCol="false" tIns="0" lIns="0" bIns="0" rIns="0">
            <a:spAutoFit/>
          </a:bodyPr>
          <a:lstStyle/>
          <a:p>
            <a:pPr algn="ctr">
              <a:lnSpc>
                <a:spcPts val="7000"/>
              </a:lnSpc>
            </a:pPr>
            <a:r>
              <a:rPr lang="en-US" sz="5000" spc="-50">
                <a:solidFill>
                  <a:srgbClr val="348BFF"/>
                </a:solidFill>
                <a:latin typeface="Roboto"/>
                <a:ea typeface="Roboto"/>
                <a:cs typeface="Roboto"/>
                <a:sym typeface="Roboto"/>
              </a:rPr>
              <a:t>CẮT VÙNG LỖI</a:t>
            </a:r>
          </a:p>
        </p:txBody>
      </p:sp>
      <p:sp>
        <p:nvSpPr>
          <p:cNvPr name="TextBox 17" id="17"/>
          <p:cNvSpPr txBox="true"/>
          <p:nvPr/>
        </p:nvSpPr>
        <p:spPr>
          <a:xfrm rot="0">
            <a:off x="4303792" y="5095875"/>
            <a:ext cx="1458754" cy="789305"/>
          </a:xfrm>
          <a:prstGeom prst="rect">
            <a:avLst/>
          </a:prstGeom>
        </p:spPr>
        <p:txBody>
          <a:bodyPr anchor="t" rtlCol="false" tIns="0" lIns="0" bIns="0" rIns="0">
            <a:spAutoFit/>
          </a:bodyPr>
          <a:lstStyle/>
          <a:p>
            <a:pPr algn="ctr">
              <a:lnSpc>
                <a:spcPts val="3220"/>
              </a:lnSpc>
            </a:pPr>
            <a:r>
              <a:rPr lang="en-US" sz="2300">
                <a:solidFill>
                  <a:srgbClr val="43C217"/>
                </a:solidFill>
                <a:latin typeface="Canva Sans"/>
                <a:ea typeface="Canva Sans"/>
                <a:cs typeface="Canva Sans"/>
                <a:sym typeface="Canva Sans"/>
              </a:rPr>
              <a:t>Thực hiện </a:t>
            </a:r>
          </a:p>
          <a:p>
            <a:pPr algn="ctr">
              <a:lnSpc>
                <a:spcPts val="3220"/>
              </a:lnSpc>
              <a:spcBef>
                <a:spcPct val="0"/>
              </a:spcBef>
            </a:pPr>
            <a:r>
              <a:rPr lang="en-US" sz="2300">
                <a:solidFill>
                  <a:srgbClr val="43C217"/>
                </a:solidFill>
                <a:latin typeface="Canva Sans"/>
                <a:ea typeface="Canva Sans"/>
                <a:cs typeface="Canva Sans"/>
                <a:sym typeface="Canva Sans"/>
              </a:rPr>
              <a:t>cắt ảnh</a:t>
            </a:r>
          </a:p>
        </p:txBody>
      </p:sp>
      <p:sp>
        <p:nvSpPr>
          <p:cNvPr name="TextBox 18" id="18"/>
          <p:cNvSpPr txBox="true"/>
          <p:nvPr/>
        </p:nvSpPr>
        <p:spPr>
          <a:xfrm rot="0">
            <a:off x="6271586" y="2918858"/>
            <a:ext cx="1124426" cy="389255"/>
          </a:xfrm>
          <a:prstGeom prst="rect">
            <a:avLst/>
          </a:prstGeom>
        </p:spPr>
        <p:txBody>
          <a:bodyPr anchor="t" rtlCol="false" tIns="0" lIns="0" bIns="0" rIns="0">
            <a:spAutoFit/>
          </a:bodyPr>
          <a:lstStyle/>
          <a:p>
            <a:pPr algn="ctr">
              <a:lnSpc>
                <a:spcPts val="3220"/>
              </a:lnSpc>
              <a:spcBef>
                <a:spcPct val="0"/>
              </a:spcBef>
            </a:pPr>
            <a:r>
              <a:rPr lang="en-US" sz="2300">
                <a:solidFill>
                  <a:srgbClr val="FAC956"/>
                </a:solidFill>
                <a:latin typeface="Canva Sans"/>
                <a:ea typeface="Canva Sans"/>
                <a:cs typeface="Canva Sans"/>
                <a:sym typeface="Canva Sans"/>
              </a:rPr>
              <a:t>Ảnh gốc</a:t>
            </a:r>
          </a:p>
        </p:txBody>
      </p:sp>
      <p:sp>
        <p:nvSpPr>
          <p:cNvPr name="TextBox 19" id="19"/>
          <p:cNvSpPr txBox="true"/>
          <p:nvPr/>
        </p:nvSpPr>
        <p:spPr>
          <a:xfrm rot="0">
            <a:off x="6142105" y="8602325"/>
            <a:ext cx="1488281" cy="389255"/>
          </a:xfrm>
          <a:prstGeom prst="rect">
            <a:avLst/>
          </a:prstGeom>
        </p:spPr>
        <p:txBody>
          <a:bodyPr anchor="t" rtlCol="false" tIns="0" lIns="0" bIns="0" rIns="0">
            <a:spAutoFit/>
          </a:bodyPr>
          <a:lstStyle/>
          <a:p>
            <a:pPr algn="ctr">
              <a:lnSpc>
                <a:spcPts val="3220"/>
              </a:lnSpc>
              <a:spcBef>
                <a:spcPct val="0"/>
              </a:spcBef>
            </a:pPr>
            <a:r>
              <a:rPr lang="en-US" sz="2300">
                <a:solidFill>
                  <a:srgbClr val="FAC956"/>
                </a:solidFill>
                <a:latin typeface="Canva Sans"/>
                <a:ea typeface="Canva Sans"/>
                <a:cs typeface="Canva Sans"/>
                <a:sym typeface="Canva Sans"/>
              </a:rPr>
              <a:t>Ảnh đã cắt</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true" flipV="true" rot="-10792239">
            <a:off x="-724606" y="8954135"/>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10792239">
            <a:off x="16612207" y="-936064"/>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028700" y="314559"/>
            <a:ext cx="560353" cy="652047"/>
            <a:chOff x="0" y="0"/>
            <a:chExt cx="698500" cy="812800"/>
          </a:xfrm>
        </p:grpSpPr>
        <p:sp>
          <p:nvSpPr>
            <p:cNvPr name="Freeform 6" id="6"/>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000000">
                <a:alpha val="0"/>
              </a:srgbClr>
            </a:solidFill>
            <a:ln w="95250" cap="sq">
              <a:solidFill>
                <a:srgbClr val="348BFF"/>
              </a:solidFill>
              <a:prstDash val="solid"/>
              <a:miter/>
            </a:ln>
          </p:spPr>
        </p:sp>
        <p:sp>
          <p:nvSpPr>
            <p:cNvPr name="TextBox 7" id="7"/>
            <p:cNvSpPr txBox="true"/>
            <p:nvPr/>
          </p:nvSpPr>
          <p:spPr>
            <a:xfrm>
              <a:off x="0" y="101600"/>
              <a:ext cx="698500" cy="571500"/>
            </a:xfrm>
            <a:prstGeom prst="rect">
              <a:avLst/>
            </a:prstGeom>
          </p:spPr>
          <p:txBody>
            <a:bodyPr anchor="ctr" rtlCol="false" tIns="27034" lIns="27034" bIns="27034" rIns="27034"/>
            <a:lstStyle/>
            <a:p>
              <a:pPr algn="ctr">
                <a:lnSpc>
                  <a:spcPts val="2659"/>
                </a:lnSpc>
              </a:pPr>
            </a:p>
          </p:txBody>
        </p:sp>
      </p:grpSp>
      <p:sp>
        <p:nvSpPr>
          <p:cNvPr name="Freeform 8" id="8"/>
          <p:cNvSpPr/>
          <p:nvPr/>
        </p:nvSpPr>
        <p:spPr>
          <a:xfrm flipH="false" flipV="false" rot="0">
            <a:off x="783620" y="1369605"/>
            <a:ext cx="6070224" cy="8495225"/>
          </a:xfrm>
          <a:custGeom>
            <a:avLst/>
            <a:gdLst/>
            <a:ahLst/>
            <a:cxnLst/>
            <a:rect r="r" b="b" t="t" l="l"/>
            <a:pathLst>
              <a:path h="8495225" w="6070224">
                <a:moveTo>
                  <a:pt x="0" y="0"/>
                </a:moveTo>
                <a:lnTo>
                  <a:pt x="6070225" y="0"/>
                </a:lnTo>
                <a:lnTo>
                  <a:pt x="6070225" y="8495224"/>
                </a:lnTo>
                <a:lnTo>
                  <a:pt x="0" y="849522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0371821" y="1646823"/>
            <a:ext cx="5417955" cy="3750892"/>
          </a:xfrm>
          <a:custGeom>
            <a:avLst/>
            <a:gdLst/>
            <a:ahLst/>
            <a:cxnLst/>
            <a:rect r="r" b="b" t="t" l="l"/>
            <a:pathLst>
              <a:path h="3750892" w="5417955">
                <a:moveTo>
                  <a:pt x="0" y="0"/>
                </a:moveTo>
                <a:lnTo>
                  <a:pt x="5417955" y="0"/>
                </a:lnTo>
                <a:lnTo>
                  <a:pt x="5417955" y="3750892"/>
                </a:lnTo>
                <a:lnTo>
                  <a:pt x="0" y="3750892"/>
                </a:lnTo>
                <a:lnTo>
                  <a:pt x="0" y="0"/>
                </a:lnTo>
                <a:close/>
              </a:path>
            </a:pathLst>
          </a:custGeom>
          <a:blipFill>
            <a:blip r:embed="rId7"/>
            <a:stretch>
              <a:fillRect l="0" t="0" r="0" b="0"/>
            </a:stretch>
          </a:blipFill>
        </p:spPr>
      </p:sp>
      <p:sp>
        <p:nvSpPr>
          <p:cNvPr name="Freeform 10" id="10"/>
          <p:cNvSpPr/>
          <p:nvPr/>
        </p:nvSpPr>
        <p:spPr>
          <a:xfrm flipH="false" flipV="false" rot="0">
            <a:off x="7280107" y="6401435"/>
            <a:ext cx="10683445" cy="3151616"/>
          </a:xfrm>
          <a:custGeom>
            <a:avLst/>
            <a:gdLst/>
            <a:ahLst/>
            <a:cxnLst/>
            <a:rect r="r" b="b" t="t" l="l"/>
            <a:pathLst>
              <a:path h="3151616" w="10683445">
                <a:moveTo>
                  <a:pt x="0" y="0"/>
                </a:moveTo>
                <a:lnTo>
                  <a:pt x="10683444" y="0"/>
                </a:lnTo>
                <a:lnTo>
                  <a:pt x="10683444" y="3151616"/>
                </a:lnTo>
                <a:lnTo>
                  <a:pt x="0" y="3151616"/>
                </a:lnTo>
                <a:lnTo>
                  <a:pt x="0" y="0"/>
                </a:lnTo>
                <a:close/>
              </a:path>
            </a:pathLst>
          </a:custGeom>
          <a:blipFill>
            <a:blip r:embed="rId8"/>
            <a:stretch>
              <a:fillRect l="0" t="0" r="0" b="0"/>
            </a:stretch>
          </a:blipFill>
        </p:spPr>
      </p:sp>
      <p:sp>
        <p:nvSpPr>
          <p:cNvPr name="TextBox 11" id="11"/>
          <p:cNvSpPr txBox="true"/>
          <p:nvPr/>
        </p:nvSpPr>
        <p:spPr>
          <a:xfrm rot="0">
            <a:off x="1017151" y="1465815"/>
            <a:ext cx="5603162" cy="8778240"/>
          </a:xfrm>
          <a:prstGeom prst="rect">
            <a:avLst/>
          </a:prstGeom>
        </p:spPr>
        <p:txBody>
          <a:bodyPr anchor="t" rtlCol="false" tIns="0" lIns="0" bIns="0" rIns="0">
            <a:spAutoFit/>
          </a:bodyPr>
          <a:lstStyle/>
          <a:p>
            <a:pPr algn="l">
              <a:lnSpc>
                <a:spcPts val="3359"/>
              </a:lnSpc>
            </a:pPr>
          </a:p>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Kết quả dự đoán được hậu xử lý (post-filtering) để đảm bảo loại bỏ dự đoán nhiễu (lọc confidence) và tránh trùng lặp (NMS / Soft-NMS)</a:t>
            </a:r>
          </a:p>
          <a:p>
            <a:pPr algn="l" marL="518160" indent="-259080" lvl="1">
              <a:lnSpc>
                <a:spcPts val="3359"/>
              </a:lnSpc>
              <a:spcBef>
                <a:spcPct val="0"/>
              </a:spcBef>
              <a:buFont typeface="Arial"/>
              <a:buChar char="•"/>
            </a:pPr>
            <a:r>
              <a:rPr lang="en-US" sz="2400">
                <a:solidFill>
                  <a:srgbClr val="000000"/>
                </a:solidFill>
                <a:latin typeface="Canva Sans"/>
                <a:ea typeface="Canva Sans"/>
                <a:cs typeface="Canva Sans"/>
                <a:sym typeface="Canva Sans"/>
              </a:rPr>
              <a:t>Các bounding box được chuyển thành vùng lỗi thực tế (mask) thông qua chuẩn hóa ROI và tăng tương phản (CLAHE) kết hợp xử lý hình thái theo từng loại khuyết tật (Crack, Porosity, Slag)</a:t>
            </a:r>
          </a:p>
          <a:p>
            <a:pPr algn="l" marL="518160" indent="-259080" lvl="1">
              <a:lnSpc>
                <a:spcPts val="3359"/>
              </a:lnSpc>
              <a:spcBef>
                <a:spcPct val="0"/>
              </a:spcBef>
              <a:buFont typeface="Arial"/>
              <a:buChar char="•"/>
            </a:pPr>
            <a:r>
              <a:rPr lang="en-US" sz="2400">
                <a:solidFill>
                  <a:srgbClr val="000000"/>
                </a:solidFill>
                <a:latin typeface="Canva Sans"/>
                <a:ea typeface="Canva Sans"/>
                <a:cs typeface="Canva Sans"/>
                <a:sym typeface="Canva Sans"/>
              </a:rPr>
              <a:t>Tô đỏ vùng khuyết tật trên ảnh – mô phỏng đường nứt để trực quan hóa.</a:t>
            </a:r>
          </a:p>
          <a:p>
            <a:pPr algn="l" marL="518160" indent="-259080" lvl="1">
              <a:lnSpc>
                <a:spcPts val="3359"/>
              </a:lnSpc>
              <a:spcBef>
                <a:spcPct val="0"/>
              </a:spcBef>
              <a:buFont typeface="Arial"/>
              <a:buChar char="•"/>
            </a:pPr>
            <a:r>
              <a:rPr lang="en-US" sz="2400">
                <a:solidFill>
                  <a:srgbClr val="000000"/>
                </a:solidFill>
                <a:latin typeface="Canva Sans"/>
                <a:ea typeface="Canva Sans"/>
                <a:cs typeface="Canva Sans"/>
                <a:sym typeface="Canva Sans"/>
              </a:rPr>
              <a:t>Từ mask khuyết tật, hệ thống có thể: Ước lượng mức độ nghiêm trọng (diện tích, tỷ lệ lỗi) và trích xuất đường dẫn (path) phục vụ robot hàn tự động</a:t>
            </a:r>
          </a:p>
          <a:p>
            <a:pPr algn="l">
              <a:lnSpc>
                <a:spcPts val="3359"/>
              </a:lnSpc>
              <a:spcBef>
                <a:spcPct val="0"/>
              </a:spcBef>
            </a:pPr>
          </a:p>
          <a:p>
            <a:pPr algn="l">
              <a:lnSpc>
                <a:spcPts val="3359"/>
              </a:lnSpc>
              <a:spcBef>
                <a:spcPct val="0"/>
              </a:spcBef>
            </a:pPr>
          </a:p>
        </p:txBody>
      </p:sp>
      <p:sp>
        <p:nvSpPr>
          <p:cNvPr name="TextBox 12" id="12"/>
          <p:cNvSpPr txBox="true"/>
          <p:nvPr/>
        </p:nvSpPr>
        <p:spPr>
          <a:xfrm rot="0">
            <a:off x="5435017" y="413985"/>
            <a:ext cx="7645781" cy="863600"/>
          </a:xfrm>
          <a:prstGeom prst="rect">
            <a:avLst/>
          </a:prstGeom>
        </p:spPr>
        <p:txBody>
          <a:bodyPr anchor="t" rtlCol="false" tIns="0" lIns="0" bIns="0" rIns="0">
            <a:spAutoFit/>
          </a:bodyPr>
          <a:lstStyle/>
          <a:p>
            <a:pPr algn="ctr">
              <a:lnSpc>
                <a:spcPts val="7000"/>
              </a:lnSpc>
            </a:pPr>
            <a:r>
              <a:rPr lang="en-US" sz="5000" spc="-50">
                <a:solidFill>
                  <a:srgbClr val="348BFF"/>
                </a:solidFill>
                <a:latin typeface="Roboto"/>
                <a:ea typeface="Roboto"/>
                <a:cs typeface="Roboto"/>
                <a:sym typeface="Roboto"/>
              </a:rPr>
              <a:t>KẾT HỢP MÁY HÀN</a:t>
            </a:r>
          </a:p>
        </p:txBody>
      </p:sp>
      <p:sp>
        <p:nvSpPr>
          <p:cNvPr name="TextBox 13" id="13"/>
          <p:cNvSpPr txBox="true"/>
          <p:nvPr/>
        </p:nvSpPr>
        <p:spPr>
          <a:xfrm rot="0">
            <a:off x="11482986" y="5678805"/>
            <a:ext cx="3778330" cy="389255"/>
          </a:xfrm>
          <a:prstGeom prst="rect">
            <a:avLst/>
          </a:prstGeom>
        </p:spPr>
        <p:txBody>
          <a:bodyPr anchor="t" rtlCol="false" tIns="0" lIns="0" bIns="0" rIns="0">
            <a:spAutoFit/>
          </a:bodyPr>
          <a:lstStyle/>
          <a:p>
            <a:pPr algn="ctr">
              <a:lnSpc>
                <a:spcPts val="3220"/>
              </a:lnSpc>
              <a:spcBef>
                <a:spcPct val="0"/>
              </a:spcBef>
            </a:pPr>
            <a:r>
              <a:rPr lang="en-US" sz="2300">
                <a:solidFill>
                  <a:srgbClr val="FFFFFF"/>
                </a:solidFill>
                <a:latin typeface="Canva Sans"/>
                <a:ea typeface="Canva Sans"/>
                <a:cs typeface="Canva Sans"/>
                <a:sym typeface="Canva Sans"/>
              </a:rPr>
              <a:t>Ví dụ tô đỏ vùng khuyết tật</a:t>
            </a:r>
          </a:p>
        </p:txBody>
      </p:sp>
      <p:sp>
        <p:nvSpPr>
          <p:cNvPr name="TextBox 14" id="14"/>
          <p:cNvSpPr txBox="true"/>
          <p:nvPr/>
        </p:nvSpPr>
        <p:spPr>
          <a:xfrm rot="0">
            <a:off x="10763551" y="9646389"/>
            <a:ext cx="5217200" cy="389255"/>
          </a:xfrm>
          <a:prstGeom prst="rect">
            <a:avLst/>
          </a:prstGeom>
        </p:spPr>
        <p:txBody>
          <a:bodyPr anchor="t" rtlCol="false" tIns="0" lIns="0" bIns="0" rIns="0">
            <a:spAutoFit/>
          </a:bodyPr>
          <a:lstStyle/>
          <a:p>
            <a:pPr algn="ctr">
              <a:lnSpc>
                <a:spcPts val="3220"/>
              </a:lnSpc>
              <a:spcBef>
                <a:spcPct val="0"/>
              </a:spcBef>
            </a:pPr>
            <a:r>
              <a:rPr lang="en-US" sz="2300">
                <a:solidFill>
                  <a:srgbClr val="FFFFFF"/>
                </a:solidFill>
                <a:latin typeface="Canva Sans"/>
                <a:ea typeface="Canva Sans"/>
                <a:cs typeface="Canva Sans"/>
                <a:sym typeface="Canva Sans"/>
              </a:rPr>
              <a:t>Ví dụ ước lượng diện tích lỗi từng loại</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18288000" cy="10109527"/>
            <a:chOff x="0" y="0"/>
            <a:chExt cx="4816593" cy="2662592"/>
          </a:xfrm>
        </p:grpSpPr>
        <p:sp>
          <p:nvSpPr>
            <p:cNvPr name="Freeform 4" id="4"/>
            <p:cNvSpPr/>
            <p:nvPr/>
          </p:nvSpPr>
          <p:spPr>
            <a:xfrm flipH="false" flipV="false" rot="0">
              <a:off x="0" y="0"/>
              <a:ext cx="4816592" cy="2662592"/>
            </a:xfrm>
            <a:custGeom>
              <a:avLst/>
              <a:gdLst/>
              <a:ahLst/>
              <a:cxnLst/>
              <a:rect r="r" b="b" t="t" l="l"/>
              <a:pathLst>
                <a:path h="2662592" w="4816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name="TextBox 5" id="5"/>
            <p:cNvSpPr txBox="true"/>
            <p:nvPr/>
          </p:nvSpPr>
          <p:spPr>
            <a:xfrm>
              <a:off x="0" y="-38100"/>
              <a:ext cx="4816593" cy="2700692"/>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true" flipV="false" rot="-2407264">
            <a:off x="13760017" y="6817824"/>
            <a:ext cx="4768277" cy="4551537"/>
          </a:xfrm>
          <a:custGeom>
            <a:avLst/>
            <a:gdLst/>
            <a:ahLst/>
            <a:cxnLst/>
            <a:rect r="r" b="b" t="t" l="l"/>
            <a:pathLst>
              <a:path h="4551537" w="4768277">
                <a:moveTo>
                  <a:pt x="4768277" y="0"/>
                </a:moveTo>
                <a:lnTo>
                  <a:pt x="0" y="0"/>
                </a:lnTo>
                <a:lnTo>
                  <a:pt x="0" y="4551537"/>
                </a:lnTo>
                <a:lnTo>
                  <a:pt x="4768277" y="4551537"/>
                </a:lnTo>
                <a:lnTo>
                  <a:pt x="4768277"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3275">
            <a:off x="12646576" y="-298239"/>
            <a:ext cx="6995160" cy="5246370"/>
            <a:chOff x="0" y="0"/>
            <a:chExt cx="812800" cy="609600"/>
          </a:xfrm>
        </p:grpSpPr>
        <p:sp>
          <p:nvSpPr>
            <p:cNvPr name="Freeform 8" id="8"/>
            <p:cNvSpPr/>
            <p:nvPr/>
          </p:nvSpPr>
          <p:spPr>
            <a:xfrm flipH="false" flipV="false" rot="0">
              <a:off x="0" y="0"/>
              <a:ext cx="812800" cy="609600"/>
            </a:xfrm>
            <a:custGeom>
              <a:avLst/>
              <a:gdLst/>
              <a:ahLst/>
              <a:cxnLst/>
              <a:rect r="r" b="b" t="t" l="l"/>
              <a:pathLst>
                <a:path h="609600" w="812800">
                  <a:moveTo>
                    <a:pt x="203200" y="0"/>
                  </a:moveTo>
                  <a:lnTo>
                    <a:pt x="812800" y="0"/>
                  </a:lnTo>
                  <a:lnTo>
                    <a:pt x="609600" y="609600"/>
                  </a:lnTo>
                  <a:lnTo>
                    <a:pt x="0" y="609600"/>
                  </a:lnTo>
                  <a:lnTo>
                    <a:pt x="203200" y="0"/>
                  </a:lnTo>
                  <a:close/>
                </a:path>
              </a:pathLst>
            </a:custGeom>
            <a:blipFill>
              <a:blip r:embed="rId5"/>
              <a:stretch>
                <a:fillRect l="0" t="0" r="-13324" b="0"/>
              </a:stretch>
            </a:blipFill>
          </p:spPr>
        </p:sp>
      </p:grpSp>
      <p:grpSp>
        <p:nvGrpSpPr>
          <p:cNvPr name="Group 9" id="9"/>
          <p:cNvGrpSpPr/>
          <p:nvPr/>
        </p:nvGrpSpPr>
        <p:grpSpPr>
          <a:xfrm rot="3275">
            <a:off x="9023612" y="5146831"/>
            <a:ext cx="6995160" cy="5246370"/>
            <a:chOff x="0" y="0"/>
            <a:chExt cx="812800" cy="609600"/>
          </a:xfrm>
        </p:grpSpPr>
        <p:sp>
          <p:nvSpPr>
            <p:cNvPr name="Freeform 10" id="10"/>
            <p:cNvSpPr/>
            <p:nvPr/>
          </p:nvSpPr>
          <p:spPr>
            <a:xfrm flipH="false" flipV="false" rot="0">
              <a:off x="0" y="0"/>
              <a:ext cx="812800" cy="609600"/>
            </a:xfrm>
            <a:custGeom>
              <a:avLst/>
              <a:gdLst/>
              <a:ahLst/>
              <a:cxnLst/>
              <a:rect r="r" b="b" t="t" l="l"/>
              <a:pathLst>
                <a:path h="609600" w="812800">
                  <a:moveTo>
                    <a:pt x="203200" y="0"/>
                  </a:moveTo>
                  <a:lnTo>
                    <a:pt x="812800" y="0"/>
                  </a:lnTo>
                  <a:lnTo>
                    <a:pt x="609600" y="609600"/>
                  </a:lnTo>
                  <a:lnTo>
                    <a:pt x="0" y="609600"/>
                  </a:lnTo>
                  <a:lnTo>
                    <a:pt x="203200" y="0"/>
                  </a:lnTo>
                  <a:close/>
                </a:path>
              </a:pathLst>
            </a:custGeom>
            <a:blipFill>
              <a:blip r:embed="rId6"/>
              <a:stretch>
                <a:fillRect l="-6739" t="0" r="-5619" b="0"/>
              </a:stretch>
            </a:blipFill>
          </p:spPr>
        </p:sp>
      </p:grpSp>
      <p:sp>
        <p:nvSpPr>
          <p:cNvPr name="AutoShape 11" id="11"/>
          <p:cNvSpPr/>
          <p:nvPr/>
        </p:nvSpPr>
        <p:spPr>
          <a:xfrm>
            <a:off x="1515355" y="5826522"/>
            <a:ext cx="6492240" cy="0"/>
          </a:xfrm>
          <a:prstGeom prst="line">
            <a:avLst/>
          </a:prstGeom>
          <a:ln cap="flat" w="19050">
            <a:solidFill>
              <a:srgbClr val="40597C"/>
            </a:solidFill>
            <a:prstDash val="solid"/>
            <a:headEnd type="none" len="sm" w="sm"/>
            <a:tailEnd type="none" len="sm" w="sm"/>
          </a:ln>
        </p:spPr>
      </p:sp>
      <p:sp>
        <p:nvSpPr>
          <p:cNvPr name="Freeform 12" id="12"/>
          <p:cNvSpPr/>
          <p:nvPr/>
        </p:nvSpPr>
        <p:spPr>
          <a:xfrm flipH="true" flipV="false" rot="-10792239">
            <a:off x="-724606" y="8954135"/>
            <a:ext cx="2702689" cy="2579840"/>
          </a:xfrm>
          <a:custGeom>
            <a:avLst/>
            <a:gdLst/>
            <a:ahLst/>
            <a:cxnLst/>
            <a:rect r="r" b="b" t="t" l="l"/>
            <a:pathLst>
              <a:path h="2579840" w="2702689">
                <a:moveTo>
                  <a:pt x="2702689" y="0"/>
                </a:moveTo>
                <a:lnTo>
                  <a:pt x="0" y="0"/>
                </a:lnTo>
                <a:lnTo>
                  <a:pt x="0" y="2579840"/>
                </a:lnTo>
                <a:lnTo>
                  <a:pt x="2702689" y="2579840"/>
                </a:lnTo>
                <a:lnTo>
                  <a:pt x="2702689"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626738" y="550533"/>
            <a:ext cx="560353" cy="652047"/>
            <a:chOff x="0" y="0"/>
            <a:chExt cx="698500" cy="812800"/>
          </a:xfrm>
        </p:grpSpPr>
        <p:sp>
          <p:nvSpPr>
            <p:cNvPr name="Freeform 14" id="14"/>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000000">
                <a:alpha val="0"/>
              </a:srgbClr>
            </a:solidFill>
            <a:ln w="95250" cap="sq">
              <a:solidFill>
                <a:srgbClr val="348BFF"/>
              </a:solidFill>
              <a:prstDash val="solid"/>
              <a:miter/>
            </a:ln>
          </p:spPr>
        </p:sp>
        <p:sp>
          <p:nvSpPr>
            <p:cNvPr name="TextBox 15" id="15"/>
            <p:cNvSpPr txBox="true"/>
            <p:nvPr/>
          </p:nvSpPr>
          <p:spPr>
            <a:xfrm>
              <a:off x="0" y="101600"/>
              <a:ext cx="698500" cy="571500"/>
            </a:xfrm>
            <a:prstGeom prst="rect">
              <a:avLst/>
            </a:prstGeom>
          </p:spPr>
          <p:txBody>
            <a:bodyPr anchor="ctr" rtlCol="false" tIns="27034" lIns="27034" bIns="27034" rIns="27034"/>
            <a:lstStyle/>
            <a:p>
              <a:pPr algn="ctr">
                <a:lnSpc>
                  <a:spcPts val="2659"/>
                </a:lnSpc>
              </a:pPr>
            </a:p>
          </p:txBody>
        </p:sp>
      </p:grpSp>
      <p:sp>
        <p:nvSpPr>
          <p:cNvPr name="TextBox 16" id="16"/>
          <p:cNvSpPr txBox="true"/>
          <p:nvPr/>
        </p:nvSpPr>
        <p:spPr>
          <a:xfrm rot="0">
            <a:off x="378950" y="4162593"/>
            <a:ext cx="8765050" cy="1377949"/>
          </a:xfrm>
          <a:prstGeom prst="rect">
            <a:avLst/>
          </a:prstGeom>
        </p:spPr>
        <p:txBody>
          <a:bodyPr anchor="t" rtlCol="false" tIns="0" lIns="0" bIns="0" rIns="0">
            <a:spAutoFit/>
          </a:bodyPr>
          <a:lstStyle/>
          <a:p>
            <a:pPr algn="ctr">
              <a:lnSpc>
                <a:spcPts val="11200"/>
              </a:lnSpc>
            </a:pPr>
            <a:r>
              <a:rPr lang="en-US" sz="8000" spc="-80">
                <a:solidFill>
                  <a:srgbClr val="348BFF"/>
                </a:solidFill>
                <a:latin typeface="Roboto"/>
                <a:ea typeface="Roboto"/>
                <a:cs typeface="Roboto"/>
                <a:sym typeface="Roboto"/>
              </a:rPr>
              <a:t>DEMO</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true" flipV="true" rot="-10792239">
            <a:off x="-724606" y="8954135"/>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10792239">
            <a:off x="16612207" y="-936064"/>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028700" y="314559"/>
            <a:ext cx="560353" cy="652047"/>
            <a:chOff x="0" y="0"/>
            <a:chExt cx="698500" cy="812800"/>
          </a:xfrm>
        </p:grpSpPr>
        <p:sp>
          <p:nvSpPr>
            <p:cNvPr name="Freeform 6" id="6"/>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000000">
                <a:alpha val="0"/>
              </a:srgbClr>
            </a:solidFill>
            <a:ln w="95250" cap="sq">
              <a:solidFill>
                <a:srgbClr val="348BFF"/>
              </a:solidFill>
              <a:prstDash val="solid"/>
              <a:miter/>
            </a:ln>
          </p:spPr>
        </p:sp>
        <p:sp>
          <p:nvSpPr>
            <p:cNvPr name="TextBox 7" id="7"/>
            <p:cNvSpPr txBox="true"/>
            <p:nvPr/>
          </p:nvSpPr>
          <p:spPr>
            <a:xfrm>
              <a:off x="0" y="101600"/>
              <a:ext cx="698500" cy="571500"/>
            </a:xfrm>
            <a:prstGeom prst="rect">
              <a:avLst/>
            </a:prstGeom>
          </p:spPr>
          <p:txBody>
            <a:bodyPr anchor="ctr" rtlCol="false" tIns="27034" lIns="27034" bIns="27034" rIns="27034"/>
            <a:lstStyle/>
            <a:p>
              <a:pPr algn="ctr">
                <a:lnSpc>
                  <a:spcPts val="2659"/>
                </a:lnSpc>
              </a:pPr>
            </a:p>
          </p:txBody>
        </p:sp>
      </p:grpSp>
      <p:sp>
        <p:nvSpPr>
          <p:cNvPr name="Freeform 8" id="8"/>
          <p:cNvSpPr/>
          <p:nvPr/>
        </p:nvSpPr>
        <p:spPr>
          <a:xfrm flipH="false" flipV="false" rot="0">
            <a:off x="626738" y="2138942"/>
            <a:ext cx="6865978" cy="3272068"/>
          </a:xfrm>
          <a:custGeom>
            <a:avLst/>
            <a:gdLst/>
            <a:ahLst/>
            <a:cxnLst/>
            <a:rect r="r" b="b" t="t" l="l"/>
            <a:pathLst>
              <a:path h="3272068" w="6865978">
                <a:moveTo>
                  <a:pt x="0" y="0"/>
                </a:moveTo>
                <a:lnTo>
                  <a:pt x="6865978" y="0"/>
                </a:lnTo>
                <a:lnTo>
                  <a:pt x="6865978" y="3272068"/>
                </a:lnTo>
                <a:lnTo>
                  <a:pt x="0" y="3272068"/>
                </a:lnTo>
                <a:lnTo>
                  <a:pt x="0" y="0"/>
                </a:lnTo>
                <a:close/>
              </a:path>
            </a:pathLst>
          </a:custGeom>
          <a:blipFill>
            <a:blip r:embed="rId5"/>
            <a:stretch>
              <a:fillRect l="0" t="0" r="0" b="0"/>
            </a:stretch>
          </a:blipFill>
        </p:spPr>
      </p:sp>
      <p:sp>
        <p:nvSpPr>
          <p:cNvPr name="Freeform 9" id="9"/>
          <p:cNvSpPr/>
          <p:nvPr/>
        </p:nvSpPr>
        <p:spPr>
          <a:xfrm flipH="false" flipV="false" rot="0">
            <a:off x="10180570" y="3651154"/>
            <a:ext cx="7385626" cy="3519713"/>
          </a:xfrm>
          <a:custGeom>
            <a:avLst/>
            <a:gdLst/>
            <a:ahLst/>
            <a:cxnLst/>
            <a:rect r="r" b="b" t="t" l="l"/>
            <a:pathLst>
              <a:path h="3519713" w="7385626">
                <a:moveTo>
                  <a:pt x="0" y="0"/>
                </a:moveTo>
                <a:lnTo>
                  <a:pt x="7385626" y="0"/>
                </a:lnTo>
                <a:lnTo>
                  <a:pt x="7385626" y="3519712"/>
                </a:lnTo>
                <a:lnTo>
                  <a:pt x="0" y="3519712"/>
                </a:lnTo>
                <a:lnTo>
                  <a:pt x="0" y="0"/>
                </a:lnTo>
                <a:close/>
              </a:path>
            </a:pathLst>
          </a:custGeom>
          <a:blipFill>
            <a:blip r:embed="rId6"/>
            <a:stretch>
              <a:fillRect l="0" t="0" r="0" b="0"/>
            </a:stretch>
          </a:blipFill>
        </p:spPr>
      </p:sp>
      <p:sp>
        <p:nvSpPr>
          <p:cNvPr name="Freeform 10" id="10"/>
          <p:cNvSpPr/>
          <p:nvPr/>
        </p:nvSpPr>
        <p:spPr>
          <a:xfrm flipH="false" flipV="false" rot="0">
            <a:off x="752709" y="6268260"/>
            <a:ext cx="6740007" cy="3284083"/>
          </a:xfrm>
          <a:custGeom>
            <a:avLst/>
            <a:gdLst/>
            <a:ahLst/>
            <a:cxnLst/>
            <a:rect r="r" b="b" t="t" l="l"/>
            <a:pathLst>
              <a:path h="3284083" w="6740007">
                <a:moveTo>
                  <a:pt x="0" y="0"/>
                </a:moveTo>
                <a:lnTo>
                  <a:pt x="6740007" y="0"/>
                </a:lnTo>
                <a:lnTo>
                  <a:pt x="6740007" y="3284083"/>
                </a:lnTo>
                <a:lnTo>
                  <a:pt x="0" y="3284083"/>
                </a:lnTo>
                <a:lnTo>
                  <a:pt x="0" y="0"/>
                </a:lnTo>
                <a:close/>
              </a:path>
            </a:pathLst>
          </a:custGeom>
          <a:blipFill>
            <a:blip r:embed="rId7"/>
            <a:stretch>
              <a:fillRect l="0" t="0" r="0" b="0"/>
            </a:stretch>
          </a:blipFill>
        </p:spPr>
      </p:sp>
      <p:sp>
        <p:nvSpPr>
          <p:cNvPr name="TextBox 11" id="11"/>
          <p:cNvSpPr txBox="true"/>
          <p:nvPr/>
        </p:nvSpPr>
        <p:spPr>
          <a:xfrm rot="0">
            <a:off x="5435017" y="413985"/>
            <a:ext cx="7645781" cy="863600"/>
          </a:xfrm>
          <a:prstGeom prst="rect">
            <a:avLst/>
          </a:prstGeom>
        </p:spPr>
        <p:txBody>
          <a:bodyPr anchor="t" rtlCol="false" tIns="0" lIns="0" bIns="0" rIns="0">
            <a:spAutoFit/>
          </a:bodyPr>
          <a:lstStyle/>
          <a:p>
            <a:pPr algn="ctr">
              <a:lnSpc>
                <a:spcPts val="7000"/>
              </a:lnSpc>
            </a:pPr>
            <a:r>
              <a:rPr lang="en-US" sz="5000" spc="-50">
                <a:solidFill>
                  <a:srgbClr val="348BFF"/>
                </a:solidFill>
                <a:latin typeface="Roboto"/>
                <a:ea typeface="Roboto"/>
                <a:cs typeface="Roboto"/>
                <a:sym typeface="Roboto"/>
              </a:rPr>
              <a:t>DEMO</a:t>
            </a:r>
          </a:p>
        </p:txBody>
      </p:sp>
      <p:sp>
        <p:nvSpPr>
          <p:cNvPr name="Freeform 12" id="12"/>
          <p:cNvSpPr/>
          <p:nvPr/>
        </p:nvSpPr>
        <p:spPr>
          <a:xfrm flipH="false" flipV="false" rot="1359706">
            <a:off x="7830455" y="4027677"/>
            <a:ext cx="2012377" cy="757385"/>
          </a:xfrm>
          <a:custGeom>
            <a:avLst/>
            <a:gdLst/>
            <a:ahLst/>
            <a:cxnLst/>
            <a:rect r="r" b="b" t="t" l="l"/>
            <a:pathLst>
              <a:path h="757385" w="2012377">
                <a:moveTo>
                  <a:pt x="0" y="0"/>
                </a:moveTo>
                <a:lnTo>
                  <a:pt x="2012376" y="0"/>
                </a:lnTo>
                <a:lnTo>
                  <a:pt x="2012376" y="757385"/>
                </a:lnTo>
                <a:lnTo>
                  <a:pt x="0" y="7573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9417353">
            <a:off x="7830734" y="6631904"/>
            <a:ext cx="2012377" cy="757385"/>
          </a:xfrm>
          <a:custGeom>
            <a:avLst/>
            <a:gdLst/>
            <a:ahLst/>
            <a:cxnLst/>
            <a:rect r="r" b="b" t="t" l="l"/>
            <a:pathLst>
              <a:path h="757385" w="2012377">
                <a:moveTo>
                  <a:pt x="0" y="0"/>
                </a:moveTo>
                <a:lnTo>
                  <a:pt x="2012376" y="0"/>
                </a:lnTo>
                <a:lnTo>
                  <a:pt x="2012376" y="757385"/>
                </a:lnTo>
                <a:lnTo>
                  <a:pt x="0" y="7573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4" id="14"/>
          <p:cNvSpPr txBox="true"/>
          <p:nvPr/>
        </p:nvSpPr>
        <p:spPr>
          <a:xfrm rot="0">
            <a:off x="2898539" y="1599198"/>
            <a:ext cx="1938933" cy="422275"/>
          </a:xfrm>
          <a:prstGeom prst="rect">
            <a:avLst/>
          </a:prstGeom>
        </p:spPr>
        <p:txBody>
          <a:bodyPr anchor="t" rtlCol="false" tIns="0" lIns="0" bIns="0" rIns="0">
            <a:spAutoFit/>
          </a:bodyPr>
          <a:lstStyle/>
          <a:p>
            <a:pPr algn="ctr">
              <a:lnSpc>
                <a:spcPts val="3499"/>
              </a:lnSpc>
              <a:spcBef>
                <a:spcPct val="0"/>
              </a:spcBef>
            </a:pPr>
            <a:r>
              <a:rPr lang="en-US" b="true" sz="2499">
                <a:solidFill>
                  <a:srgbClr val="43C217"/>
                </a:solidFill>
                <a:latin typeface="Canva Sans Bold"/>
                <a:ea typeface="Canva Sans Bold"/>
                <a:cs typeface="Canva Sans Bold"/>
                <a:sym typeface="Canva Sans Bold"/>
              </a:rPr>
              <a:t>Ảnh ban đầu</a:t>
            </a:r>
          </a:p>
        </p:txBody>
      </p:sp>
      <p:sp>
        <p:nvSpPr>
          <p:cNvPr name="TextBox 15" id="15"/>
          <p:cNvSpPr txBox="true"/>
          <p:nvPr/>
        </p:nvSpPr>
        <p:spPr>
          <a:xfrm rot="0">
            <a:off x="12566017" y="7363678"/>
            <a:ext cx="2614732" cy="422275"/>
          </a:xfrm>
          <a:prstGeom prst="rect">
            <a:avLst/>
          </a:prstGeom>
        </p:spPr>
        <p:txBody>
          <a:bodyPr anchor="t" rtlCol="false" tIns="0" lIns="0" bIns="0" rIns="0">
            <a:spAutoFit/>
          </a:bodyPr>
          <a:lstStyle/>
          <a:p>
            <a:pPr algn="ctr">
              <a:lnSpc>
                <a:spcPts val="3499"/>
              </a:lnSpc>
              <a:spcBef>
                <a:spcPct val="0"/>
              </a:spcBef>
            </a:pPr>
            <a:r>
              <a:rPr lang="en-US" b="true" sz="2499">
                <a:solidFill>
                  <a:srgbClr val="43C217"/>
                </a:solidFill>
                <a:latin typeface="Canva Sans Bold"/>
                <a:ea typeface="Canva Sans Bold"/>
                <a:cs typeface="Canva Sans Bold"/>
                <a:sym typeface="Canva Sans Bold"/>
              </a:rPr>
              <a:t>Ảnh qua mô hình</a:t>
            </a:r>
          </a:p>
        </p:txBody>
      </p:sp>
      <p:sp>
        <p:nvSpPr>
          <p:cNvPr name="TextBox 16" id="16"/>
          <p:cNvSpPr txBox="true"/>
          <p:nvPr/>
        </p:nvSpPr>
        <p:spPr>
          <a:xfrm rot="0">
            <a:off x="1402399" y="9657118"/>
            <a:ext cx="4931212" cy="422275"/>
          </a:xfrm>
          <a:prstGeom prst="rect">
            <a:avLst/>
          </a:prstGeom>
        </p:spPr>
        <p:txBody>
          <a:bodyPr anchor="t" rtlCol="false" tIns="0" lIns="0" bIns="0" rIns="0">
            <a:spAutoFit/>
          </a:bodyPr>
          <a:lstStyle/>
          <a:p>
            <a:pPr algn="ctr">
              <a:lnSpc>
                <a:spcPts val="3499"/>
              </a:lnSpc>
              <a:spcBef>
                <a:spcPct val="0"/>
              </a:spcBef>
            </a:pPr>
            <a:r>
              <a:rPr lang="en-US" b="true" sz="2499">
                <a:solidFill>
                  <a:srgbClr val="43C217"/>
                </a:solidFill>
                <a:latin typeface="Canva Sans Bold"/>
                <a:ea typeface="Canva Sans Bold"/>
                <a:cs typeface="Canva Sans Bold"/>
                <a:sym typeface="Canva Sans Bold"/>
              </a:rPr>
              <a:t>Ảnh được tô đỏ vùng khuyết tật</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1028700"/>
            <a:ext cx="16230600" cy="8229600"/>
            <a:chOff x="0" y="0"/>
            <a:chExt cx="4274726" cy="2167467"/>
          </a:xfrm>
        </p:grpSpPr>
        <p:sp>
          <p:nvSpPr>
            <p:cNvPr name="Freeform 4" id="4"/>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000000">
                <a:alpha val="69804"/>
              </a:srgbClr>
            </a:solidFill>
            <a:ln w="123825" cap="sq">
              <a:solidFill>
                <a:srgbClr val="000000">
                  <a:alpha val="69804"/>
                </a:srgbClr>
              </a:solidFill>
              <a:prstDash val="solid"/>
              <a:miter/>
            </a:ln>
          </p:spPr>
        </p:sp>
        <p:sp>
          <p:nvSpPr>
            <p:cNvPr name="TextBox 5" id="5"/>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5400000">
            <a:off x="8944306" y="5180427"/>
            <a:ext cx="399388" cy="8135684"/>
          </a:xfrm>
          <a:custGeom>
            <a:avLst/>
            <a:gdLst/>
            <a:ahLst/>
            <a:cxnLst/>
            <a:rect r="r" b="b" t="t" l="l"/>
            <a:pathLst>
              <a:path h="8135684" w="399388">
                <a:moveTo>
                  <a:pt x="0" y="0"/>
                </a:moveTo>
                <a:lnTo>
                  <a:pt x="399388" y="0"/>
                </a:lnTo>
                <a:lnTo>
                  <a:pt x="399388" y="8135683"/>
                </a:lnTo>
                <a:lnTo>
                  <a:pt x="0" y="8135683"/>
                </a:lnTo>
                <a:lnTo>
                  <a:pt x="0" y="0"/>
                </a:lnTo>
                <a:close/>
              </a:path>
            </a:pathLst>
          </a:custGeom>
          <a:blipFill>
            <a:blip r:embed="rId3">
              <a:alphaModFix amt="65999"/>
            </a:blip>
            <a:stretch>
              <a:fillRect l="0" t="0" r="0" b="0"/>
            </a:stretch>
          </a:blipFill>
        </p:spPr>
      </p:sp>
      <p:sp>
        <p:nvSpPr>
          <p:cNvPr name="Freeform 7" id="7"/>
          <p:cNvSpPr/>
          <p:nvPr/>
        </p:nvSpPr>
        <p:spPr>
          <a:xfrm flipH="true" flipV="false" rot="-10800000">
            <a:off x="-895973" y="-128681"/>
            <a:ext cx="3775893" cy="3604261"/>
          </a:xfrm>
          <a:custGeom>
            <a:avLst/>
            <a:gdLst/>
            <a:ahLst/>
            <a:cxnLst/>
            <a:rect r="r" b="b" t="t" l="l"/>
            <a:pathLst>
              <a:path h="3604261" w="3775893">
                <a:moveTo>
                  <a:pt x="3775893" y="0"/>
                </a:moveTo>
                <a:lnTo>
                  <a:pt x="0" y="0"/>
                </a:lnTo>
                <a:lnTo>
                  <a:pt x="0" y="3604262"/>
                </a:lnTo>
                <a:lnTo>
                  <a:pt x="3775893" y="3604262"/>
                </a:lnTo>
                <a:lnTo>
                  <a:pt x="3775893"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false" rot="-10800000">
            <a:off x="15576737" y="7107131"/>
            <a:ext cx="3775893" cy="3604261"/>
          </a:xfrm>
          <a:custGeom>
            <a:avLst/>
            <a:gdLst/>
            <a:ahLst/>
            <a:cxnLst/>
            <a:rect r="r" b="b" t="t" l="l"/>
            <a:pathLst>
              <a:path h="3604261" w="3775893">
                <a:moveTo>
                  <a:pt x="3775893" y="0"/>
                </a:moveTo>
                <a:lnTo>
                  <a:pt x="0" y="0"/>
                </a:lnTo>
                <a:lnTo>
                  <a:pt x="0" y="3604261"/>
                </a:lnTo>
                <a:lnTo>
                  <a:pt x="3775893" y="3604261"/>
                </a:lnTo>
                <a:lnTo>
                  <a:pt x="3775893"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1756839" y="4198358"/>
            <a:ext cx="14774323" cy="1982991"/>
          </a:xfrm>
          <a:prstGeom prst="rect">
            <a:avLst/>
          </a:prstGeom>
        </p:spPr>
        <p:txBody>
          <a:bodyPr anchor="t" rtlCol="false" tIns="0" lIns="0" bIns="0" rIns="0">
            <a:spAutoFit/>
          </a:bodyPr>
          <a:lstStyle/>
          <a:p>
            <a:pPr algn="ctr">
              <a:lnSpc>
                <a:spcPts val="16295"/>
              </a:lnSpc>
            </a:pPr>
            <a:r>
              <a:rPr lang="en-US" sz="11639" spc="-116">
                <a:solidFill>
                  <a:srgbClr val="348BFF"/>
                </a:solidFill>
                <a:latin typeface="Mokoto"/>
                <a:ea typeface="Mokoto"/>
                <a:cs typeface="Mokoto"/>
                <a:sym typeface="Mokoto"/>
              </a:rPr>
              <a:t>THANK YOU</a:t>
            </a:r>
          </a:p>
        </p:txBody>
      </p:sp>
      <p:sp>
        <p:nvSpPr>
          <p:cNvPr name="TextBox 10" id="10"/>
          <p:cNvSpPr txBox="true"/>
          <p:nvPr/>
        </p:nvSpPr>
        <p:spPr>
          <a:xfrm rot="0">
            <a:off x="8532127" y="2147621"/>
            <a:ext cx="2241776" cy="413311"/>
          </a:xfrm>
          <a:prstGeom prst="rect">
            <a:avLst/>
          </a:prstGeom>
        </p:spPr>
        <p:txBody>
          <a:bodyPr anchor="t" rtlCol="false" tIns="0" lIns="0" bIns="0" rIns="0">
            <a:spAutoFit/>
          </a:bodyPr>
          <a:lstStyle/>
          <a:p>
            <a:pPr algn="l">
              <a:lnSpc>
                <a:spcPts val="3179"/>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DAGxYlB9E7k</dc:identifier>
  <dcterms:modified xsi:type="dcterms:W3CDTF">2011-08-01T06:04:30Z</dcterms:modified>
  <cp:revision>1</cp:revision>
  <dc:title>Dark Blue Modern Futuristic Technology Presentation</dc:title>
</cp:coreProperties>
</file>